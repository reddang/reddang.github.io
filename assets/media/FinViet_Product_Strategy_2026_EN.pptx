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D735B461-6E7E-E6B7-AF2E-8310F3E296CC}">
          <p14:sldIdLst>
            <p14:sldId id="256"/>
          </p14:sldIdLst>
        </p14:section>
        <p14:section name="Tổng quan" id="{1B7B2C89-655B-FC60-FA69-CF37213EB133}">
          <p14:sldIdLst>
            <p14:sldId id="257"/>
          </p14:sldIdLst>
        </p14:section>
        <p14:section name="Trụ cột 1: Mua hàng" id="{A2D5C98E-E942-2DF7-F3B3-062D19166ED4}">
          <p14:sldIdLst>
            <p14:sldId id="258"/>
            <p14:sldId id="259"/>
            <p14:sldId id="260"/>
            <p14:sldId id="261"/>
            <p14:sldId id="262"/>
          </p14:sldIdLst>
        </p14:section>
        <p14:section name="Trụ cột 2: Bán hàng" id="{CB26CD43-C27C-C493-33C3-CE0E8BD90D6C}">
          <p14:sldIdLst>
            <p14:sldId id="263"/>
            <p14:sldId id="264"/>
            <p14:sldId id="265"/>
          </p14:sldIdLst>
        </p14:section>
        <p14:section name="Trụ cột 3: Bán sỉ" id="{F67F1777-BE9F-F2A9-16D8-5EA51C359210}">
          <p14:sldIdLst>
            <p14:sldId id="266"/>
            <p14:sldId id="267"/>
          </p14:sldIdLst>
        </p14:section>
        <p14:section name="Trụ cột 4: Giữ chân" id="{EA487ECF-837D-77FF-FAA8-8BD28ECB4803}">
          <p14:sldIdLst>
            <p14:sldId id="268"/>
            <p14:sldId id="269"/>
            <p14:sldId id="270"/>
          </p14:sldIdLst>
        </p14:section>
        <p14:section name="Trụ cột 5: Giảm tác vụ Sales" id="{EAF957F7-2B19-4139-02AF-7DA8F78A70D4}">
          <p14:sldIdLst>
            <p14:sldId id="271"/>
            <p14:sldId id="272"/>
            <p14:sldId id="273"/>
          </p14:sldIdLst>
        </p14:section>
        <p14:section name="Kết luận" id="{850AA375-D172-B482-3D3A-ADC73A29F82B}">
          <p14:sldIdLst>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Text 1"/>
          <p:cNvSpPr/>
          <p:nvPr>
            <p:ph type="body" idx="101" hasCustomPrompt="1"/>
          </p:nvPr>
        </p:nvSpPr>
        <p:spPr>
          <a:xfrm>
            <a:off x="548640" y="365760"/>
            <a:ext cx="11091672" cy="274320"/>
          </a:xfrm>
          <a:prstGeom prst="rect">
            <a:avLst/>
          </a:prstGeom>
          <a:noFill/>
        </p:spPr>
        <p:txBody>
          <a:bodyPr wrap="square" rtlCol="0"/>
          <a:lstStyle>
            <a:lvl1pPr marL="0" indent="0">
              <a:buNone/>
              <a:defRPr lang="en-US" sz="1400" b="1" kern="0" spc="150" dirty="0">
                <a:solidFill>
                  <a:schemeClr val="accent1"/>
                </a:solidFill>
              </a:defRPr>
            </a:lvl1pPr>
          </a:lstStyle>
          <a:p>
            <a:pPr marL="0" indent="0">
              <a:buNone/>
            </a:pPr>
            <a:endParaRPr lang="en-US" sz="1400" dirty="0"/>
          </a:p>
        </p:txBody>
      </p:sp>
      <p:sp>
        <p:nvSpPr>
          <p:cNvPr id="4" name="Text 1"/>
          <p:cNvSpPr/>
          <p:nvPr>
            <p:ph type="title" idx="102" hasCustomPrompt="1"/>
          </p:nvPr>
        </p:nvSpPr>
        <p:spPr>
          <a:xfrm>
            <a:off x="548640" y="676656"/>
            <a:ext cx="11091672" cy="658368"/>
          </a:xfrm>
          <a:prstGeom prst="rect">
            <a:avLst/>
          </a:prstGeom>
          <a:noFill/>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1">
    <p:spTree>
      <p:nvGrpSpPr>
        <p:cNvPr id="1" name=""/>
        <p:cNvGrpSpPr/>
        <p:nvPr/>
      </p:nvGrpSpPr>
      <p:grpSpPr>
        <a:xfrm>
          <a:off x="0" y="0"/>
          <a:ext cx="0" cy="0"/>
          <a:chOff x="0" y="0"/>
          <a:chExt cx="0" cy="0"/>
        </a:xfrm>
      </p:grpSpPr>
      <p:sp>
        <p:nvSpPr>
          <p:cNvPr id="3" name="Text 1"/>
          <p:cNvSpPr/>
          <p:nvPr>
            <p:ph type="body" idx="101" hasCustomPrompt="1"/>
          </p:nvPr>
        </p:nvSpPr>
        <p:spPr>
          <a:xfrm>
            <a:off x="548640" y="365760"/>
            <a:ext cx="11091672" cy="274320"/>
          </a:xfrm>
          <a:prstGeom prst="rect">
            <a:avLst/>
          </a:prstGeom>
          <a:noFill/>
        </p:spPr>
        <p:txBody>
          <a:bodyPr wrap="square" rtlCol="0"/>
          <a:lstStyle>
            <a:lvl1pPr marL="0" indent="0">
              <a:buNone/>
              <a:defRPr lang="en-US" sz="1400" b="1" kern="0" spc="150" dirty="0">
                <a:solidFill>
                  <a:schemeClr val="accent1"/>
                </a:solidFill>
              </a:defRPr>
            </a:lvl1pPr>
          </a:lstStyle>
          <a:p>
            <a:pPr marL="0" indent="0">
              <a:buNone/>
            </a:pPr>
            <a:endParaRPr lang="en-US" sz="1400" dirty="0"/>
          </a:p>
        </p:txBody>
      </p:sp>
      <p:sp>
        <p:nvSpPr>
          <p:cNvPr id="4" name="Text 1"/>
          <p:cNvSpPr/>
          <p:nvPr>
            <p:ph type="title" idx="102" hasCustomPrompt="1"/>
          </p:nvPr>
        </p:nvSpPr>
        <p:spPr>
          <a:xfrm>
            <a:off x="548640" y="676656"/>
            <a:ext cx="11091672" cy="658368"/>
          </a:xfrm>
          <a:prstGeom prst="rect">
            <a:avLst/>
          </a:prstGeom>
          <a:noFill/>
        </p:spPr>
        <p:txBody>
          <a:bodyPr wrap="square" rtlCol="0"/>
          <a:lstStyle>
            <a:lvl1pPr marL="0" indent="0" algn="l">
              <a:buNone/>
              <a:defRPr lang="en-US" sz="3200" b="1" dirty="0">
                <a:solidFill>
                  <a:schemeClr val="accent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2">
    <p:spTree>
      <p:nvGrpSpPr>
        <p:cNvPr id="1" name=""/>
        <p:cNvGrpSpPr/>
        <p:nvPr/>
      </p:nvGrpSpPr>
      <p:grpSpPr>
        <a:xfrm>
          <a:off x="0" y="0"/>
          <a:ext cx="0" cy="0"/>
          <a:chOff x="0" y="0"/>
          <a:chExt cx="0" cy="0"/>
        </a:xfrm>
      </p:grpSpPr>
      <p:sp>
        <p:nvSpPr>
          <p:cNvPr id="3" name="Text 1"/>
          <p:cNvSpPr/>
          <p:nvPr>
            <p:ph type="body" idx="101" hasCustomPrompt="1"/>
          </p:nvPr>
        </p:nvSpPr>
        <p:spPr>
          <a:xfrm>
            <a:off x="548640" y="365760"/>
            <a:ext cx="11091672" cy="274320"/>
          </a:xfrm>
          <a:prstGeom prst="rect">
            <a:avLst/>
          </a:prstGeom>
          <a:noFill/>
        </p:spPr>
        <p:txBody>
          <a:bodyPr wrap="square" rtlCol="0"/>
          <a:lstStyle>
            <a:lvl1pPr marL="0" indent="0">
              <a:buNone/>
              <a:defRPr lang="en-US" sz="1400" b="1" kern="0" spc="150" dirty="0">
                <a:solidFill>
                  <a:schemeClr val="accent2"/>
                </a:solidFill>
              </a:defRPr>
            </a:lvl1pPr>
          </a:lstStyle>
          <a:p>
            <a:pPr marL="0" indent="0">
              <a:buNone/>
            </a:pPr>
            <a:endParaRPr lang="en-US" sz="1400" dirty="0"/>
          </a:p>
        </p:txBody>
      </p:sp>
      <p:sp>
        <p:nvSpPr>
          <p:cNvPr id="4" name="Text 1"/>
          <p:cNvSpPr/>
          <p:nvPr>
            <p:ph type="title" idx="102" hasCustomPrompt="1"/>
          </p:nvPr>
        </p:nvSpPr>
        <p:spPr>
          <a:xfrm>
            <a:off x="548640" y="676656"/>
            <a:ext cx="11091672" cy="658368"/>
          </a:xfrm>
          <a:prstGeom prst="rect">
            <a:avLst/>
          </a:prstGeom>
          <a:noFill/>
        </p:spPr>
        <p:txBody>
          <a:bodyPr wrap="square" rtlCol="0"/>
          <a:lstStyle>
            <a:lvl1pPr marL="0" indent="0" algn="l">
              <a:buNone/>
              <a:defRPr lang="en-US" sz="3200" b="1" dirty="0">
                <a:solidFill>
                  <a:schemeClr val="accent2"/>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3">
    <p:spTree>
      <p:nvGrpSpPr>
        <p:cNvPr id="1" name=""/>
        <p:cNvGrpSpPr/>
        <p:nvPr/>
      </p:nvGrpSpPr>
      <p:grpSpPr>
        <a:xfrm>
          <a:off x="0" y="0"/>
          <a:ext cx="0" cy="0"/>
          <a:chOff x="0" y="0"/>
          <a:chExt cx="0" cy="0"/>
        </a:xfrm>
      </p:grpSpPr>
      <p:sp>
        <p:nvSpPr>
          <p:cNvPr id="3" name="Text 1"/>
          <p:cNvSpPr/>
          <p:nvPr>
            <p:ph type="body" idx="101" hasCustomPrompt="1"/>
          </p:nvPr>
        </p:nvSpPr>
        <p:spPr>
          <a:xfrm>
            <a:off x="548640" y="365760"/>
            <a:ext cx="11091672" cy="274320"/>
          </a:xfrm>
          <a:prstGeom prst="rect">
            <a:avLst/>
          </a:prstGeom>
          <a:noFill/>
        </p:spPr>
        <p:txBody>
          <a:bodyPr wrap="square" rtlCol="0"/>
          <a:lstStyle>
            <a:lvl1pPr marL="0" indent="0">
              <a:buNone/>
              <a:defRPr lang="en-US" sz="1400" b="1" kern="0" spc="150" dirty="0">
                <a:solidFill>
                  <a:schemeClr val="accent3"/>
                </a:solidFill>
              </a:defRPr>
            </a:lvl1pPr>
          </a:lstStyle>
          <a:p>
            <a:pPr marL="0" indent="0">
              <a:buNone/>
            </a:pPr>
            <a:endParaRPr lang="en-US" sz="1400" dirty="0"/>
          </a:p>
        </p:txBody>
      </p:sp>
      <p:sp>
        <p:nvSpPr>
          <p:cNvPr id="4" name="Text 1"/>
          <p:cNvSpPr/>
          <p:nvPr>
            <p:ph type="title" idx="102" hasCustomPrompt="1"/>
          </p:nvPr>
        </p:nvSpPr>
        <p:spPr>
          <a:xfrm>
            <a:off x="548640" y="676656"/>
            <a:ext cx="11091672" cy="658368"/>
          </a:xfrm>
          <a:prstGeom prst="rect">
            <a:avLst/>
          </a:prstGeom>
          <a:noFill/>
        </p:spPr>
        <p:txBody>
          <a:bodyPr wrap="square" rtlCol="0"/>
          <a:lstStyle>
            <a:lvl1pPr marL="0" indent="0" algn="l">
              <a:buNone/>
              <a:defRPr lang="en-US" sz="3200" b="1" dirty="0">
                <a:solidFill>
                  <a:schemeClr val="accent3"/>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4">
    <p:spTree>
      <p:nvGrpSpPr>
        <p:cNvPr id="1" name=""/>
        <p:cNvGrpSpPr/>
        <p:nvPr/>
      </p:nvGrpSpPr>
      <p:grpSpPr>
        <a:xfrm>
          <a:off x="0" y="0"/>
          <a:ext cx="0" cy="0"/>
          <a:chOff x="0" y="0"/>
          <a:chExt cx="0" cy="0"/>
        </a:xfrm>
      </p:grpSpPr>
      <p:sp>
        <p:nvSpPr>
          <p:cNvPr id="3" name="Text 1"/>
          <p:cNvSpPr/>
          <p:nvPr>
            <p:ph type="body" idx="101" hasCustomPrompt="1"/>
          </p:nvPr>
        </p:nvSpPr>
        <p:spPr>
          <a:xfrm>
            <a:off x="548640" y="365760"/>
            <a:ext cx="11091672" cy="274320"/>
          </a:xfrm>
          <a:prstGeom prst="rect">
            <a:avLst/>
          </a:prstGeom>
          <a:noFill/>
        </p:spPr>
        <p:txBody>
          <a:bodyPr wrap="square" rtlCol="0"/>
          <a:lstStyle>
            <a:lvl1pPr marL="0" indent="0">
              <a:buNone/>
              <a:defRPr lang="en-US" sz="1400" b="1" kern="0" spc="150" dirty="0">
                <a:solidFill>
                  <a:schemeClr val="accent6"/>
                </a:solidFill>
              </a:defRPr>
            </a:lvl1pPr>
          </a:lstStyle>
          <a:p>
            <a:pPr marL="0" indent="0">
              <a:buNone/>
            </a:pPr>
            <a:endParaRPr lang="en-US" sz="1400" dirty="0"/>
          </a:p>
        </p:txBody>
      </p:sp>
      <p:sp>
        <p:nvSpPr>
          <p:cNvPr id="4" name="Text 1"/>
          <p:cNvSpPr/>
          <p:nvPr>
            <p:ph type="title" idx="102" hasCustomPrompt="1"/>
          </p:nvPr>
        </p:nvSpPr>
        <p:spPr>
          <a:xfrm>
            <a:off x="548640" y="676656"/>
            <a:ext cx="11091672" cy="658368"/>
          </a:xfrm>
          <a:prstGeom prst="rect">
            <a:avLst/>
          </a:prstGeom>
          <a:noFill/>
        </p:spPr>
        <p:txBody>
          <a:bodyPr wrap="square" rtlCol="0"/>
          <a:lstStyle>
            <a:lvl1pPr marL="0" indent="0" algn="l">
              <a:buNone/>
              <a:defRPr lang="en-US" sz="3200" b="1" dirty="0">
                <a:solidFill>
                  <a:schemeClr val="accent6"/>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5">
    <p:spTree>
      <p:nvGrpSpPr>
        <p:cNvPr id="1" name=""/>
        <p:cNvGrpSpPr/>
        <p:nvPr/>
      </p:nvGrpSpPr>
      <p:grpSpPr>
        <a:xfrm>
          <a:off x="0" y="0"/>
          <a:ext cx="0" cy="0"/>
          <a:chOff x="0" y="0"/>
          <a:chExt cx="0" cy="0"/>
        </a:xfrm>
      </p:grpSpPr>
      <p:sp>
        <p:nvSpPr>
          <p:cNvPr id="3" name="Text 1"/>
          <p:cNvSpPr/>
          <p:nvPr>
            <p:ph type="body" idx="101" hasCustomPrompt="1"/>
          </p:nvPr>
        </p:nvSpPr>
        <p:spPr>
          <a:xfrm>
            <a:off x="548640" y="365760"/>
            <a:ext cx="11091672" cy="274320"/>
          </a:xfrm>
          <a:prstGeom prst="rect">
            <a:avLst/>
          </a:prstGeom>
          <a:noFill/>
        </p:spPr>
        <p:txBody>
          <a:bodyPr wrap="square" rtlCol="0"/>
          <a:lstStyle>
            <a:lvl1pPr marL="0" indent="0">
              <a:buNone/>
              <a:defRPr lang="en-US" sz="1400" b="1" kern="0" spc="150" dirty="0">
                <a:solidFill>
                  <a:schemeClr val="accent5"/>
                </a:solidFill>
              </a:defRPr>
            </a:lvl1pPr>
          </a:lstStyle>
          <a:p>
            <a:pPr marL="0" indent="0">
              <a:buNone/>
            </a:pPr>
            <a:endParaRPr lang="en-US" sz="1400" dirty="0"/>
          </a:p>
        </p:txBody>
      </p:sp>
      <p:sp>
        <p:nvSpPr>
          <p:cNvPr id="4" name="Text 1"/>
          <p:cNvSpPr/>
          <p:nvPr>
            <p:ph type="title" idx="102" hasCustomPrompt="1"/>
          </p:nvPr>
        </p:nvSpPr>
        <p:spPr>
          <a:xfrm>
            <a:off x="548640" y="676656"/>
            <a:ext cx="11091672" cy="658368"/>
          </a:xfrm>
          <a:prstGeom prst="rect">
            <a:avLst/>
          </a:prstGeom>
          <a:noFill/>
        </p:spPr>
        <p:txBody>
          <a:bodyPr wrap="square" rtlCol="0"/>
          <a:lstStyle>
            <a:lvl1pPr marL="0" indent="0" algn="l">
              <a:buNone/>
              <a:defRPr lang="en-US" sz="3200" b="1" dirty="0">
                <a:solidFill>
                  <a:schemeClr val="accent5"/>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Text 0"/>
          <p:cNvSpPr/>
          <p:nvPr>
            <p:ph type="body" idx="100" hasCustomPrompt="1"/>
          </p:nvPr>
        </p:nvSpPr>
        <p:spPr>
          <a:xfrm>
            <a:off x="548640" y="457200"/>
            <a:ext cx="11091672" cy="274320"/>
          </a:xfrm>
          <a:prstGeom prst="rect">
            <a:avLst/>
          </a:prstGeom>
          <a:noFill/>
        </p:spPr>
        <p:txBody>
          <a:bodyPr wrap="square" rtlCol="0"/>
          <a:lstStyle>
            <a:lvl1pPr marL="0" indent="0">
              <a:buNone/>
              <a:defRPr lang="en-US" sz="1400" b="1" kern="0" spc="150" dirty="0">
                <a:solidFill>
                  <a:schemeClr val="accent1"/>
                </a:solidFill>
              </a:defRPr>
            </a:lvl1pPr>
          </a:lstStyle>
          <a:p>
            <a:pPr marL="0" indent="0">
              <a:buNone/>
            </a:pPr>
            <a:endParaRPr lang="en-US" sz="1400" dirty="0"/>
          </a:p>
        </p:txBody>
      </p:sp>
      <p:sp>
        <p:nvSpPr>
          <p:cNvPr id="3" name="Text 0"/>
          <p:cNvSpPr/>
          <p:nvPr>
            <p:ph type="title" idx="101" hasCustomPrompt="1"/>
          </p:nvPr>
        </p:nvSpPr>
        <p:spPr>
          <a:xfrm>
            <a:off x="548640" y="804672"/>
            <a:ext cx="11091672" cy="777240"/>
          </a:xfrm>
          <a:prstGeom prst="rect">
            <a:avLst/>
          </a:prstGeom>
          <a:noFill/>
        </p:spPr>
        <p:txBody>
          <a:bodyPr wrap="square" rtlCol="0"/>
          <a:lstStyle>
            <a:lvl1pPr marL="0" indent="0" algn="l">
              <a:buNone/>
              <a:defRPr lang="en-US" sz="3800" b="1" dirty="0">
                <a:solidFill>
                  <a:schemeClr val="tx1"/>
                </a:solidFill>
              </a:defRPr>
            </a:lvl1pPr>
          </a:lstStyle>
          <a:p>
            <a:pPr marL="0" indent="0" algn="l">
              <a:buNone/>
            </a:pPr>
            <a:endParaRPr lang="en-US" sz="3800" dirty="0"/>
          </a:p>
        </p:txBody>
      </p:sp>
      <p:sp>
        <p:nvSpPr>
          <p:cNvPr id="4" name="Text 0"/>
          <p:cNvSpPr/>
          <p:nvPr>
            <p:ph type="body" idx="102" hasCustomPrompt="1"/>
          </p:nvPr>
        </p:nvSpPr>
        <p:spPr>
          <a:xfrm>
            <a:off x="548640" y="1627632"/>
            <a:ext cx="11091672" cy="411480"/>
          </a:xfrm>
          <a:prstGeom prst="rect">
            <a:avLst/>
          </a:prstGeom>
          <a:noFill/>
        </p:spPr>
        <p:txBody>
          <a:bodyPr wrap="square" rtlCol="0"/>
          <a:lstStyle>
            <a:lvl1pPr marL="0" indent="0">
              <a:buNone/>
              <a:defRPr lang="en-US" sz="2000" dirty="0">
                <a:solidFill>
                  <a:schemeClr val="accent4"/>
                </a:solidFill>
              </a:defRPr>
            </a:lvl1pPr>
          </a:lstStyle>
          <a:p>
            <a:pPr marL="0" indent="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3.xml"/><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7.png"/><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4.xml"/><Relationship Id="rId7" Type="http://schemas.openxmlformats.org/officeDocument/2006/relationships/image" Target="../media/image3.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4.xml"/><Relationship Id="rId7" Type="http://schemas.openxmlformats.org/officeDocument/2006/relationships/image" Target="../media/image30.png"/><Relationship Id="rId6" Type="http://schemas.openxmlformats.org/officeDocument/2006/relationships/image" Target="../media/image19.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32.png"/><Relationship Id="rId3" Type="http://schemas.openxmlformats.org/officeDocument/2006/relationships/image" Target="../media/image25.png"/><Relationship Id="rId2" Type="http://schemas.openxmlformats.org/officeDocument/2006/relationships/image" Target="../media/image3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5.xml"/><Relationship Id="rId3" Type="http://schemas.openxmlformats.org/officeDocument/2006/relationships/image" Target="../media/image21.png"/><Relationship Id="rId2" Type="http://schemas.openxmlformats.org/officeDocument/2006/relationships/image" Target="../media/image34.png"/><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5.xml"/><Relationship Id="rId3" Type="http://schemas.openxmlformats.org/officeDocument/2006/relationships/image" Target="../media/image36.png"/><Relationship Id="rId2" Type="http://schemas.openxmlformats.org/officeDocument/2006/relationships/image" Target="../media/image25.png"/><Relationship Id="rId1" Type="http://schemas.openxmlformats.org/officeDocument/2006/relationships/image" Target="../media/image35.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8.png"/><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4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6.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35.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7.xml"/><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32.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8.pn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50.png"/><Relationship Id="rId4" Type="http://schemas.openxmlformats.org/officeDocument/2006/relationships/image" Target="../media/image3.png"/><Relationship Id="rId3" Type="http://schemas.openxmlformats.org/officeDocument/2006/relationships/image" Target="../media/image45.png"/><Relationship Id="rId2" Type="http://schemas.openxmlformats.org/officeDocument/2006/relationships/image" Target="../media/image1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45720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PRODUCT STRATEGY 2026</a:t>
            </a:r>
            <a:endParaRPr lang="en-US" sz="1400" dirty="0"/>
          </a:p>
        </p:txBody>
      </p:sp>
      <p:sp>
        <p:nvSpPr>
          <p:cNvPr id="3" name="Text 0"/>
          <p:cNvSpPr/>
          <p:nvPr>
            <p:ph type="title" idx="101" hasCustomPrompt="1"/>
          </p:nvPr>
        </p:nvSpPr>
        <p:spPr>
          <a:xfrm>
            <a:off x="548640" y="804672"/>
            <a:ext cx="11091672" cy="777240"/>
          </a:xfrm>
          <a:prstGeom prst="rect">
            <a:avLst/>
          </a:prstGeom>
          <a:noFill/>
        </p:spPr>
        <p:txBody>
          <a:bodyPr wrap="square" lIns="0" tIns="0" rIns="0" bIns="0" rtlCol="0" anchor="ctr"/>
          <a:lstStyle/>
          <a:p>
            <a:pPr marL="0" indent="0" algn="l">
              <a:buNone/>
            </a:pPr>
            <a:r>
              <a:rPr lang="en-US" sz="3800" b="1" dirty="0">
                <a:solidFill>
                  <a:schemeClr val="tx1"/>
                </a:solidFill>
              </a:rPr>
              <a:t>Comprehensive upgrade strategy for FinViet</a:t>
            </a:r>
            <a:endParaRPr lang="en-US" sz="3800" dirty="0"/>
          </a:p>
        </p:txBody>
      </p:sp>
      <p:sp>
        <p:nvSpPr>
          <p:cNvPr id="4" name="Text 0"/>
          <p:cNvSpPr/>
          <p:nvPr>
            <p:ph type="body" idx="102" hasCustomPrompt="1"/>
          </p:nvPr>
        </p:nvSpPr>
        <p:spPr>
          <a:xfrm>
            <a:off x="548640" y="1627632"/>
            <a:ext cx="11091672" cy="411480"/>
          </a:xfrm>
          <a:prstGeom prst="rect">
            <a:avLst/>
          </a:prstGeom>
          <a:noFill/>
        </p:spPr>
        <p:txBody>
          <a:bodyPr wrap="square" lIns="0" tIns="0" rIns="0" bIns="0" rtlCol="0" anchor="ctr"/>
          <a:lstStyle/>
          <a:p>
            <a:pPr marL="0" indent="0">
              <a:buNone/>
            </a:pPr>
            <a:r>
              <a:rPr lang="en-US" sz="2000" dirty="0">
                <a:solidFill>
                  <a:schemeClr val="accent4"/>
                </a:solidFill>
              </a:rPr>
              <a:t>B2B FMCG Distribution Operating System</a:t>
            </a:r>
            <a:endParaRPr lang="en-US" sz="2000" dirty="0"/>
          </a:p>
        </p:txBody>
      </p:sp>
      <p:sp>
        <p:nvSpPr>
          <p:cNvPr id="5" name="Shape 1"/>
          <p:cNvSpPr/>
          <p:nvPr/>
        </p:nvSpPr>
        <p:spPr>
          <a:xfrm>
            <a:off x="2240280" y="3429000"/>
            <a:ext cx="1371600" cy="1371600"/>
          </a:xfrm>
          <a:prstGeom prst="ellipse">
            <a:avLst/>
          </a:prstGeom>
          <a:solidFill>
            <a:schemeClr val="bg2"/>
          </a:solidFill>
          <a:ln w="25400">
            <a:solidFill>
              <a:schemeClr val="accent1"/>
            </a:solidFill>
            <a:prstDash val="solid"/>
          </a:ln>
        </p:spPr>
        <p:txBody>
          <a:bodyPr/>
          <a:p/>
        </p:txBody>
      </p:sp>
      <p:sp>
        <p:nvSpPr>
          <p:cNvPr id="6" name="Text 2"/>
          <p:cNvSpPr txBox="1"/>
          <p:nvPr/>
        </p:nvSpPr>
        <p:spPr>
          <a:xfrm>
            <a:off x="2240280" y="3429000"/>
            <a:ext cx="1371600" cy="1371600"/>
          </a:xfrm>
          <a:prstGeom prst="rect">
            <a:avLst/>
          </a:prstGeom>
          <a:noFill/>
        </p:spPr>
        <p:txBody>
          <a:bodyPr wrap="square" lIns="0" tIns="0" rIns="0" bIns="0" rtlCol="0" anchor="ctr"/>
          <a:lstStyle/>
          <a:p>
            <a:pPr marL="0" indent="0" algn="ctr">
              <a:buNone/>
            </a:pPr>
            <a:r>
              <a:rPr lang="en-US" sz="1600" b="1" dirty="0">
                <a:solidFill>
                  <a:schemeClr val="tx1"/>
                </a:solidFill>
              </a:rPr>
              <a:t>Brand</a:t>
            </a:r>
            <a:endParaRPr lang="en-US" sz="1600" dirty="0"/>
          </a:p>
        </p:txBody>
      </p:sp>
      <p:sp>
        <p:nvSpPr>
          <p:cNvPr id="7" name="Shape 3"/>
          <p:cNvSpPr/>
          <p:nvPr/>
        </p:nvSpPr>
        <p:spPr>
          <a:xfrm>
            <a:off x="5230368" y="3246120"/>
            <a:ext cx="1737360" cy="1737360"/>
          </a:xfrm>
          <a:prstGeom prst="ellipse">
            <a:avLst/>
          </a:prstGeom>
          <a:solidFill>
            <a:schemeClr val="accent1"/>
          </a:solidFill>
        </p:spPr>
        <p:txBody>
          <a:bodyPr/>
          <a:p/>
        </p:txBody>
      </p:sp>
      <p:sp>
        <p:nvSpPr>
          <p:cNvPr id="8" name="Text 4"/>
          <p:cNvSpPr txBox="1"/>
          <p:nvPr/>
        </p:nvSpPr>
        <p:spPr>
          <a:xfrm>
            <a:off x="5230368" y="3246120"/>
            <a:ext cx="1737360" cy="1737360"/>
          </a:xfrm>
          <a:prstGeom prst="rect">
            <a:avLst/>
          </a:prstGeom>
          <a:noFill/>
        </p:spPr>
        <p:txBody>
          <a:bodyPr wrap="square" lIns="0" tIns="0" rIns="0" bIns="0" rtlCol="0" anchor="ctr"/>
          <a:lstStyle/>
          <a:p>
            <a:pPr marL="0" indent="0" algn="ctr">
              <a:buNone/>
            </a:pPr>
            <a:r>
              <a:rPr lang="en-US" sz="1800" b="1" dirty="0">
                <a:solidFill>
                  <a:schemeClr val="bg1"/>
                </a:solidFill>
              </a:rPr>
              <a:t>Distributor</a:t>
            </a:r>
            <a:endParaRPr lang="en-US" sz="1800" dirty="0"/>
          </a:p>
        </p:txBody>
      </p:sp>
      <p:sp>
        <p:nvSpPr>
          <p:cNvPr id="9" name="Shape 5"/>
          <p:cNvSpPr/>
          <p:nvPr/>
        </p:nvSpPr>
        <p:spPr>
          <a:xfrm>
            <a:off x="8577072" y="3429000"/>
            <a:ext cx="1371600" cy="1371600"/>
          </a:xfrm>
          <a:prstGeom prst="ellipse">
            <a:avLst/>
          </a:prstGeom>
          <a:solidFill>
            <a:schemeClr val="bg2"/>
          </a:solidFill>
          <a:ln w="25400">
            <a:solidFill>
              <a:schemeClr val="accent1"/>
            </a:solidFill>
            <a:prstDash val="solid"/>
          </a:ln>
        </p:spPr>
        <p:txBody>
          <a:bodyPr/>
          <a:p/>
        </p:txBody>
      </p:sp>
      <p:sp>
        <p:nvSpPr>
          <p:cNvPr id="10" name="Text 6"/>
          <p:cNvSpPr txBox="1"/>
          <p:nvPr/>
        </p:nvSpPr>
        <p:spPr>
          <a:xfrm>
            <a:off x="8577072" y="3429000"/>
            <a:ext cx="1371600" cy="1371600"/>
          </a:xfrm>
          <a:prstGeom prst="rect">
            <a:avLst/>
          </a:prstGeom>
          <a:noFill/>
        </p:spPr>
        <p:txBody>
          <a:bodyPr wrap="square" lIns="0" tIns="0" rIns="0" bIns="0" rtlCol="0" anchor="ctr"/>
          <a:lstStyle/>
          <a:p>
            <a:pPr marL="0" indent="0" algn="ctr">
              <a:buNone/>
            </a:pPr>
            <a:r>
              <a:rPr lang="en-US" sz="1600" b="1" dirty="0">
                <a:solidFill>
                  <a:schemeClr val="tx1"/>
                </a:solidFill>
              </a:rPr>
              <a:t>Merchant</a:t>
            </a:r>
            <a:endParaRPr lang="en-US" sz="1600" dirty="0"/>
          </a:p>
        </p:txBody>
      </p:sp>
      <p:sp>
        <p:nvSpPr>
          <p:cNvPr id="11" name="Shape 7"/>
          <p:cNvSpPr/>
          <p:nvPr/>
        </p:nvSpPr>
        <p:spPr>
          <a:xfrm>
            <a:off x="3749040" y="4114800"/>
            <a:ext cx="1344168" cy="0"/>
          </a:xfrm>
          <a:prstGeom prst="line">
            <a:avLst/>
          </a:prstGeom>
          <a:noFill/>
          <a:ln w="25400">
            <a:solidFill>
              <a:schemeClr val="accent1"/>
            </a:solidFill>
            <a:prstDash val="solid"/>
            <a:tailEnd type="triangle"/>
          </a:ln>
        </p:spPr>
        <p:txBody>
          <a:bodyPr/>
          <a:p/>
        </p:txBody>
      </p:sp>
      <p:sp>
        <p:nvSpPr>
          <p:cNvPr id="12" name="Shape 8"/>
          <p:cNvSpPr/>
          <p:nvPr/>
        </p:nvSpPr>
        <p:spPr>
          <a:xfrm>
            <a:off x="7104888" y="4114800"/>
            <a:ext cx="1335024" cy="0"/>
          </a:xfrm>
          <a:prstGeom prst="line">
            <a:avLst/>
          </a:prstGeom>
          <a:noFill/>
          <a:ln w="25400">
            <a:solidFill>
              <a:schemeClr val="accent1"/>
            </a:solidFill>
            <a:prstDash val="solid"/>
            <a:tailEnd type="triangle"/>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OVERVIEW</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tx1"/>
                </a:solidFill>
              </a:rPr>
              <a:t>Five-pillar strategy framework</a:t>
            </a:r>
            <a:endParaRPr lang="en-US" sz="3200" dirty="0"/>
          </a:p>
        </p:txBody>
      </p:sp>
      <p:sp>
        <p:nvSpPr>
          <p:cNvPr id="4" name="Shape 9"/>
          <p:cNvSpPr/>
          <p:nvPr/>
        </p:nvSpPr>
        <p:spPr>
          <a:xfrm>
            <a:off x="548640" y="1600200"/>
            <a:ext cx="2075688" cy="3429000"/>
          </a:xfrm>
          <a:prstGeom prst="roundRect">
            <a:avLst>
              <a:gd name="adj" fmla="val 3524"/>
            </a:avLst>
          </a:prstGeom>
          <a:solidFill>
            <a:schemeClr val="bg2"/>
          </a:solidFill>
        </p:spPr>
        <p:txBody>
          <a:bodyPr/>
          <a:p/>
        </p:txBody>
      </p:sp>
      <p:sp>
        <p:nvSpPr>
          <p:cNvPr id="5" name="Shape 10"/>
          <p:cNvSpPr/>
          <p:nvPr/>
        </p:nvSpPr>
        <p:spPr>
          <a:xfrm>
            <a:off x="731520" y="1828800"/>
            <a:ext cx="731520" cy="731520"/>
          </a:xfrm>
          <a:prstGeom prst="ellipse">
            <a:avLst/>
          </a:prstGeom>
          <a:solidFill>
            <a:schemeClr val="accent1"/>
          </a:solidFill>
        </p:spPr>
        <p:txBody>
          <a:bodyPr/>
          <a:p/>
        </p:txBody>
      </p:sp>
      <p:pic>
        <p:nvPicPr>
          <p:cNvPr id="6" name="Icon 11" descr="ShoppingCart"/>
          <p:cNvPicPr>
            <a:picLocks noChangeAspect="1"/>
          </p:cNvPicPr>
          <p:nvPr/>
        </p:nvPicPr>
        <p:blipFill>
          <a:blip r:embed="rId1"/>
          <a:stretch>
            <a:fillRect/>
          </a:stretch>
        </p:blipFill>
        <p:spPr>
          <a:xfrm>
            <a:off x="914400" y="2011680"/>
            <a:ext cx="365760" cy="365760"/>
          </a:xfrm>
          <a:prstGeom prst="rect">
            <a:avLst/>
          </a:prstGeom>
        </p:spPr>
      </p:pic>
      <p:sp>
        <p:nvSpPr>
          <p:cNvPr id="7" name="Text 12"/>
          <p:cNvSpPr txBox="1"/>
          <p:nvPr/>
        </p:nvSpPr>
        <p:spPr>
          <a:xfrm>
            <a:off x="731520" y="2743200"/>
            <a:ext cx="1709928" cy="228600"/>
          </a:xfrm>
          <a:prstGeom prst="rect">
            <a:avLst/>
          </a:prstGeom>
          <a:noFill/>
        </p:spPr>
        <p:txBody>
          <a:bodyPr wrap="square" lIns="0" tIns="0" rIns="0" bIns="0" rtlCol="0" anchor="t"/>
          <a:lstStyle/>
          <a:p>
            <a:pPr marL="0" indent="0">
              <a:buNone/>
            </a:pPr>
            <a:r>
              <a:rPr lang="en-US" sz="1200" b="1" dirty="0">
                <a:solidFill>
                  <a:schemeClr val="accent4"/>
                </a:solidFill>
              </a:rPr>
              <a:t>PILLAR 1</a:t>
            </a:r>
            <a:endParaRPr lang="en-US" sz="1200" dirty="0"/>
          </a:p>
        </p:txBody>
      </p:sp>
      <p:sp>
        <p:nvSpPr>
          <p:cNvPr id="8" name="Text 13"/>
          <p:cNvSpPr txBox="1"/>
          <p:nvPr/>
        </p:nvSpPr>
        <p:spPr>
          <a:xfrm>
            <a:off x="731520" y="2999232"/>
            <a:ext cx="1709928" cy="566928"/>
          </a:xfrm>
          <a:prstGeom prst="rect">
            <a:avLst/>
          </a:prstGeom>
          <a:noFill/>
        </p:spPr>
        <p:txBody>
          <a:bodyPr wrap="square" lIns="0" tIns="0" rIns="0" bIns="0" rtlCol="0" anchor="t"/>
          <a:lstStyle/>
          <a:p>
            <a:pPr marL="0" indent="0">
              <a:buNone/>
            </a:pPr>
            <a:r>
              <a:rPr lang="en-US" sz="1800" b="1" dirty="0">
                <a:solidFill>
                  <a:schemeClr val="accent1"/>
                </a:solidFill>
              </a:rPr>
              <a:t>Buying</a:t>
            </a:r>
            <a:endParaRPr lang="en-US" sz="1800" dirty="0"/>
          </a:p>
        </p:txBody>
      </p:sp>
      <p:sp>
        <p:nvSpPr>
          <p:cNvPr id="9" name="Text 14"/>
          <p:cNvSpPr txBox="1"/>
          <p:nvPr/>
        </p:nvSpPr>
        <p:spPr>
          <a:xfrm>
            <a:off x="731520" y="3639312"/>
            <a:ext cx="1709928" cy="1280160"/>
          </a:xfrm>
          <a:prstGeom prst="rect">
            <a:avLst/>
          </a:prstGeom>
          <a:noFill/>
        </p:spPr>
        <p:txBody>
          <a:bodyPr wrap="square" lIns="0" tIns="0" rIns="0" bIns="0" rtlCol="0" anchor="t"/>
          <a:lstStyle/>
          <a:p>
            <a:pPr marL="0" indent="0">
              <a:buNone/>
            </a:pPr>
            <a:r>
              <a:rPr lang="en-US" sz="1400" dirty="0">
                <a:solidFill>
                  <a:schemeClr val="tx1"/>
                </a:solidFill>
              </a:rPr>
              <a:t>Merchant self-ordering &amp; proactive sourcing</a:t>
            </a:r>
            <a:endParaRPr lang="en-US" sz="1400" dirty="0"/>
          </a:p>
        </p:txBody>
      </p:sp>
      <p:sp>
        <p:nvSpPr>
          <p:cNvPr id="10" name="Shape 15"/>
          <p:cNvSpPr/>
          <p:nvPr/>
        </p:nvSpPr>
        <p:spPr>
          <a:xfrm>
            <a:off x="2802636" y="1600200"/>
            <a:ext cx="2075688" cy="3429000"/>
          </a:xfrm>
          <a:prstGeom prst="roundRect">
            <a:avLst>
              <a:gd name="adj" fmla="val 3524"/>
            </a:avLst>
          </a:prstGeom>
          <a:solidFill>
            <a:schemeClr val="bg2"/>
          </a:solidFill>
        </p:spPr>
        <p:txBody>
          <a:bodyPr/>
          <a:p/>
        </p:txBody>
      </p:sp>
      <p:sp>
        <p:nvSpPr>
          <p:cNvPr id="11" name="Shape 16"/>
          <p:cNvSpPr/>
          <p:nvPr/>
        </p:nvSpPr>
        <p:spPr>
          <a:xfrm>
            <a:off x="2985516" y="1828800"/>
            <a:ext cx="731520" cy="731520"/>
          </a:xfrm>
          <a:prstGeom prst="ellipse">
            <a:avLst/>
          </a:prstGeom>
          <a:solidFill>
            <a:schemeClr val="accent2"/>
          </a:solidFill>
        </p:spPr>
        <p:txBody>
          <a:bodyPr/>
          <a:p/>
        </p:txBody>
      </p:sp>
      <p:pic>
        <p:nvPicPr>
          <p:cNvPr id="12" name="Icon 17" descr="CashRegister"/>
          <p:cNvPicPr>
            <a:picLocks noChangeAspect="1"/>
          </p:cNvPicPr>
          <p:nvPr/>
        </p:nvPicPr>
        <p:blipFill>
          <a:blip r:embed="rId2"/>
          <a:stretch>
            <a:fillRect/>
          </a:stretch>
        </p:blipFill>
        <p:spPr>
          <a:xfrm>
            <a:off x="3168396" y="2011680"/>
            <a:ext cx="365760" cy="365760"/>
          </a:xfrm>
          <a:prstGeom prst="rect">
            <a:avLst/>
          </a:prstGeom>
        </p:spPr>
      </p:pic>
      <p:sp>
        <p:nvSpPr>
          <p:cNvPr id="13" name="Text 18"/>
          <p:cNvSpPr txBox="1"/>
          <p:nvPr/>
        </p:nvSpPr>
        <p:spPr>
          <a:xfrm>
            <a:off x="2985516" y="2743200"/>
            <a:ext cx="1709928" cy="228600"/>
          </a:xfrm>
          <a:prstGeom prst="rect">
            <a:avLst/>
          </a:prstGeom>
          <a:noFill/>
        </p:spPr>
        <p:txBody>
          <a:bodyPr wrap="square" lIns="0" tIns="0" rIns="0" bIns="0" rtlCol="0" anchor="t"/>
          <a:lstStyle/>
          <a:p>
            <a:pPr marL="0" indent="0">
              <a:buNone/>
            </a:pPr>
            <a:r>
              <a:rPr lang="en-US" sz="1200" b="1" dirty="0">
                <a:solidFill>
                  <a:schemeClr val="accent4"/>
                </a:solidFill>
              </a:rPr>
              <a:t>PILLAR 2</a:t>
            </a:r>
            <a:endParaRPr lang="en-US" sz="1200" dirty="0"/>
          </a:p>
        </p:txBody>
      </p:sp>
      <p:sp>
        <p:nvSpPr>
          <p:cNvPr id="14" name="Text 19"/>
          <p:cNvSpPr txBox="1"/>
          <p:nvPr/>
        </p:nvSpPr>
        <p:spPr>
          <a:xfrm>
            <a:off x="2985516" y="2999232"/>
            <a:ext cx="1709928" cy="566928"/>
          </a:xfrm>
          <a:prstGeom prst="rect">
            <a:avLst/>
          </a:prstGeom>
          <a:noFill/>
        </p:spPr>
        <p:txBody>
          <a:bodyPr wrap="square" lIns="0" tIns="0" rIns="0" bIns="0" rtlCol="0" anchor="t"/>
          <a:lstStyle/>
          <a:p>
            <a:pPr marL="0" indent="0">
              <a:buNone/>
            </a:pPr>
            <a:r>
              <a:rPr lang="en-US" sz="1800" b="1" dirty="0">
                <a:solidFill>
                  <a:schemeClr val="accent2"/>
                </a:solidFill>
              </a:rPr>
              <a:t>Selling</a:t>
            </a:r>
            <a:endParaRPr lang="en-US" sz="1800" dirty="0"/>
          </a:p>
        </p:txBody>
      </p:sp>
      <p:sp>
        <p:nvSpPr>
          <p:cNvPr id="15" name="Text 20"/>
          <p:cNvSpPr txBox="1"/>
          <p:nvPr/>
        </p:nvSpPr>
        <p:spPr>
          <a:xfrm>
            <a:off x="2985516" y="3639312"/>
            <a:ext cx="1709928" cy="1280160"/>
          </a:xfrm>
          <a:prstGeom prst="rect">
            <a:avLst/>
          </a:prstGeom>
          <a:noFill/>
        </p:spPr>
        <p:txBody>
          <a:bodyPr wrap="square" lIns="0" tIns="0" rIns="0" bIns="0" rtlCol="0" anchor="t"/>
          <a:lstStyle/>
          <a:p>
            <a:pPr marL="0" indent="0">
              <a:buNone/>
            </a:pPr>
            <a:r>
              <a:rPr lang="en-US" sz="1400" dirty="0">
                <a:solidFill>
                  <a:schemeClr val="tx1"/>
                </a:solidFill>
              </a:rPr>
              <a:t>Retail POS &amp; Legal Compliance</a:t>
            </a:r>
            <a:endParaRPr lang="en-US" sz="1400" dirty="0"/>
          </a:p>
        </p:txBody>
      </p:sp>
      <p:sp>
        <p:nvSpPr>
          <p:cNvPr id="16" name="Shape 21"/>
          <p:cNvSpPr/>
          <p:nvPr/>
        </p:nvSpPr>
        <p:spPr>
          <a:xfrm>
            <a:off x="5056632" y="1600200"/>
            <a:ext cx="2075688" cy="3429000"/>
          </a:xfrm>
          <a:prstGeom prst="roundRect">
            <a:avLst>
              <a:gd name="adj" fmla="val 3524"/>
            </a:avLst>
          </a:prstGeom>
          <a:solidFill>
            <a:schemeClr val="bg2"/>
          </a:solidFill>
        </p:spPr>
        <p:txBody>
          <a:bodyPr/>
          <a:p/>
        </p:txBody>
      </p:sp>
      <p:sp>
        <p:nvSpPr>
          <p:cNvPr id="17" name="Shape 22"/>
          <p:cNvSpPr/>
          <p:nvPr/>
        </p:nvSpPr>
        <p:spPr>
          <a:xfrm>
            <a:off x="5239512" y="1828800"/>
            <a:ext cx="731520" cy="731520"/>
          </a:xfrm>
          <a:prstGeom prst="ellipse">
            <a:avLst/>
          </a:prstGeom>
          <a:solidFill>
            <a:schemeClr val="accent3"/>
          </a:solidFill>
        </p:spPr>
        <p:txBody>
          <a:bodyPr/>
          <a:p/>
        </p:txBody>
      </p:sp>
      <p:pic>
        <p:nvPicPr>
          <p:cNvPr id="18" name="Icon 23" descr="Warehouse"/>
          <p:cNvPicPr>
            <a:picLocks noChangeAspect="1"/>
          </p:cNvPicPr>
          <p:nvPr/>
        </p:nvPicPr>
        <p:blipFill>
          <a:blip r:embed="rId3"/>
          <a:stretch>
            <a:fillRect/>
          </a:stretch>
        </p:blipFill>
        <p:spPr>
          <a:xfrm>
            <a:off x="5422392" y="2011680"/>
            <a:ext cx="365760" cy="365760"/>
          </a:xfrm>
          <a:prstGeom prst="rect">
            <a:avLst/>
          </a:prstGeom>
        </p:spPr>
      </p:pic>
      <p:sp>
        <p:nvSpPr>
          <p:cNvPr id="19" name="Text 24"/>
          <p:cNvSpPr txBox="1"/>
          <p:nvPr/>
        </p:nvSpPr>
        <p:spPr>
          <a:xfrm>
            <a:off x="5239512" y="2743200"/>
            <a:ext cx="1709928" cy="228600"/>
          </a:xfrm>
          <a:prstGeom prst="rect">
            <a:avLst/>
          </a:prstGeom>
          <a:noFill/>
        </p:spPr>
        <p:txBody>
          <a:bodyPr wrap="square" lIns="0" tIns="0" rIns="0" bIns="0" rtlCol="0" anchor="t"/>
          <a:lstStyle/>
          <a:p>
            <a:pPr marL="0" indent="0">
              <a:buNone/>
            </a:pPr>
            <a:r>
              <a:rPr lang="en-US" sz="1200" b="1" dirty="0">
                <a:solidFill>
                  <a:schemeClr val="accent4"/>
                </a:solidFill>
              </a:rPr>
              <a:t>PILLAR 3</a:t>
            </a:r>
            <a:endParaRPr lang="en-US" sz="1200" dirty="0"/>
          </a:p>
        </p:txBody>
      </p:sp>
      <p:sp>
        <p:nvSpPr>
          <p:cNvPr id="20" name="Text 25"/>
          <p:cNvSpPr txBox="1"/>
          <p:nvPr/>
        </p:nvSpPr>
        <p:spPr>
          <a:xfrm>
            <a:off x="5239512" y="2999232"/>
            <a:ext cx="1709928" cy="566928"/>
          </a:xfrm>
          <a:prstGeom prst="rect">
            <a:avLst/>
          </a:prstGeom>
          <a:noFill/>
        </p:spPr>
        <p:txBody>
          <a:bodyPr wrap="square" lIns="0" tIns="0" rIns="0" bIns="0" rtlCol="0" anchor="t"/>
          <a:lstStyle/>
          <a:p>
            <a:pPr marL="0" indent="0">
              <a:buNone/>
            </a:pPr>
            <a:r>
              <a:rPr lang="en-US" sz="1800" b="1" dirty="0">
                <a:solidFill>
                  <a:schemeClr val="accent3"/>
                </a:solidFill>
              </a:rPr>
              <a:t>Wholesale</a:t>
            </a:r>
            <a:endParaRPr lang="en-US" sz="1800" dirty="0"/>
          </a:p>
        </p:txBody>
      </p:sp>
      <p:sp>
        <p:nvSpPr>
          <p:cNvPr id="21" name="Text 26"/>
          <p:cNvSpPr txBox="1"/>
          <p:nvPr/>
        </p:nvSpPr>
        <p:spPr>
          <a:xfrm>
            <a:off x="5239512" y="3639312"/>
            <a:ext cx="1709928" cy="1280160"/>
          </a:xfrm>
          <a:prstGeom prst="rect">
            <a:avLst/>
          </a:prstGeom>
          <a:noFill/>
        </p:spPr>
        <p:txBody>
          <a:bodyPr wrap="square" lIns="0" tIns="0" rIns="0" bIns="0" rtlCol="0" anchor="t"/>
          <a:lstStyle/>
          <a:p>
            <a:pPr marL="0" indent="0">
              <a:buNone/>
            </a:pPr>
            <a:r>
              <a:rPr lang="en-US" sz="1400" dirty="0">
                <a:solidFill>
                  <a:schemeClr val="tx1"/>
                </a:solidFill>
              </a:rPr>
              <a:t>Closing the loop between Brand and Distributor</a:t>
            </a:r>
            <a:endParaRPr lang="en-US" sz="1400" dirty="0"/>
          </a:p>
        </p:txBody>
      </p:sp>
      <p:sp>
        <p:nvSpPr>
          <p:cNvPr id="22" name="Shape 27"/>
          <p:cNvSpPr/>
          <p:nvPr/>
        </p:nvSpPr>
        <p:spPr>
          <a:xfrm>
            <a:off x="7310628" y="1600200"/>
            <a:ext cx="2075688" cy="3429000"/>
          </a:xfrm>
          <a:prstGeom prst="roundRect">
            <a:avLst>
              <a:gd name="adj" fmla="val 3524"/>
            </a:avLst>
          </a:prstGeom>
          <a:solidFill>
            <a:schemeClr val="bg2"/>
          </a:solidFill>
        </p:spPr>
        <p:txBody>
          <a:bodyPr/>
          <a:p/>
        </p:txBody>
      </p:sp>
      <p:sp>
        <p:nvSpPr>
          <p:cNvPr id="23" name="Shape 28"/>
          <p:cNvSpPr/>
          <p:nvPr/>
        </p:nvSpPr>
        <p:spPr>
          <a:xfrm>
            <a:off x="7493508" y="1828800"/>
            <a:ext cx="731520" cy="731520"/>
          </a:xfrm>
          <a:prstGeom prst="ellipse">
            <a:avLst/>
          </a:prstGeom>
          <a:solidFill>
            <a:schemeClr val="accent6"/>
          </a:solidFill>
        </p:spPr>
        <p:txBody>
          <a:bodyPr/>
          <a:p/>
        </p:txBody>
      </p:sp>
      <p:pic>
        <p:nvPicPr>
          <p:cNvPr id="24" name="Icon 29" descr="Heart"/>
          <p:cNvPicPr>
            <a:picLocks noChangeAspect="1"/>
          </p:cNvPicPr>
          <p:nvPr/>
        </p:nvPicPr>
        <p:blipFill>
          <a:blip r:embed="rId4"/>
          <a:stretch>
            <a:fillRect/>
          </a:stretch>
        </p:blipFill>
        <p:spPr>
          <a:xfrm>
            <a:off x="7676388" y="2011680"/>
            <a:ext cx="365760" cy="365760"/>
          </a:xfrm>
          <a:prstGeom prst="rect">
            <a:avLst/>
          </a:prstGeom>
        </p:spPr>
      </p:pic>
      <p:sp>
        <p:nvSpPr>
          <p:cNvPr id="25" name="Text 30"/>
          <p:cNvSpPr txBox="1"/>
          <p:nvPr/>
        </p:nvSpPr>
        <p:spPr>
          <a:xfrm>
            <a:off x="7493508" y="2743200"/>
            <a:ext cx="1709928" cy="228600"/>
          </a:xfrm>
          <a:prstGeom prst="rect">
            <a:avLst/>
          </a:prstGeom>
          <a:noFill/>
        </p:spPr>
        <p:txBody>
          <a:bodyPr wrap="square" lIns="0" tIns="0" rIns="0" bIns="0" rtlCol="0" anchor="t"/>
          <a:lstStyle/>
          <a:p>
            <a:pPr marL="0" indent="0">
              <a:buNone/>
            </a:pPr>
            <a:r>
              <a:rPr lang="en-US" sz="1200" b="1" dirty="0">
                <a:solidFill>
                  <a:schemeClr val="accent4"/>
                </a:solidFill>
              </a:rPr>
              <a:t>PILLAR 4</a:t>
            </a:r>
            <a:endParaRPr lang="en-US" sz="1200" dirty="0"/>
          </a:p>
        </p:txBody>
      </p:sp>
      <p:sp>
        <p:nvSpPr>
          <p:cNvPr id="26" name="Text 31"/>
          <p:cNvSpPr txBox="1"/>
          <p:nvPr/>
        </p:nvSpPr>
        <p:spPr>
          <a:xfrm>
            <a:off x="7493508" y="2999232"/>
            <a:ext cx="1709928" cy="566928"/>
          </a:xfrm>
          <a:prstGeom prst="rect">
            <a:avLst/>
          </a:prstGeom>
          <a:noFill/>
        </p:spPr>
        <p:txBody>
          <a:bodyPr wrap="square" lIns="0" tIns="0" rIns="0" bIns="0" rtlCol="0" anchor="t"/>
          <a:lstStyle/>
          <a:p>
            <a:pPr marL="0" indent="0">
              <a:buNone/>
            </a:pPr>
            <a:r>
              <a:rPr lang="en-US" sz="1800" b="1" dirty="0">
                <a:solidFill>
                  <a:schemeClr val="accent6"/>
                </a:solidFill>
              </a:rPr>
              <a:t>Loyalty</a:t>
            </a:r>
            <a:endParaRPr lang="en-US" sz="1800" dirty="0"/>
          </a:p>
        </p:txBody>
      </p:sp>
      <p:sp>
        <p:nvSpPr>
          <p:cNvPr id="27" name="Text 32"/>
          <p:cNvSpPr txBox="1"/>
          <p:nvPr/>
        </p:nvSpPr>
        <p:spPr>
          <a:xfrm>
            <a:off x="7493508" y="3639312"/>
            <a:ext cx="1709928" cy="1280160"/>
          </a:xfrm>
          <a:prstGeom prst="rect">
            <a:avLst/>
          </a:prstGeom>
          <a:noFill/>
        </p:spPr>
        <p:txBody>
          <a:bodyPr wrap="square" lIns="0" tIns="0" rIns="0" bIns="0" rtlCol="0" anchor="t"/>
          <a:lstStyle/>
          <a:p>
            <a:pPr marL="0" indent="0">
              <a:buNone/>
            </a:pPr>
            <a:r>
              <a:rPr lang="en-US" sz="1400" dirty="0">
                <a:solidFill>
                  <a:schemeClr val="tx1"/>
                </a:solidFill>
              </a:rPr>
              <a:t>Merchant Loyalty app &amp; Gamification</a:t>
            </a:r>
            <a:endParaRPr lang="en-US" sz="1400" dirty="0"/>
          </a:p>
        </p:txBody>
      </p:sp>
      <p:sp>
        <p:nvSpPr>
          <p:cNvPr id="28" name="Shape 33"/>
          <p:cNvSpPr/>
          <p:nvPr/>
        </p:nvSpPr>
        <p:spPr>
          <a:xfrm>
            <a:off x="9564624" y="1600200"/>
            <a:ext cx="2075688" cy="3429000"/>
          </a:xfrm>
          <a:prstGeom prst="roundRect">
            <a:avLst>
              <a:gd name="adj" fmla="val 3524"/>
            </a:avLst>
          </a:prstGeom>
          <a:solidFill>
            <a:schemeClr val="bg2"/>
          </a:solidFill>
        </p:spPr>
        <p:txBody>
          <a:bodyPr/>
          <a:p/>
        </p:txBody>
      </p:sp>
      <p:sp>
        <p:nvSpPr>
          <p:cNvPr id="29" name="Shape 34"/>
          <p:cNvSpPr/>
          <p:nvPr/>
        </p:nvSpPr>
        <p:spPr>
          <a:xfrm>
            <a:off x="9747504" y="1828800"/>
            <a:ext cx="731520" cy="731520"/>
          </a:xfrm>
          <a:prstGeom prst="ellipse">
            <a:avLst/>
          </a:prstGeom>
          <a:solidFill>
            <a:schemeClr val="accent5"/>
          </a:solidFill>
        </p:spPr>
        <p:txBody>
          <a:bodyPr/>
          <a:p/>
        </p:txBody>
      </p:sp>
      <p:pic>
        <p:nvPicPr>
          <p:cNvPr id="30" name="Icon 35" descr="UserTie"/>
          <p:cNvPicPr>
            <a:picLocks noChangeAspect="1"/>
          </p:cNvPicPr>
          <p:nvPr/>
        </p:nvPicPr>
        <p:blipFill>
          <a:blip r:embed="rId5"/>
          <a:stretch>
            <a:fillRect/>
          </a:stretch>
        </p:blipFill>
        <p:spPr>
          <a:xfrm>
            <a:off x="9930384" y="2011680"/>
            <a:ext cx="365760" cy="365760"/>
          </a:xfrm>
          <a:prstGeom prst="rect">
            <a:avLst/>
          </a:prstGeom>
        </p:spPr>
      </p:pic>
      <p:sp>
        <p:nvSpPr>
          <p:cNvPr id="31" name="Text 36"/>
          <p:cNvSpPr txBox="1"/>
          <p:nvPr/>
        </p:nvSpPr>
        <p:spPr>
          <a:xfrm>
            <a:off x="9747504" y="2743200"/>
            <a:ext cx="1709928" cy="228600"/>
          </a:xfrm>
          <a:prstGeom prst="rect">
            <a:avLst/>
          </a:prstGeom>
          <a:noFill/>
        </p:spPr>
        <p:txBody>
          <a:bodyPr wrap="square" lIns="0" tIns="0" rIns="0" bIns="0" rtlCol="0" anchor="t"/>
          <a:lstStyle/>
          <a:p>
            <a:pPr marL="0" indent="0">
              <a:buNone/>
            </a:pPr>
            <a:r>
              <a:rPr lang="en-US" sz="1200" b="1" dirty="0">
                <a:solidFill>
                  <a:schemeClr val="accent4"/>
                </a:solidFill>
              </a:rPr>
              <a:t>PILLAR 5</a:t>
            </a:r>
            <a:endParaRPr lang="en-US" sz="1200" dirty="0"/>
          </a:p>
        </p:txBody>
      </p:sp>
      <p:sp>
        <p:nvSpPr>
          <p:cNvPr id="32" name="Text 37"/>
          <p:cNvSpPr txBox="1"/>
          <p:nvPr/>
        </p:nvSpPr>
        <p:spPr>
          <a:xfrm>
            <a:off x="9747504" y="2999232"/>
            <a:ext cx="1709928" cy="566928"/>
          </a:xfrm>
          <a:prstGeom prst="rect">
            <a:avLst/>
          </a:prstGeom>
          <a:noFill/>
        </p:spPr>
        <p:txBody>
          <a:bodyPr wrap="square" lIns="0" tIns="0" rIns="0" bIns="0" rtlCol="0" anchor="t"/>
          <a:lstStyle/>
          <a:p>
            <a:pPr marL="0" indent="0">
              <a:buNone/>
            </a:pPr>
            <a:r>
              <a:rPr lang="en-US" sz="1800" b="1" dirty="0">
                <a:solidFill>
                  <a:schemeClr val="accent5"/>
                </a:solidFill>
              </a:rPr>
              <a:t>Reduce Sales Tasks</a:t>
            </a:r>
            <a:endParaRPr lang="en-US" sz="1800" dirty="0"/>
          </a:p>
        </p:txBody>
      </p:sp>
      <p:sp>
        <p:nvSpPr>
          <p:cNvPr id="33" name="Text 38"/>
          <p:cNvSpPr txBox="1"/>
          <p:nvPr/>
        </p:nvSpPr>
        <p:spPr>
          <a:xfrm>
            <a:off x="9747504" y="3639312"/>
            <a:ext cx="1709928" cy="1280160"/>
          </a:xfrm>
          <a:prstGeom prst="rect">
            <a:avLst/>
          </a:prstGeom>
          <a:noFill/>
        </p:spPr>
        <p:txBody>
          <a:bodyPr wrap="square" lIns="0" tIns="0" rIns="0" bIns="0" rtlCol="0" anchor="t"/>
          <a:lstStyle/>
          <a:p>
            <a:pPr marL="0" indent="0">
              <a:buNone/>
            </a:pPr>
            <a:r>
              <a:rPr lang="en-US" sz="1400" dirty="0">
                <a:solidFill>
                  <a:schemeClr val="tx1"/>
                </a:solidFill>
              </a:rPr>
              <a:t>Shift to Merchant self-service</a:t>
            </a:r>
            <a:endParaRPr lang="en-US" sz="1400" dirty="0"/>
          </a:p>
        </p:txBody>
      </p:sp>
      <p:sp>
        <p:nvSpPr>
          <p:cNvPr id="34" name="Shape 39"/>
          <p:cNvSpPr/>
          <p:nvPr/>
        </p:nvSpPr>
        <p:spPr>
          <a:xfrm>
            <a:off x="548640" y="5349240"/>
            <a:ext cx="11091672" cy="777240"/>
          </a:xfrm>
          <a:prstGeom prst="roundRect">
            <a:avLst>
              <a:gd name="adj" fmla="val 9412"/>
            </a:avLst>
          </a:prstGeom>
          <a:solidFill>
            <a:schemeClr val="bg2"/>
          </a:solidFill>
        </p:spPr>
        <p:txBody>
          <a:bodyPr/>
          <a:p/>
        </p:txBody>
      </p:sp>
      <p:sp>
        <p:nvSpPr>
          <p:cNvPr id="35" name="Text 40"/>
          <p:cNvSpPr txBox="1"/>
          <p:nvPr/>
        </p:nvSpPr>
        <p:spPr>
          <a:xfrm>
            <a:off x="822960" y="5349240"/>
            <a:ext cx="2194560" cy="777240"/>
          </a:xfrm>
          <a:prstGeom prst="rect">
            <a:avLst/>
          </a:prstGeom>
          <a:noFill/>
        </p:spPr>
        <p:txBody>
          <a:bodyPr wrap="square" lIns="0" tIns="0" rIns="0" bIns="0" rtlCol="0" anchor="ctr"/>
          <a:lstStyle/>
          <a:p>
            <a:pPr marL="0" indent="0">
              <a:buNone/>
            </a:pPr>
            <a:r>
              <a:rPr lang="en-US" sz="1600" b="1" dirty="0">
                <a:solidFill>
                  <a:schemeClr val="accent1"/>
                </a:solidFill>
              </a:rPr>
              <a:t>Closed loop</a:t>
            </a:r>
            <a:endParaRPr lang="en-US" sz="1600" dirty="0"/>
          </a:p>
        </p:txBody>
      </p:sp>
      <p:sp>
        <p:nvSpPr>
          <p:cNvPr id="36" name="Text 41"/>
          <p:cNvSpPr txBox="1"/>
          <p:nvPr/>
        </p:nvSpPr>
        <p:spPr>
          <a:xfrm>
            <a:off x="3017520" y="5349240"/>
            <a:ext cx="8412480" cy="777240"/>
          </a:xfrm>
          <a:prstGeom prst="rect">
            <a:avLst/>
          </a:prstGeom>
          <a:noFill/>
        </p:spPr>
        <p:txBody>
          <a:bodyPr wrap="square" lIns="0" tIns="0" rIns="0" bIns="0" rtlCol="0" anchor="ctr"/>
          <a:lstStyle/>
          <a:p>
            <a:pPr marL="0" indent="0">
              <a:buNone/>
            </a:pPr>
            <a:r>
              <a:rPr lang="en-US" sz="1400" b="1" dirty="0">
                <a:solidFill>
                  <a:schemeClr val="tx1"/>
                </a:solidFill>
              </a:rPr>
              <a:t>Buying  →  Selling  →  Wholesale  →  Loyalty  →  Reduce Sales Tasks  →  back to Buying</a:t>
            </a:r>
            <a:endParaRPr lang="en-US" sz="1400" dirty="0"/>
          </a:p>
        </p:txBody>
      </p:sp>
      <p:sp>
        <p:nvSpPr>
          <p:cNvPr id="37"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PILLAR 1  ·  BUYING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1"/>
                </a:solidFill>
              </a:rPr>
              <a:t>Open Marketplace &amp; Frictionless Onboarding</a:t>
            </a:r>
            <a:endParaRPr lang="en-US" sz="3200" dirty="0"/>
          </a:p>
        </p:txBody>
      </p:sp>
      <p:sp>
        <p:nvSpPr>
          <p:cNvPr id="4" name="Shape 42"/>
          <p:cNvSpPr/>
          <p:nvPr/>
        </p:nvSpPr>
        <p:spPr>
          <a:xfrm>
            <a:off x="548640" y="1554480"/>
            <a:ext cx="5408676" cy="4709160"/>
          </a:xfrm>
          <a:prstGeom prst="roundRect">
            <a:avLst>
              <a:gd name="adj" fmla="val 1553"/>
            </a:avLst>
          </a:prstGeom>
          <a:solidFill>
            <a:schemeClr val="bg2"/>
          </a:solidFill>
        </p:spPr>
        <p:txBody>
          <a:bodyPr/>
          <a:p/>
        </p:txBody>
      </p:sp>
      <p:sp>
        <p:nvSpPr>
          <p:cNvPr id="5" name="Pill 43"/>
          <p:cNvSpPr/>
          <p:nvPr/>
        </p:nvSpPr>
        <p:spPr>
          <a:xfrm>
            <a:off x="777240"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1.1</a:t>
            </a:r>
            <a:endParaRPr lang="en-US" sz="1400" dirty="0"/>
          </a:p>
        </p:txBody>
      </p:sp>
      <p:sp>
        <p:nvSpPr>
          <p:cNvPr id="6" name="Text 44"/>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Open Marketplace &amp; Brand-gated</a:t>
            </a:r>
            <a:endParaRPr lang="en-US" sz="1800" dirty="0"/>
          </a:p>
        </p:txBody>
      </p:sp>
      <p:sp>
        <p:nvSpPr>
          <p:cNvPr id="7" name="Shape 45"/>
          <p:cNvSpPr/>
          <p:nvPr/>
        </p:nvSpPr>
        <p:spPr>
          <a:xfrm>
            <a:off x="777240" y="2331720"/>
            <a:ext cx="4951476" cy="1280160"/>
          </a:xfrm>
          <a:prstGeom prst="roundRect">
            <a:avLst>
              <a:gd name="adj" fmla="val 5714"/>
            </a:avLst>
          </a:prstGeom>
          <a:solidFill>
            <a:schemeClr val="bg1"/>
          </a:solidFill>
        </p:spPr>
        <p:txBody>
          <a:bodyPr/>
          <a:p/>
        </p:txBody>
      </p:sp>
      <p:sp>
        <p:nvSpPr>
          <p:cNvPr id="8" name="Chip 46"/>
          <p:cNvSpPr/>
          <p:nvPr/>
        </p:nvSpPr>
        <p:spPr>
          <a:xfrm>
            <a:off x="960120" y="2350008"/>
            <a:ext cx="1417320" cy="329184"/>
          </a:xfrm>
          <a:prstGeom prst="roundRect">
            <a:avLst>
              <a:gd name="adj" fmla="val 16667"/>
            </a:avLst>
          </a:prstGeom>
          <a:solidFill>
            <a:schemeClr val="bg2"/>
          </a:solidFill>
        </p:spPr>
        <p:txBody>
          <a:bodyPr wrap="square" lIns="0" tIns="0" rIns="0" bIns="0" rtlCol="0" anchor="ctr"/>
          <a:lstStyle/>
          <a:p>
            <a:pPr marL="0" indent="0" algn="ctr">
              <a:buNone/>
            </a:pPr>
            <a:r>
              <a:rPr lang="en-US" sz="1200" dirty="0">
                <a:solidFill>
                  <a:schemeClr val="tx1"/>
                </a:solidFill>
              </a:rPr>
              <a:t>Distributor (local)</a:t>
            </a:r>
            <a:endParaRPr lang="en-US" sz="1200" dirty="0"/>
          </a:p>
        </p:txBody>
      </p:sp>
      <p:sp>
        <p:nvSpPr>
          <p:cNvPr id="9" name="Chip 47"/>
          <p:cNvSpPr/>
          <p:nvPr/>
        </p:nvSpPr>
        <p:spPr>
          <a:xfrm>
            <a:off x="960120" y="2807208"/>
            <a:ext cx="1417320" cy="329184"/>
          </a:xfrm>
          <a:prstGeom prst="roundRect">
            <a:avLst>
              <a:gd name="adj" fmla="val 16667"/>
            </a:avLst>
          </a:prstGeom>
          <a:solidFill>
            <a:schemeClr val="bg2"/>
          </a:solidFill>
        </p:spPr>
        <p:txBody>
          <a:bodyPr wrap="square" lIns="0" tIns="0" rIns="0" bIns="0" rtlCol="0" anchor="ctr"/>
          <a:lstStyle/>
          <a:p>
            <a:pPr marL="0" indent="0" algn="ctr">
              <a:buNone/>
            </a:pPr>
            <a:r>
              <a:rPr lang="en-US" sz="1200" dirty="0">
                <a:solidFill>
                  <a:schemeClr val="tx1"/>
                </a:solidFill>
              </a:rPr>
              <a:t>Distributor (local)</a:t>
            </a:r>
            <a:endParaRPr lang="en-US" sz="1200" dirty="0"/>
          </a:p>
        </p:txBody>
      </p:sp>
      <p:sp>
        <p:nvSpPr>
          <p:cNvPr id="10" name="Chip 48"/>
          <p:cNvSpPr/>
          <p:nvPr/>
        </p:nvSpPr>
        <p:spPr>
          <a:xfrm>
            <a:off x="960120" y="3264408"/>
            <a:ext cx="1417320" cy="329184"/>
          </a:xfrm>
          <a:prstGeom prst="roundRect">
            <a:avLst>
              <a:gd name="adj" fmla="val 16667"/>
            </a:avLst>
          </a:prstGeom>
          <a:solidFill>
            <a:schemeClr val="bg2"/>
          </a:solidFill>
        </p:spPr>
        <p:txBody>
          <a:bodyPr wrap="square" lIns="0" tIns="0" rIns="0" bIns="0" rtlCol="0" anchor="ctr"/>
          <a:lstStyle/>
          <a:p>
            <a:pPr marL="0" indent="0" algn="ctr">
              <a:buNone/>
            </a:pPr>
            <a:r>
              <a:rPr lang="en-US" sz="1200" dirty="0">
                <a:solidFill>
                  <a:schemeClr val="tx1"/>
                </a:solidFill>
              </a:rPr>
              <a:t>Distributor (local)</a:t>
            </a:r>
            <a:endParaRPr lang="en-US" sz="1200" dirty="0"/>
          </a:p>
        </p:txBody>
      </p:sp>
      <p:sp>
        <p:nvSpPr>
          <p:cNvPr id="11" name="Text 49"/>
          <p:cNvSpPr txBox="1"/>
          <p:nvPr/>
        </p:nvSpPr>
        <p:spPr>
          <a:xfrm>
            <a:off x="2468880" y="2679192"/>
            <a:ext cx="594360" cy="201168"/>
          </a:xfrm>
          <a:prstGeom prst="rect">
            <a:avLst/>
          </a:prstGeom>
          <a:noFill/>
        </p:spPr>
        <p:txBody>
          <a:bodyPr wrap="square" lIns="0" tIns="0" rIns="0" bIns="0" rtlCol="0" anchor="t"/>
          <a:lstStyle/>
          <a:p>
            <a:pPr marL="0" indent="0" algn="ctr">
              <a:buNone/>
            </a:pPr>
            <a:r>
              <a:rPr lang="en-US" sz="1200" b="1" dirty="0">
                <a:solidFill>
                  <a:schemeClr val="accent1"/>
                </a:solidFill>
              </a:rPr>
              <a:t>GPS</a:t>
            </a:r>
            <a:endParaRPr lang="en-US" sz="1200" dirty="0"/>
          </a:p>
        </p:txBody>
      </p:sp>
      <p:sp>
        <p:nvSpPr>
          <p:cNvPr id="12" name="Shape 50"/>
          <p:cNvSpPr/>
          <p:nvPr/>
        </p:nvSpPr>
        <p:spPr>
          <a:xfrm>
            <a:off x="2468880" y="2971800"/>
            <a:ext cx="594360" cy="0"/>
          </a:xfrm>
          <a:prstGeom prst="line">
            <a:avLst/>
          </a:prstGeom>
          <a:noFill/>
          <a:ln w="25400">
            <a:solidFill>
              <a:schemeClr val="accent1"/>
            </a:solidFill>
            <a:prstDash val="solid"/>
            <a:tailEnd type="triangle"/>
          </a:ln>
        </p:spPr>
        <p:txBody>
          <a:bodyPr/>
          <a:p/>
        </p:txBody>
      </p:sp>
      <p:sp>
        <p:nvSpPr>
          <p:cNvPr id="13" name="Shape 51"/>
          <p:cNvSpPr/>
          <p:nvPr/>
        </p:nvSpPr>
        <p:spPr>
          <a:xfrm>
            <a:off x="3108960" y="2560320"/>
            <a:ext cx="822960" cy="822960"/>
          </a:xfrm>
          <a:prstGeom prst="ellipse">
            <a:avLst/>
          </a:prstGeom>
          <a:solidFill>
            <a:schemeClr val="accent1"/>
          </a:solidFill>
        </p:spPr>
        <p:txBody>
          <a:bodyPr/>
          <a:p/>
        </p:txBody>
      </p:sp>
      <p:sp>
        <p:nvSpPr>
          <p:cNvPr id="14" name="Text 52"/>
          <p:cNvSpPr txBox="1"/>
          <p:nvPr/>
        </p:nvSpPr>
        <p:spPr>
          <a:xfrm>
            <a:off x="3108960" y="2560320"/>
            <a:ext cx="822960" cy="822960"/>
          </a:xfrm>
          <a:prstGeom prst="rect">
            <a:avLst/>
          </a:prstGeom>
          <a:noFill/>
        </p:spPr>
        <p:txBody>
          <a:bodyPr wrap="square" lIns="0" tIns="0" rIns="0" bIns="0" rtlCol="0" anchor="ctr"/>
          <a:lstStyle/>
          <a:p>
            <a:pPr marL="0" indent="0" algn="ctr">
              <a:buNone/>
            </a:pPr>
            <a:r>
              <a:rPr lang="en-US" sz="1200" b="1" dirty="0">
                <a:solidFill>
                  <a:schemeClr val="bg1"/>
                </a:solidFill>
              </a:rPr>
              <a:t>Merchant</a:t>
            </a:r>
            <a:endParaRPr lang="en-US" sz="1200" dirty="0"/>
          </a:p>
        </p:txBody>
      </p:sp>
      <p:sp>
        <p:nvSpPr>
          <p:cNvPr id="15" name="Shape 53"/>
          <p:cNvSpPr/>
          <p:nvPr/>
        </p:nvSpPr>
        <p:spPr>
          <a:xfrm>
            <a:off x="3931920" y="2971800"/>
            <a:ext cx="320040" cy="0"/>
          </a:xfrm>
          <a:prstGeom prst="line">
            <a:avLst/>
          </a:prstGeom>
          <a:noFill/>
          <a:ln w="19050">
            <a:solidFill>
              <a:schemeClr val="accent4"/>
            </a:solidFill>
            <a:prstDash val="dash"/>
          </a:ln>
        </p:spPr>
        <p:txBody>
          <a:bodyPr/>
          <a:p/>
        </p:txBody>
      </p:sp>
      <p:sp>
        <p:nvSpPr>
          <p:cNvPr id="16" name="Shape 54"/>
          <p:cNvSpPr/>
          <p:nvPr/>
        </p:nvSpPr>
        <p:spPr>
          <a:xfrm>
            <a:off x="4297680" y="2423160"/>
            <a:ext cx="1339596" cy="1097280"/>
          </a:xfrm>
          <a:prstGeom prst="roundRect">
            <a:avLst>
              <a:gd name="adj" fmla="val 5000"/>
            </a:avLst>
          </a:prstGeom>
          <a:solidFill>
            <a:schemeClr val="bg2"/>
          </a:solidFill>
        </p:spPr>
        <p:txBody>
          <a:bodyPr/>
          <a:p/>
        </p:txBody>
      </p:sp>
      <p:pic>
        <p:nvPicPr>
          <p:cNvPr id="17" name="Icon 55" descr="Lock"/>
          <p:cNvPicPr>
            <a:picLocks noChangeAspect="1"/>
          </p:cNvPicPr>
          <p:nvPr/>
        </p:nvPicPr>
        <p:blipFill>
          <a:blip r:embed="rId1"/>
          <a:stretch>
            <a:fillRect/>
          </a:stretch>
        </p:blipFill>
        <p:spPr>
          <a:xfrm>
            <a:off x="4784598" y="2496312"/>
            <a:ext cx="365760" cy="365760"/>
          </a:xfrm>
          <a:prstGeom prst="rect">
            <a:avLst/>
          </a:prstGeom>
        </p:spPr>
      </p:pic>
      <p:sp>
        <p:nvSpPr>
          <p:cNvPr id="18" name="Text 56"/>
          <p:cNvSpPr txBox="1"/>
          <p:nvPr/>
        </p:nvSpPr>
        <p:spPr>
          <a:xfrm>
            <a:off x="4343400" y="2926080"/>
            <a:ext cx="1248156" cy="548640"/>
          </a:xfrm>
          <a:prstGeom prst="rect">
            <a:avLst/>
          </a:prstGeom>
          <a:noFill/>
        </p:spPr>
        <p:txBody>
          <a:bodyPr wrap="square" lIns="0" tIns="0" rIns="0" bIns="0" rtlCol="0" anchor="t"/>
          <a:lstStyle/>
          <a:p>
            <a:pPr marL="0" indent="0" algn="ctr">
              <a:buNone/>
            </a:pPr>
            <a:r>
              <a:rPr lang="en-US" sz="1200" dirty="0">
                <a:solidFill>
                  <a:schemeClr val="tx1"/>
                </a:solidFill>
              </a:rPr>
              <a:t>Brand-gated (exclusive products)</a:t>
            </a:r>
            <a:endParaRPr lang="en-US" sz="1200" dirty="0"/>
          </a:p>
        </p:txBody>
      </p:sp>
      <p:sp>
        <p:nvSpPr>
          <p:cNvPr id="19" name="Text 57"/>
          <p:cNvSpPr txBox="1"/>
          <p:nvPr/>
        </p:nvSpPr>
        <p:spPr>
          <a:xfrm>
            <a:off x="777240"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Shift from waiting for Brand approval to an open B2B marketplace run by regional Distributors: enter an address and the responsible Distributor is mapped automatically.</a:t>
            </a:r>
            <a:endParaRPr lang="en-US" sz="1400" dirty="0"/>
          </a:p>
          <a:p>
            <a:pPr marL="177800" indent="-177800">
              <a:spcAft>
                <a:spcPts val="600"/>
              </a:spcAft>
              <a:buSzPct val="100000"/>
              <a:buChar char="•"/>
            </a:pPr>
            <a:r>
              <a:rPr lang="en-US" sz="1400" dirty="0">
                <a:solidFill>
                  <a:schemeClr val="tx1"/>
                </a:solidFill>
              </a:rPr>
              <a:t>Hybrid Display: Brand-gated products are only sold after the Brand approves the link with the Merchant.</a:t>
            </a:r>
            <a:endParaRPr lang="en-US" sz="1400" dirty="0"/>
          </a:p>
        </p:txBody>
      </p:sp>
      <p:sp>
        <p:nvSpPr>
          <p:cNvPr id="20" name="Shape 58"/>
          <p:cNvSpPr/>
          <p:nvPr/>
        </p:nvSpPr>
        <p:spPr>
          <a:xfrm>
            <a:off x="777240" y="5060188"/>
            <a:ext cx="4951476" cy="974852"/>
          </a:xfrm>
          <a:prstGeom prst="roundRect">
            <a:avLst>
              <a:gd name="adj" fmla="val 7504"/>
            </a:avLst>
          </a:prstGeom>
          <a:solidFill>
            <a:schemeClr val="bg1"/>
          </a:solidFill>
        </p:spPr>
        <p:txBody>
          <a:bodyPr/>
          <a:p/>
        </p:txBody>
      </p:sp>
      <p:sp>
        <p:nvSpPr>
          <p:cNvPr id="21" name="Text 59"/>
          <p:cNvSpPr txBox="1"/>
          <p:nvPr/>
        </p:nvSpPr>
        <p:spPr>
          <a:xfrm>
            <a:off x="960120" y="5169916"/>
            <a:ext cx="4585716" cy="201168"/>
          </a:xfrm>
          <a:prstGeom prst="rect">
            <a:avLst/>
          </a:prstGeom>
          <a:noFill/>
        </p:spPr>
        <p:txBody>
          <a:bodyPr wrap="square" lIns="0" tIns="0" rIns="0" bIns="0" rtlCol="0" anchor="t"/>
          <a:lstStyle/>
          <a:p>
            <a:pPr marL="0" indent="0">
              <a:buNone/>
            </a:pPr>
            <a:r>
              <a:rPr lang="en-US" sz="1200" b="1" dirty="0">
                <a:solidFill>
                  <a:schemeClr val="accent1"/>
                </a:solidFill>
              </a:rPr>
              <a:t>RESULT</a:t>
            </a:r>
            <a:endParaRPr lang="en-US" sz="1200" dirty="0"/>
          </a:p>
        </p:txBody>
      </p:sp>
      <p:sp>
        <p:nvSpPr>
          <p:cNvPr id="22" name="Text 60"/>
          <p:cNvSpPr txBox="1"/>
          <p:nvPr/>
        </p:nvSpPr>
        <p:spPr>
          <a:xfrm>
            <a:off x="960120"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Grow GMV and the Merchant base while still complying with each Brand's exclusive distribution policy.</a:t>
            </a:r>
            <a:endParaRPr lang="en-US" sz="1400" dirty="0"/>
          </a:p>
        </p:txBody>
      </p:sp>
      <p:sp>
        <p:nvSpPr>
          <p:cNvPr id="23" name="Shape 61"/>
          <p:cNvSpPr/>
          <p:nvPr/>
        </p:nvSpPr>
        <p:spPr>
          <a:xfrm>
            <a:off x="6231636" y="1554480"/>
            <a:ext cx="5408676" cy="4709160"/>
          </a:xfrm>
          <a:prstGeom prst="roundRect">
            <a:avLst>
              <a:gd name="adj" fmla="val 1553"/>
            </a:avLst>
          </a:prstGeom>
          <a:solidFill>
            <a:schemeClr val="bg2"/>
          </a:solidFill>
        </p:spPr>
        <p:txBody>
          <a:bodyPr/>
          <a:p/>
        </p:txBody>
      </p:sp>
      <p:sp>
        <p:nvSpPr>
          <p:cNvPr id="24" name="Pill 62"/>
          <p:cNvSpPr/>
          <p:nvPr/>
        </p:nvSpPr>
        <p:spPr>
          <a:xfrm>
            <a:off x="6460236"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1.2</a:t>
            </a:r>
            <a:endParaRPr lang="en-US" sz="1400" dirty="0"/>
          </a:p>
        </p:txBody>
      </p:sp>
      <p:sp>
        <p:nvSpPr>
          <p:cNvPr id="25" name="Text 63"/>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Frictionless Onboarding (under 60s)</a:t>
            </a:r>
            <a:endParaRPr lang="en-US" sz="1800" dirty="0"/>
          </a:p>
        </p:txBody>
      </p:sp>
      <p:sp>
        <p:nvSpPr>
          <p:cNvPr id="26" name="Shape 64"/>
          <p:cNvSpPr/>
          <p:nvPr/>
        </p:nvSpPr>
        <p:spPr>
          <a:xfrm>
            <a:off x="6460236" y="2331720"/>
            <a:ext cx="4951476" cy="1280160"/>
          </a:xfrm>
          <a:prstGeom prst="roundRect">
            <a:avLst>
              <a:gd name="adj" fmla="val 5714"/>
            </a:avLst>
          </a:prstGeom>
          <a:solidFill>
            <a:schemeClr val="bg1"/>
          </a:solidFill>
        </p:spPr>
        <p:txBody>
          <a:bodyPr/>
          <a:p/>
        </p:txBody>
      </p:sp>
      <p:sp>
        <p:nvSpPr>
          <p:cNvPr id="27" name="Shape 65"/>
          <p:cNvSpPr/>
          <p:nvPr/>
        </p:nvSpPr>
        <p:spPr>
          <a:xfrm>
            <a:off x="7016648" y="2474366"/>
            <a:ext cx="537667" cy="537667"/>
          </a:xfrm>
          <a:prstGeom prst="ellipse">
            <a:avLst/>
          </a:prstGeom>
          <a:solidFill>
            <a:schemeClr val="accent1"/>
          </a:solidFill>
        </p:spPr>
        <p:txBody>
          <a:bodyPr/>
          <a:p/>
        </p:txBody>
      </p:sp>
      <p:pic>
        <p:nvPicPr>
          <p:cNvPr id="28" name="Icon 66" descr="MobileAlt"/>
          <p:cNvPicPr>
            <a:picLocks noChangeAspect="1"/>
          </p:cNvPicPr>
          <p:nvPr/>
        </p:nvPicPr>
        <p:blipFill>
          <a:blip r:embed="rId2"/>
          <a:stretch>
            <a:fillRect/>
          </a:stretch>
        </p:blipFill>
        <p:spPr>
          <a:xfrm>
            <a:off x="7151065" y="2608783"/>
            <a:ext cx="268834" cy="268834"/>
          </a:xfrm>
          <a:prstGeom prst="rect">
            <a:avLst/>
          </a:prstGeom>
        </p:spPr>
      </p:pic>
      <p:sp>
        <p:nvSpPr>
          <p:cNvPr id="29" name="Text 67"/>
          <p:cNvSpPr txBox="1"/>
          <p:nvPr/>
        </p:nvSpPr>
        <p:spPr>
          <a:xfrm>
            <a:off x="6533388"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Phone (OTP)</a:t>
            </a:r>
            <a:endParaRPr lang="en-US" sz="1200" dirty="0"/>
          </a:p>
        </p:txBody>
      </p:sp>
      <p:pic>
        <p:nvPicPr>
          <p:cNvPr id="30" name="Icon 68" descr="ChevronRight"/>
          <p:cNvPicPr>
            <a:picLocks noChangeAspect="1"/>
          </p:cNvPicPr>
          <p:nvPr/>
        </p:nvPicPr>
        <p:blipFill>
          <a:blip r:embed="rId3"/>
          <a:stretch>
            <a:fillRect/>
          </a:stretch>
        </p:blipFill>
        <p:spPr>
          <a:xfrm>
            <a:off x="8001000" y="2633472"/>
            <a:ext cx="219456" cy="219456"/>
          </a:xfrm>
          <a:prstGeom prst="rect">
            <a:avLst/>
          </a:prstGeom>
        </p:spPr>
      </p:pic>
      <p:sp>
        <p:nvSpPr>
          <p:cNvPr id="31" name="Shape 69"/>
          <p:cNvSpPr/>
          <p:nvPr/>
        </p:nvSpPr>
        <p:spPr>
          <a:xfrm>
            <a:off x="8667140" y="2474366"/>
            <a:ext cx="537667" cy="537667"/>
          </a:xfrm>
          <a:prstGeom prst="ellipse">
            <a:avLst/>
          </a:prstGeom>
          <a:solidFill>
            <a:schemeClr val="accent1"/>
          </a:solidFill>
        </p:spPr>
        <p:txBody>
          <a:bodyPr/>
          <a:p/>
        </p:txBody>
      </p:sp>
      <p:pic>
        <p:nvPicPr>
          <p:cNvPr id="32" name="Icon 70" descr="MapMarkerAlt"/>
          <p:cNvPicPr>
            <a:picLocks noChangeAspect="1"/>
          </p:cNvPicPr>
          <p:nvPr/>
        </p:nvPicPr>
        <p:blipFill>
          <a:blip r:embed="rId4"/>
          <a:stretch>
            <a:fillRect/>
          </a:stretch>
        </p:blipFill>
        <p:spPr>
          <a:xfrm>
            <a:off x="8801557" y="2608783"/>
            <a:ext cx="268834" cy="268834"/>
          </a:xfrm>
          <a:prstGeom prst="rect">
            <a:avLst/>
          </a:prstGeom>
        </p:spPr>
      </p:pic>
      <p:sp>
        <p:nvSpPr>
          <p:cNvPr id="33" name="Text 71"/>
          <p:cNvSpPr txBox="1"/>
          <p:nvPr/>
        </p:nvSpPr>
        <p:spPr>
          <a:xfrm>
            <a:off x="8183880"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Store Name + GPS</a:t>
            </a:r>
            <a:endParaRPr lang="en-US" sz="1200" dirty="0"/>
          </a:p>
        </p:txBody>
      </p:sp>
      <p:pic>
        <p:nvPicPr>
          <p:cNvPr id="34" name="Icon 72" descr="ChevronRight"/>
          <p:cNvPicPr>
            <a:picLocks noChangeAspect="1"/>
          </p:cNvPicPr>
          <p:nvPr/>
        </p:nvPicPr>
        <p:blipFill>
          <a:blip r:embed="rId3"/>
          <a:stretch>
            <a:fillRect/>
          </a:stretch>
        </p:blipFill>
        <p:spPr>
          <a:xfrm>
            <a:off x="9651492" y="2633472"/>
            <a:ext cx="219456" cy="219456"/>
          </a:xfrm>
          <a:prstGeom prst="rect">
            <a:avLst/>
          </a:prstGeom>
        </p:spPr>
      </p:pic>
      <p:sp>
        <p:nvSpPr>
          <p:cNvPr id="35" name="Shape 73"/>
          <p:cNvSpPr/>
          <p:nvPr/>
        </p:nvSpPr>
        <p:spPr>
          <a:xfrm>
            <a:off x="10317632" y="2474366"/>
            <a:ext cx="537667" cy="537667"/>
          </a:xfrm>
          <a:prstGeom prst="ellipse">
            <a:avLst/>
          </a:prstGeom>
          <a:solidFill>
            <a:schemeClr val="accent1"/>
          </a:solidFill>
        </p:spPr>
        <p:txBody>
          <a:bodyPr/>
          <a:p/>
        </p:txBody>
      </p:sp>
      <p:pic>
        <p:nvPicPr>
          <p:cNvPr id="36" name="Icon 74" descr="BoxOpen"/>
          <p:cNvPicPr>
            <a:picLocks noChangeAspect="1"/>
          </p:cNvPicPr>
          <p:nvPr/>
        </p:nvPicPr>
        <p:blipFill>
          <a:blip r:embed="rId5"/>
          <a:stretch>
            <a:fillRect/>
          </a:stretch>
        </p:blipFill>
        <p:spPr>
          <a:xfrm>
            <a:off x="10452049" y="2608783"/>
            <a:ext cx="268834" cy="268834"/>
          </a:xfrm>
          <a:prstGeom prst="rect">
            <a:avLst/>
          </a:prstGeom>
        </p:spPr>
      </p:pic>
      <p:sp>
        <p:nvSpPr>
          <p:cNvPr id="37" name="Text 75"/>
          <p:cNvSpPr txBox="1"/>
          <p:nvPr/>
        </p:nvSpPr>
        <p:spPr>
          <a:xfrm>
            <a:off x="983437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Order in &lt; 60s</a:t>
            </a:r>
            <a:endParaRPr lang="en-US" sz="1200" dirty="0"/>
          </a:p>
        </p:txBody>
      </p:sp>
      <p:sp>
        <p:nvSpPr>
          <p:cNvPr id="38" name="Text 76"/>
          <p:cNvSpPr txBox="1"/>
          <p:nvPr/>
        </p:nvSpPr>
        <p:spPr>
          <a:xfrm>
            <a:off x="6460236"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Remove eKYC, national ID and Business License from the default flow; only Phone (OTP) + Store Name + delivery address are required.</a:t>
            </a:r>
            <a:endParaRPr lang="en-US" sz="1400" dirty="0"/>
          </a:p>
          <a:p>
            <a:pPr marL="177800" indent="-177800">
              <a:spcAft>
                <a:spcPts val="600"/>
              </a:spcAft>
              <a:buSzPct val="100000"/>
              <a:buChar char="•"/>
            </a:pPr>
            <a:r>
              <a:rPr lang="en-US" sz="1400" dirty="0">
                <a:solidFill>
                  <a:schemeClr val="tx1"/>
                </a:solidFill>
              </a:rPr>
              <a:t>Documents become a Conditional Step only when requesting a connection to a Brand with strict requirements.</a:t>
            </a:r>
            <a:endParaRPr lang="en-US" sz="1400" dirty="0"/>
          </a:p>
        </p:txBody>
      </p:sp>
      <p:sp>
        <p:nvSpPr>
          <p:cNvPr id="39" name="Shape 77"/>
          <p:cNvSpPr/>
          <p:nvPr/>
        </p:nvSpPr>
        <p:spPr>
          <a:xfrm>
            <a:off x="6460236" y="5060188"/>
            <a:ext cx="4951476" cy="974852"/>
          </a:xfrm>
          <a:prstGeom prst="roundRect">
            <a:avLst>
              <a:gd name="adj" fmla="val 7504"/>
            </a:avLst>
          </a:prstGeom>
          <a:solidFill>
            <a:schemeClr val="bg1"/>
          </a:solidFill>
        </p:spPr>
        <p:txBody>
          <a:bodyPr/>
          <a:p/>
        </p:txBody>
      </p:sp>
      <p:sp>
        <p:nvSpPr>
          <p:cNvPr id="40" name="Text 78"/>
          <p:cNvSpPr txBox="1"/>
          <p:nvPr/>
        </p:nvSpPr>
        <p:spPr>
          <a:xfrm>
            <a:off x="6643116" y="5169916"/>
            <a:ext cx="4585716" cy="201168"/>
          </a:xfrm>
          <a:prstGeom prst="rect">
            <a:avLst/>
          </a:prstGeom>
          <a:noFill/>
        </p:spPr>
        <p:txBody>
          <a:bodyPr wrap="square" lIns="0" tIns="0" rIns="0" bIns="0" rtlCol="0" anchor="t"/>
          <a:lstStyle/>
          <a:p>
            <a:pPr marL="0" indent="0">
              <a:buNone/>
            </a:pPr>
            <a:r>
              <a:rPr lang="en-US" sz="1200" b="1" dirty="0">
                <a:solidFill>
                  <a:schemeClr val="accent1"/>
                </a:solidFill>
              </a:rPr>
              <a:t>RESULT</a:t>
            </a:r>
            <a:endParaRPr lang="en-US" sz="1200" dirty="0"/>
          </a:p>
        </p:txBody>
      </p:sp>
      <p:sp>
        <p:nvSpPr>
          <p:cNvPr id="41" name="Text 79"/>
          <p:cNvSpPr txBox="1"/>
          <p:nvPr/>
        </p:nvSpPr>
        <p:spPr>
          <a:xfrm>
            <a:off x="6643116"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Viewing prices and placing the first order in under a minute: the Distributor only needs to know who to deliver to, and where.</a:t>
            </a:r>
            <a:endParaRPr lang="en-US" sz="1400" dirty="0"/>
          </a:p>
        </p:txBody>
      </p:sp>
      <p:sp>
        <p:nvSpPr>
          <p:cNvPr id="42"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PILLAR 1  ·  BUYING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1"/>
                </a:solidFill>
              </a:rPr>
              <a:t>AI Semantic Search</a:t>
            </a:r>
            <a:endParaRPr lang="en-US" sz="3200" dirty="0"/>
          </a:p>
        </p:txBody>
      </p:sp>
      <p:sp>
        <p:nvSpPr>
          <p:cNvPr id="4" name="Shape 80"/>
          <p:cNvSpPr/>
          <p:nvPr/>
        </p:nvSpPr>
        <p:spPr>
          <a:xfrm>
            <a:off x="548640" y="1554480"/>
            <a:ext cx="5394960" cy="4709160"/>
          </a:xfrm>
          <a:prstGeom prst="roundRect">
            <a:avLst>
              <a:gd name="adj" fmla="val 1553"/>
            </a:avLst>
          </a:prstGeom>
          <a:solidFill>
            <a:schemeClr val="bg2"/>
          </a:solidFill>
        </p:spPr>
        <p:txBody>
          <a:bodyPr/>
          <a:p/>
        </p:txBody>
      </p:sp>
      <p:sp>
        <p:nvSpPr>
          <p:cNvPr id="5" name="Shape 81"/>
          <p:cNvSpPr/>
          <p:nvPr/>
        </p:nvSpPr>
        <p:spPr>
          <a:xfrm>
            <a:off x="777240" y="1783080"/>
            <a:ext cx="4937760" cy="4251960"/>
          </a:xfrm>
          <a:prstGeom prst="roundRect">
            <a:avLst>
              <a:gd name="adj" fmla="val 1720"/>
            </a:avLst>
          </a:prstGeom>
          <a:solidFill>
            <a:schemeClr val="bg1"/>
          </a:solidFill>
        </p:spPr>
        <p:txBody>
          <a:bodyPr/>
          <a:p/>
        </p:txBody>
      </p:sp>
      <p:sp>
        <p:nvSpPr>
          <p:cNvPr id="6" name="Chip 82"/>
          <p:cNvSpPr/>
          <p:nvPr/>
        </p:nvSpPr>
        <p:spPr>
          <a:xfrm>
            <a:off x="1051560" y="2011680"/>
            <a:ext cx="1828800" cy="365760"/>
          </a:xfrm>
          <a:prstGeom prst="roundRect">
            <a:avLst>
              <a:gd name="adj" fmla="val 15000"/>
            </a:avLst>
          </a:prstGeom>
          <a:solidFill>
            <a:schemeClr val="accent4"/>
          </a:solidFill>
        </p:spPr>
        <p:txBody>
          <a:bodyPr wrap="square" lIns="0" tIns="0" rIns="0" bIns="0" rtlCol="0" anchor="ctr"/>
          <a:lstStyle/>
          <a:p>
            <a:pPr marL="0" indent="0" algn="ctr">
              <a:buNone/>
            </a:pPr>
            <a:r>
              <a:rPr lang="en-US" sz="1400" b="1" dirty="0">
                <a:solidFill>
                  <a:schemeClr val="bg1"/>
                </a:solidFill>
              </a:rPr>
              <a:t>Merchant types</a:t>
            </a:r>
            <a:endParaRPr lang="en-US" sz="1400" dirty="0"/>
          </a:p>
        </p:txBody>
      </p:sp>
      <p:sp>
        <p:nvSpPr>
          <p:cNvPr id="7" name="Chip 83"/>
          <p:cNvSpPr/>
          <p:nvPr/>
        </p:nvSpPr>
        <p:spPr>
          <a:xfrm>
            <a:off x="3611880" y="2011680"/>
            <a:ext cx="1828800" cy="365760"/>
          </a:xfrm>
          <a:prstGeom prst="roundRect">
            <a:avLst>
              <a:gd name="adj" fmla="val 15000"/>
            </a:avLst>
          </a:prstGeom>
          <a:solidFill>
            <a:schemeClr val="accent1"/>
          </a:solidFill>
        </p:spPr>
        <p:txBody>
          <a:bodyPr wrap="square" lIns="0" tIns="0" rIns="0" bIns="0" rtlCol="0" anchor="ctr"/>
          <a:lstStyle/>
          <a:p>
            <a:pPr marL="0" indent="0" algn="ctr">
              <a:buNone/>
            </a:pPr>
            <a:r>
              <a:rPr lang="en-US" sz="1400" b="1" dirty="0">
                <a:solidFill>
                  <a:schemeClr val="bg1"/>
                </a:solidFill>
              </a:rPr>
              <a:t>AI understands (Search Intent)</a:t>
            </a:r>
            <a:endParaRPr lang="en-US" sz="1400" dirty="0"/>
          </a:p>
        </p:txBody>
      </p:sp>
      <p:sp>
        <p:nvSpPr>
          <p:cNvPr id="8" name="Chip 84"/>
          <p:cNvSpPr/>
          <p:nvPr/>
        </p:nvSpPr>
        <p:spPr>
          <a:xfrm>
            <a:off x="1051560" y="2606040"/>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dirty="0">
                <a:solidFill>
                  <a:schemeClr val="tx1"/>
                </a:solidFill>
              </a:rPr>
              <a:t>instant noodles</a:t>
            </a:r>
            <a:endParaRPr lang="en-US" sz="1400" dirty="0"/>
          </a:p>
        </p:txBody>
      </p:sp>
      <p:pic>
        <p:nvPicPr>
          <p:cNvPr id="9" name="Icon 85" descr="ChevronRight"/>
          <p:cNvPicPr>
            <a:picLocks noChangeAspect="1"/>
          </p:cNvPicPr>
          <p:nvPr/>
        </p:nvPicPr>
        <p:blipFill>
          <a:blip r:embed="rId1"/>
          <a:stretch>
            <a:fillRect/>
          </a:stretch>
        </p:blipFill>
        <p:spPr>
          <a:xfrm>
            <a:off x="3127248" y="2743200"/>
            <a:ext cx="237744" cy="237744"/>
          </a:xfrm>
          <a:prstGeom prst="rect">
            <a:avLst/>
          </a:prstGeom>
        </p:spPr>
      </p:pic>
      <p:sp>
        <p:nvSpPr>
          <p:cNvPr id="10" name="Chip 86"/>
          <p:cNvSpPr/>
          <p:nvPr/>
        </p:nvSpPr>
        <p:spPr>
          <a:xfrm>
            <a:off x="3611880" y="2606040"/>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b="1" dirty="0">
                <a:solidFill>
                  <a:schemeClr val="tx1"/>
                </a:solidFill>
              </a:rPr>
              <a:t>instant noodles</a:t>
            </a:r>
            <a:endParaRPr lang="en-US" sz="1400" dirty="0"/>
          </a:p>
        </p:txBody>
      </p:sp>
      <p:sp>
        <p:nvSpPr>
          <p:cNvPr id="11" name="Chip 87"/>
          <p:cNvSpPr/>
          <p:nvPr/>
        </p:nvSpPr>
        <p:spPr>
          <a:xfrm>
            <a:off x="1051560" y="3255264"/>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dirty="0">
                <a:solidFill>
                  <a:schemeClr val="tx1"/>
                </a:solidFill>
              </a:rPr>
              <a:t>soy sauce</a:t>
            </a:r>
            <a:endParaRPr lang="en-US" sz="1400" dirty="0"/>
          </a:p>
        </p:txBody>
      </p:sp>
      <p:pic>
        <p:nvPicPr>
          <p:cNvPr id="12" name="Icon 88" descr="ChevronRight"/>
          <p:cNvPicPr>
            <a:picLocks noChangeAspect="1"/>
          </p:cNvPicPr>
          <p:nvPr/>
        </p:nvPicPr>
        <p:blipFill>
          <a:blip r:embed="rId1"/>
          <a:stretch>
            <a:fillRect/>
          </a:stretch>
        </p:blipFill>
        <p:spPr>
          <a:xfrm>
            <a:off x="3127248" y="3392424"/>
            <a:ext cx="237744" cy="237744"/>
          </a:xfrm>
          <a:prstGeom prst="rect">
            <a:avLst/>
          </a:prstGeom>
        </p:spPr>
      </p:pic>
      <p:sp>
        <p:nvSpPr>
          <p:cNvPr id="13" name="Chip 89"/>
          <p:cNvSpPr/>
          <p:nvPr/>
        </p:nvSpPr>
        <p:spPr>
          <a:xfrm>
            <a:off x="3611880" y="3255264"/>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b="1" dirty="0">
                <a:solidFill>
                  <a:schemeClr val="tx1"/>
                </a:solidFill>
              </a:rPr>
              <a:t>soy sauce (regional name)</a:t>
            </a:r>
            <a:endParaRPr lang="en-US" sz="1400" dirty="0"/>
          </a:p>
        </p:txBody>
      </p:sp>
      <p:sp>
        <p:nvSpPr>
          <p:cNvPr id="14" name="Chip 90"/>
          <p:cNvSpPr/>
          <p:nvPr/>
        </p:nvSpPr>
        <p:spPr>
          <a:xfrm>
            <a:off x="1051560" y="3904488"/>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dirty="0">
                <a:solidFill>
                  <a:schemeClr val="tx1"/>
                </a:solidFill>
              </a:rPr>
              <a:t>adhesive tape</a:t>
            </a:r>
            <a:endParaRPr lang="en-US" sz="1400" dirty="0"/>
          </a:p>
        </p:txBody>
      </p:sp>
      <p:pic>
        <p:nvPicPr>
          <p:cNvPr id="15" name="Icon 91" descr="ChevronRight"/>
          <p:cNvPicPr>
            <a:picLocks noChangeAspect="1"/>
          </p:cNvPicPr>
          <p:nvPr/>
        </p:nvPicPr>
        <p:blipFill>
          <a:blip r:embed="rId1"/>
          <a:stretch>
            <a:fillRect/>
          </a:stretch>
        </p:blipFill>
        <p:spPr>
          <a:xfrm>
            <a:off x="3127248" y="4041648"/>
            <a:ext cx="237744" cy="237744"/>
          </a:xfrm>
          <a:prstGeom prst="rect">
            <a:avLst/>
          </a:prstGeom>
        </p:spPr>
      </p:pic>
      <p:sp>
        <p:nvSpPr>
          <p:cNvPr id="16" name="Chip 92"/>
          <p:cNvSpPr/>
          <p:nvPr/>
        </p:nvSpPr>
        <p:spPr>
          <a:xfrm>
            <a:off x="3611880" y="3904488"/>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b="1" dirty="0">
                <a:solidFill>
                  <a:schemeClr val="tx1"/>
                </a:solidFill>
              </a:rPr>
              <a:t>tape</a:t>
            </a:r>
            <a:endParaRPr lang="en-US" sz="1400" dirty="0"/>
          </a:p>
        </p:txBody>
      </p:sp>
      <p:sp>
        <p:nvSpPr>
          <p:cNvPr id="17" name="Chip 93"/>
          <p:cNvSpPr/>
          <p:nvPr/>
        </p:nvSpPr>
        <p:spPr>
          <a:xfrm>
            <a:off x="1051560" y="4553712"/>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dirty="0">
                <a:solidFill>
                  <a:schemeClr val="tx1"/>
                </a:solidFill>
              </a:rPr>
              <a:t>sour &amp; spicy</a:t>
            </a:r>
            <a:endParaRPr lang="en-US" sz="1400" dirty="0"/>
          </a:p>
        </p:txBody>
      </p:sp>
      <p:pic>
        <p:nvPicPr>
          <p:cNvPr id="18" name="Icon 94" descr="ChevronRight"/>
          <p:cNvPicPr>
            <a:picLocks noChangeAspect="1"/>
          </p:cNvPicPr>
          <p:nvPr/>
        </p:nvPicPr>
        <p:blipFill>
          <a:blip r:embed="rId1"/>
          <a:stretch>
            <a:fillRect/>
          </a:stretch>
        </p:blipFill>
        <p:spPr>
          <a:xfrm>
            <a:off x="3127248" y="4690872"/>
            <a:ext cx="237744" cy="237744"/>
          </a:xfrm>
          <a:prstGeom prst="rect">
            <a:avLst/>
          </a:prstGeom>
        </p:spPr>
      </p:pic>
      <p:sp>
        <p:nvSpPr>
          <p:cNvPr id="19" name="Chip 95"/>
          <p:cNvSpPr/>
          <p:nvPr/>
        </p:nvSpPr>
        <p:spPr>
          <a:xfrm>
            <a:off x="3611880" y="4553712"/>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b="1" dirty="0">
                <a:solidFill>
                  <a:schemeClr val="tx1"/>
                </a:solidFill>
              </a:rPr>
              <a:t>Hao Hao sour &amp; spicy shrimp noodles</a:t>
            </a:r>
            <a:endParaRPr lang="en-US" sz="1400" dirty="0"/>
          </a:p>
        </p:txBody>
      </p:sp>
      <p:sp>
        <p:nvSpPr>
          <p:cNvPr id="20" name="Chip 96"/>
          <p:cNvSpPr/>
          <p:nvPr/>
        </p:nvSpPr>
        <p:spPr>
          <a:xfrm>
            <a:off x="1051560" y="5202936"/>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dirty="0">
                <a:solidFill>
                  <a:schemeClr val="tx1"/>
                </a:solidFill>
              </a:rPr>
              <a:t>coke case (slang)</a:t>
            </a:r>
            <a:endParaRPr lang="en-US" sz="1400" dirty="0"/>
          </a:p>
        </p:txBody>
      </p:sp>
      <p:pic>
        <p:nvPicPr>
          <p:cNvPr id="21" name="Icon 97" descr="ChevronRight"/>
          <p:cNvPicPr>
            <a:picLocks noChangeAspect="1"/>
          </p:cNvPicPr>
          <p:nvPr/>
        </p:nvPicPr>
        <p:blipFill>
          <a:blip r:embed="rId1"/>
          <a:stretch>
            <a:fillRect/>
          </a:stretch>
        </p:blipFill>
        <p:spPr>
          <a:xfrm>
            <a:off x="3127248" y="5340096"/>
            <a:ext cx="237744" cy="237744"/>
          </a:xfrm>
          <a:prstGeom prst="rect">
            <a:avLst/>
          </a:prstGeom>
        </p:spPr>
      </p:pic>
      <p:sp>
        <p:nvSpPr>
          <p:cNvPr id="22" name="Chip 98"/>
          <p:cNvSpPr/>
          <p:nvPr/>
        </p:nvSpPr>
        <p:spPr>
          <a:xfrm>
            <a:off x="3611880" y="5202936"/>
            <a:ext cx="1828800" cy="512064"/>
          </a:xfrm>
          <a:prstGeom prst="roundRect">
            <a:avLst>
              <a:gd name="adj" fmla="val 10714"/>
            </a:avLst>
          </a:prstGeom>
          <a:solidFill>
            <a:schemeClr val="bg2"/>
          </a:solidFill>
        </p:spPr>
        <p:txBody>
          <a:bodyPr wrap="square" lIns="0" tIns="0" rIns="0" bIns="0" rtlCol="0" anchor="ctr"/>
          <a:lstStyle/>
          <a:p>
            <a:pPr marL="0" indent="0" algn="ctr">
              <a:buNone/>
            </a:pPr>
            <a:r>
              <a:rPr lang="en-US" sz="1400" b="1" dirty="0">
                <a:solidFill>
                  <a:schemeClr val="tx1"/>
                </a:solidFill>
              </a:rPr>
              <a:t>Coca-Cola (case)</a:t>
            </a:r>
            <a:endParaRPr lang="en-US" sz="1400" dirty="0"/>
          </a:p>
        </p:txBody>
      </p:sp>
      <p:sp>
        <p:nvSpPr>
          <p:cNvPr id="23" name="Shape 99"/>
          <p:cNvSpPr/>
          <p:nvPr/>
        </p:nvSpPr>
        <p:spPr>
          <a:xfrm>
            <a:off x="6217920" y="1554480"/>
            <a:ext cx="5422392" cy="4709160"/>
          </a:xfrm>
          <a:prstGeom prst="roundRect">
            <a:avLst>
              <a:gd name="adj" fmla="val 1553"/>
            </a:avLst>
          </a:prstGeom>
          <a:solidFill>
            <a:schemeClr val="bg2"/>
          </a:solidFill>
        </p:spPr>
        <p:txBody>
          <a:bodyPr/>
          <a:p/>
        </p:txBody>
      </p:sp>
      <p:sp>
        <p:nvSpPr>
          <p:cNvPr id="24" name="Pill 100"/>
          <p:cNvSpPr/>
          <p:nvPr/>
        </p:nvSpPr>
        <p:spPr>
          <a:xfrm>
            <a:off x="6492240"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1.3</a:t>
            </a:r>
            <a:endParaRPr lang="en-US" sz="1400" dirty="0"/>
          </a:p>
        </p:txBody>
      </p:sp>
      <p:sp>
        <p:nvSpPr>
          <p:cNvPr id="25" name="Text 101"/>
          <p:cNvSpPr txBox="1"/>
          <p:nvPr/>
        </p:nvSpPr>
        <p:spPr>
          <a:xfrm>
            <a:off x="7196328" y="1737360"/>
            <a:ext cx="4169664" cy="512064"/>
          </a:xfrm>
          <a:prstGeom prst="rect">
            <a:avLst/>
          </a:prstGeom>
          <a:noFill/>
        </p:spPr>
        <p:txBody>
          <a:bodyPr wrap="square" lIns="0" tIns="0" rIns="0" bIns="0" rtlCol="0" anchor="ctr"/>
          <a:lstStyle/>
          <a:p>
            <a:pPr marL="0" indent="0">
              <a:buNone/>
            </a:pPr>
            <a:r>
              <a:rPr lang="en-US" sz="1800" b="1" dirty="0">
                <a:solidFill>
                  <a:schemeClr val="tx1"/>
                </a:solidFill>
              </a:rPr>
              <a:t>Natural-language semantic search</a:t>
            </a:r>
            <a:endParaRPr lang="en-US" sz="1800" dirty="0"/>
          </a:p>
        </p:txBody>
      </p:sp>
      <p:sp>
        <p:nvSpPr>
          <p:cNvPr id="26" name="Text 102"/>
          <p:cNvSpPr txBox="1"/>
          <p:nvPr/>
        </p:nvSpPr>
        <p:spPr>
          <a:xfrm>
            <a:off x="6492240" y="2468880"/>
            <a:ext cx="4873752" cy="2313178"/>
          </a:xfrm>
          <a:prstGeom prst="rect">
            <a:avLst/>
          </a:prstGeom>
          <a:noFill/>
        </p:spPr>
        <p:txBody>
          <a:bodyPr wrap="square" lIns="0" tIns="0" rIns="0" bIns="0" rtlCol="0" anchor="t"/>
          <a:lstStyle/>
          <a:p>
            <a:pPr marL="177800" indent="-177800">
              <a:spcAft>
                <a:spcPts val="1200"/>
              </a:spcAft>
              <a:buSzPct val="100000"/>
              <a:buChar char="•"/>
            </a:pPr>
            <a:r>
              <a:rPr lang="en-US" sz="1700" dirty="0">
                <a:solidFill>
                  <a:schemeClr val="tx1"/>
                </a:solidFill>
              </a:rPr>
              <a:t>Replace exact keyword matching with Semantic Search (AI/NLP).</a:t>
            </a:r>
            <a:endParaRPr lang="en-US" sz="1700" dirty="0"/>
          </a:p>
          <a:p>
            <a:pPr marL="177800" indent="-177800">
              <a:spcAft>
                <a:spcPts val="1200"/>
              </a:spcAft>
              <a:buSzPct val="100000"/>
              <a:buChar char="•"/>
            </a:pPr>
            <a:r>
              <a:rPr lang="en-US" sz="1700" dirty="0">
                <a:solidFill>
                  <a:schemeClr val="tx1"/>
                </a:solidFill>
              </a:rPr>
              <a:t>Understands synonyms, FMCG slang, misspellings, typing without accents, and regional names across the North, Central and South.</a:t>
            </a:r>
            <a:endParaRPr lang="en-US" sz="1700" dirty="0"/>
          </a:p>
          <a:p>
            <a:pPr marL="177800" indent="-177800">
              <a:spcAft>
                <a:spcPts val="1200"/>
              </a:spcAft>
              <a:buSzPct val="100000"/>
              <a:buChar char="•"/>
            </a:pPr>
            <a:r>
              <a:rPr lang="en-US" sz="1700" dirty="0">
                <a:solidFill>
                  <a:schemeClr val="tx1"/>
                </a:solidFill>
              </a:rPr>
              <a:t>Captures search intent instead of exact wording, avoiding "product not found" when a Merchant uses a different name from the Distributor's ERP.</a:t>
            </a:r>
            <a:endParaRPr lang="en-US" sz="1700" dirty="0"/>
          </a:p>
        </p:txBody>
      </p:sp>
      <p:sp>
        <p:nvSpPr>
          <p:cNvPr id="27" name="Shape 103"/>
          <p:cNvSpPr/>
          <p:nvPr/>
        </p:nvSpPr>
        <p:spPr>
          <a:xfrm>
            <a:off x="6492240" y="4919218"/>
            <a:ext cx="4873752" cy="1070102"/>
          </a:xfrm>
          <a:prstGeom prst="roundRect">
            <a:avLst>
              <a:gd name="adj" fmla="val 6836"/>
            </a:avLst>
          </a:prstGeom>
          <a:solidFill>
            <a:schemeClr val="bg1"/>
          </a:solidFill>
        </p:spPr>
        <p:txBody>
          <a:bodyPr/>
          <a:p/>
        </p:txBody>
      </p:sp>
      <p:sp>
        <p:nvSpPr>
          <p:cNvPr id="28" name="Text 104"/>
          <p:cNvSpPr txBox="1"/>
          <p:nvPr/>
        </p:nvSpPr>
        <p:spPr>
          <a:xfrm>
            <a:off x="6675120" y="5028946"/>
            <a:ext cx="4507992" cy="201168"/>
          </a:xfrm>
          <a:prstGeom prst="rect">
            <a:avLst/>
          </a:prstGeom>
          <a:noFill/>
        </p:spPr>
        <p:txBody>
          <a:bodyPr wrap="square" lIns="0" tIns="0" rIns="0" bIns="0" rtlCol="0" anchor="t"/>
          <a:lstStyle/>
          <a:p>
            <a:pPr marL="0" indent="0">
              <a:buNone/>
            </a:pPr>
            <a:r>
              <a:rPr lang="en-US" sz="1200" b="1" dirty="0">
                <a:solidFill>
                  <a:schemeClr val="accent1"/>
                </a:solidFill>
              </a:rPr>
              <a:t>RESULT</a:t>
            </a:r>
            <a:endParaRPr lang="en-US" sz="1200" dirty="0"/>
          </a:p>
        </p:txBody>
      </p:sp>
      <p:sp>
        <p:nvSpPr>
          <p:cNvPr id="29" name="Text 105"/>
          <p:cNvSpPr txBox="1"/>
          <p:nvPr/>
        </p:nvSpPr>
        <p:spPr>
          <a:xfrm>
            <a:off x="6675120" y="5266690"/>
            <a:ext cx="4507992" cy="631190"/>
          </a:xfrm>
          <a:prstGeom prst="rect">
            <a:avLst/>
          </a:prstGeom>
          <a:noFill/>
        </p:spPr>
        <p:txBody>
          <a:bodyPr wrap="square" lIns="0" tIns="0" rIns="0" bIns="0" rtlCol="0" anchor="t"/>
          <a:lstStyle/>
          <a:p>
            <a:pPr marL="0" indent="0">
              <a:buNone/>
            </a:pPr>
            <a:r>
              <a:rPr lang="en-US" sz="1700" dirty="0">
                <a:solidFill>
                  <a:schemeClr val="tx1"/>
                </a:solidFill>
              </a:rPr>
              <a:t>Higher search success rate and cart conversion.</a:t>
            </a:r>
            <a:endParaRPr lang="en-US" sz="1700" dirty="0"/>
          </a:p>
        </p:txBody>
      </p:sp>
      <p:sp>
        <p:nvSpPr>
          <p:cNvPr id="30"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PILLAR 1  ·  BUYING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1"/>
                </a:solidFill>
              </a:rPr>
              <a:t>Upsell &amp; Cross-sell Recommendation</a:t>
            </a:r>
            <a:endParaRPr lang="en-US" sz="3200" dirty="0"/>
          </a:p>
        </p:txBody>
      </p:sp>
      <p:sp>
        <p:nvSpPr>
          <p:cNvPr id="4" name="Shape 106"/>
          <p:cNvSpPr/>
          <p:nvPr/>
        </p:nvSpPr>
        <p:spPr>
          <a:xfrm>
            <a:off x="548640" y="1554480"/>
            <a:ext cx="5408676" cy="4709160"/>
          </a:xfrm>
          <a:prstGeom prst="roundRect">
            <a:avLst>
              <a:gd name="adj" fmla="val 1553"/>
            </a:avLst>
          </a:prstGeom>
          <a:solidFill>
            <a:schemeClr val="bg2"/>
          </a:solidFill>
        </p:spPr>
        <p:txBody>
          <a:bodyPr/>
          <a:p/>
        </p:txBody>
      </p:sp>
      <p:sp>
        <p:nvSpPr>
          <p:cNvPr id="5" name="Pill 107"/>
          <p:cNvSpPr/>
          <p:nvPr/>
        </p:nvSpPr>
        <p:spPr>
          <a:xfrm>
            <a:off x="777240"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1.4</a:t>
            </a:r>
            <a:endParaRPr lang="en-US" sz="1400" dirty="0"/>
          </a:p>
        </p:txBody>
      </p:sp>
      <p:sp>
        <p:nvSpPr>
          <p:cNvPr id="6" name="Text 108"/>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Upsell: reach the MOQ with the same Distributor</a:t>
            </a:r>
            <a:endParaRPr lang="en-US" sz="1800" dirty="0"/>
          </a:p>
        </p:txBody>
      </p:sp>
      <p:sp>
        <p:nvSpPr>
          <p:cNvPr id="7" name="Shape 109"/>
          <p:cNvSpPr/>
          <p:nvPr/>
        </p:nvSpPr>
        <p:spPr>
          <a:xfrm>
            <a:off x="777240" y="2331720"/>
            <a:ext cx="4951476" cy="1280160"/>
          </a:xfrm>
          <a:prstGeom prst="roundRect">
            <a:avLst>
              <a:gd name="adj" fmla="val 5714"/>
            </a:avLst>
          </a:prstGeom>
          <a:solidFill>
            <a:schemeClr val="bg1"/>
          </a:solidFill>
        </p:spPr>
        <p:txBody>
          <a:bodyPr/>
          <a:p/>
        </p:txBody>
      </p:sp>
      <p:pic>
        <p:nvPicPr>
          <p:cNvPr id="8" name="Icon 110" descr="ShoppingCart"/>
          <p:cNvPicPr>
            <a:picLocks noChangeAspect="1"/>
          </p:cNvPicPr>
          <p:nvPr/>
        </p:nvPicPr>
        <p:blipFill>
          <a:blip r:embed="rId1"/>
          <a:stretch>
            <a:fillRect/>
          </a:stretch>
        </p:blipFill>
        <p:spPr>
          <a:xfrm>
            <a:off x="960120" y="2788920"/>
            <a:ext cx="365760" cy="365760"/>
          </a:xfrm>
          <a:prstGeom prst="rect">
            <a:avLst/>
          </a:prstGeom>
        </p:spPr>
      </p:pic>
      <p:sp>
        <p:nvSpPr>
          <p:cNvPr id="9" name="Text 111"/>
          <p:cNvSpPr txBox="1"/>
          <p:nvPr/>
        </p:nvSpPr>
        <p:spPr>
          <a:xfrm>
            <a:off x="1463040" y="2468880"/>
            <a:ext cx="4082796" cy="201168"/>
          </a:xfrm>
          <a:prstGeom prst="rect">
            <a:avLst/>
          </a:prstGeom>
          <a:noFill/>
        </p:spPr>
        <p:txBody>
          <a:bodyPr wrap="square" lIns="0" tIns="0" rIns="0" bIns="0" rtlCol="0" anchor="t"/>
          <a:lstStyle/>
          <a:p>
            <a:pPr marL="0" indent="0" algn="r">
              <a:buNone/>
            </a:pPr>
            <a:r>
              <a:rPr lang="en-US" sz="1200" b="1" dirty="0">
                <a:solidFill>
                  <a:schemeClr val="accent4"/>
                </a:solidFill>
              </a:rPr>
              <a:t>Freeship MOQ</a:t>
            </a:r>
            <a:endParaRPr lang="en-US" sz="1200" dirty="0"/>
          </a:p>
        </p:txBody>
      </p:sp>
      <p:sp>
        <p:nvSpPr>
          <p:cNvPr id="10" name="Shape 112"/>
          <p:cNvSpPr/>
          <p:nvPr/>
        </p:nvSpPr>
        <p:spPr>
          <a:xfrm>
            <a:off x="1463040" y="2807208"/>
            <a:ext cx="4082796" cy="256032"/>
          </a:xfrm>
          <a:prstGeom prst="roundRect">
            <a:avLst>
              <a:gd name="adj" fmla="val 50000"/>
            </a:avLst>
          </a:prstGeom>
          <a:solidFill>
            <a:schemeClr val="bg2"/>
          </a:solidFill>
        </p:spPr>
        <p:txBody>
          <a:bodyPr/>
          <a:p/>
        </p:txBody>
      </p:sp>
      <p:sp>
        <p:nvSpPr>
          <p:cNvPr id="11" name="Shape 113"/>
          <p:cNvSpPr/>
          <p:nvPr/>
        </p:nvSpPr>
        <p:spPr>
          <a:xfrm>
            <a:off x="1463040" y="2807208"/>
            <a:ext cx="3184581" cy="256032"/>
          </a:xfrm>
          <a:prstGeom prst="roundRect">
            <a:avLst>
              <a:gd name="adj" fmla="val 50000"/>
            </a:avLst>
          </a:prstGeom>
          <a:solidFill>
            <a:schemeClr val="accent1"/>
          </a:solidFill>
        </p:spPr>
        <p:txBody>
          <a:bodyPr/>
          <a:p/>
        </p:txBody>
      </p:sp>
      <p:sp>
        <p:nvSpPr>
          <p:cNvPr id="12" name="Chip 114"/>
          <p:cNvSpPr/>
          <p:nvPr/>
        </p:nvSpPr>
        <p:spPr>
          <a:xfrm>
            <a:off x="3824661" y="3172968"/>
            <a:ext cx="1051560" cy="256032"/>
          </a:xfrm>
          <a:prstGeom prst="roundRect">
            <a:avLst>
              <a:gd name="adj" fmla="val 21429"/>
            </a:avLst>
          </a:prstGeom>
          <a:solidFill>
            <a:schemeClr val="accent2"/>
          </a:solidFill>
        </p:spPr>
        <p:txBody>
          <a:bodyPr wrap="square" lIns="0" tIns="0" rIns="0" bIns="0" rtlCol="0" anchor="ctr"/>
          <a:lstStyle/>
          <a:p>
            <a:pPr marL="0" indent="0" algn="ctr">
              <a:buNone/>
            </a:pPr>
            <a:r>
              <a:rPr lang="en-US" sz="1200" b="1" dirty="0">
                <a:solidFill>
                  <a:schemeClr val="bg1"/>
                </a:solidFill>
              </a:rPr>
              <a:t>+1 item</a:t>
            </a:r>
            <a:endParaRPr lang="en-US" sz="1200" dirty="0"/>
          </a:p>
        </p:txBody>
      </p:sp>
      <p:sp>
        <p:nvSpPr>
          <p:cNvPr id="13" name="Text 115"/>
          <p:cNvSpPr txBox="1"/>
          <p:nvPr/>
        </p:nvSpPr>
        <p:spPr>
          <a:xfrm>
            <a:off x="777240"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Market Basket Analysis suggests items commonly bought together from the Distributor handling the order (beer + soft drinks; cooking oil + sugar / fish sauce).</a:t>
            </a:r>
            <a:endParaRPr lang="en-US" sz="1400" dirty="0"/>
          </a:p>
          <a:p>
            <a:pPr marL="177800" indent="-177800">
              <a:spcAft>
                <a:spcPts val="600"/>
              </a:spcAft>
              <a:buSzPct val="100000"/>
              <a:buChar char="•"/>
            </a:pPr>
            <a:r>
              <a:rPr lang="en-US" sz="1400" dirty="0">
                <a:solidFill>
                  <a:schemeClr val="tx1"/>
                </a:solidFill>
              </a:rPr>
              <a:t>Show progress toward Freeship / MOQ directly in the cart.</a:t>
            </a:r>
            <a:endParaRPr lang="en-US" sz="1400" dirty="0"/>
          </a:p>
        </p:txBody>
      </p:sp>
      <p:sp>
        <p:nvSpPr>
          <p:cNvPr id="14" name="Shape 116"/>
          <p:cNvSpPr/>
          <p:nvPr/>
        </p:nvSpPr>
        <p:spPr>
          <a:xfrm>
            <a:off x="777240" y="5060188"/>
            <a:ext cx="4951476" cy="974852"/>
          </a:xfrm>
          <a:prstGeom prst="roundRect">
            <a:avLst>
              <a:gd name="adj" fmla="val 7504"/>
            </a:avLst>
          </a:prstGeom>
          <a:solidFill>
            <a:schemeClr val="bg1"/>
          </a:solidFill>
        </p:spPr>
        <p:txBody>
          <a:bodyPr/>
          <a:p/>
        </p:txBody>
      </p:sp>
      <p:sp>
        <p:nvSpPr>
          <p:cNvPr id="15" name="Text 117"/>
          <p:cNvSpPr txBox="1"/>
          <p:nvPr/>
        </p:nvSpPr>
        <p:spPr>
          <a:xfrm>
            <a:off x="960120" y="5169916"/>
            <a:ext cx="4585716" cy="201168"/>
          </a:xfrm>
          <a:prstGeom prst="rect">
            <a:avLst/>
          </a:prstGeom>
          <a:noFill/>
        </p:spPr>
        <p:txBody>
          <a:bodyPr wrap="square" lIns="0" tIns="0" rIns="0" bIns="0" rtlCol="0" anchor="t"/>
          <a:lstStyle/>
          <a:p>
            <a:pPr marL="0" indent="0">
              <a:buNone/>
            </a:pPr>
            <a:r>
              <a:rPr lang="en-US" sz="1200" b="1" dirty="0">
                <a:solidFill>
                  <a:schemeClr val="accent1"/>
                </a:solidFill>
              </a:rPr>
              <a:t>EXAMPLE</a:t>
            </a:r>
            <a:endParaRPr lang="en-US" sz="1200" dirty="0"/>
          </a:p>
        </p:txBody>
      </p:sp>
      <p:sp>
        <p:nvSpPr>
          <p:cNvPr id="16" name="Text 118"/>
          <p:cNvSpPr txBox="1"/>
          <p:nvPr/>
        </p:nvSpPr>
        <p:spPr>
          <a:xfrm>
            <a:off x="960120"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"Add one case of soft drink X to qualify for free delivery / meet the MOQ from Distributor [Name]."</a:t>
            </a:r>
            <a:endParaRPr lang="en-US" sz="1400" dirty="0"/>
          </a:p>
        </p:txBody>
      </p:sp>
      <p:sp>
        <p:nvSpPr>
          <p:cNvPr id="17" name="Shape 119"/>
          <p:cNvSpPr/>
          <p:nvPr/>
        </p:nvSpPr>
        <p:spPr>
          <a:xfrm>
            <a:off x="6231636" y="1554480"/>
            <a:ext cx="5408676" cy="4709160"/>
          </a:xfrm>
          <a:prstGeom prst="roundRect">
            <a:avLst>
              <a:gd name="adj" fmla="val 1553"/>
            </a:avLst>
          </a:prstGeom>
          <a:solidFill>
            <a:schemeClr val="bg2"/>
          </a:solidFill>
        </p:spPr>
        <p:txBody>
          <a:bodyPr/>
          <a:p/>
        </p:txBody>
      </p:sp>
      <p:sp>
        <p:nvSpPr>
          <p:cNvPr id="18" name="Pill 120"/>
          <p:cNvSpPr/>
          <p:nvPr/>
        </p:nvSpPr>
        <p:spPr>
          <a:xfrm>
            <a:off x="6460236"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1.5</a:t>
            </a:r>
            <a:endParaRPr lang="en-US" sz="1400" dirty="0"/>
          </a:p>
        </p:txBody>
      </p:sp>
      <p:sp>
        <p:nvSpPr>
          <p:cNvPr id="19" name="Text 121"/>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Cross-sell: other Distributor / Brand</a:t>
            </a:r>
            <a:endParaRPr lang="en-US" sz="1800" dirty="0"/>
          </a:p>
        </p:txBody>
      </p:sp>
      <p:sp>
        <p:nvSpPr>
          <p:cNvPr id="20" name="Shape 122"/>
          <p:cNvSpPr/>
          <p:nvPr/>
        </p:nvSpPr>
        <p:spPr>
          <a:xfrm>
            <a:off x="6460236" y="2331720"/>
            <a:ext cx="4951476" cy="1280160"/>
          </a:xfrm>
          <a:prstGeom prst="roundRect">
            <a:avLst>
              <a:gd name="adj" fmla="val 5714"/>
            </a:avLst>
          </a:prstGeom>
          <a:solidFill>
            <a:schemeClr val="bg1"/>
          </a:solidFill>
        </p:spPr>
        <p:txBody>
          <a:bodyPr/>
          <a:p/>
        </p:txBody>
      </p:sp>
      <p:sp>
        <p:nvSpPr>
          <p:cNvPr id="21" name="Shape 123"/>
          <p:cNvSpPr/>
          <p:nvPr/>
        </p:nvSpPr>
        <p:spPr>
          <a:xfrm>
            <a:off x="6734556" y="2423160"/>
            <a:ext cx="1554480" cy="1097280"/>
          </a:xfrm>
          <a:prstGeom prst="roundRect">
            <a:avLst>
              <a:gd name="adj" fmla="val 5000"/>
            </a:avLst>
          </a:prstGeom>
          <a:solidFill>
            <a:schemeClr val="bg2"/>
          </a:solidFill>
        </p:spPr>
        <p:txBody>
          <a:bodyPr/>
          <a:p/>
        </p:txBody>
      </p:sp>
      <p:pic>
        <p:nvPicPr>
          <p:cNvPr id="22" name="Icon 124" descr="BoxOpen"/>
          <p:cNvPicPr>
            <a:picLocks noChangeAspect="1"/>
          </p:cNvPicPr>
          <p:nvPr/>
        </p:nvPicPr>
        <p:blipFill>
          <a:blip r:embed="rId2"/>
          <a:stretch>
            <a:fillRect/>
          </a:stretch>
        </p:blipFill>
        <p:spPr>
          <a:xfrm>
            <a:off x="7347204" y="2514600"/>
            <a:ext cx="329184" cy="329184"/>
          </a:xfrm>
          <a:prstGeom prst="rect">
            <a:avLst/>
          </a:prstGeom>
        </p:spPr>
      </p:pic>
      <p:sp>
        <p:nvSpPr>
          <p:cNvPr id="23" name="Text 125"/>
          <p:cNvSpPr txBox="1"/>
          <p:nvPr/>
        </p:nvSpPr>
        <p:spPr>
          <a:xfrm>
            <a:off x="6734556" y="2953512"/>
            <a:ext cx="1554480" cy="365760"/>
          </a:xfrm>
          <a:prstGeom prst="rect">
            <a:avLst/>
          </a:prstGeom>
          <a:noFill/>
        </p:spPr>
        <p:txBody>
          <a:bodyPr wrap="square" lIns="0" tIns="0" rIns="0" bIns="0" rtlCol="0" anchor="t"/>
          <a:lstStyle/>
          <a:p>
            <a:pPr marL="0" indent="0" algn="ctr">
              <a:buNone/>
            </a:pPr>
            <a:r>
              <a:rPr lang="en-US" sz="1200" dirty="0">
                <a:solidFill>
                  <a:schemeClr val="tx1"/>
                </a:solidFill>
              </a:rPr>
              <a:t>Standard product</a:t>
            </a:r>
            <a:endParaRPr lang="en-US" sz="1200" dirty="0"/>
          </a:p>
        </p:txBody>
      </p:sp>
      <p:sp>
        <p:nvSpPr>
          <p:cNvPr id="24" name="Text 126"/>
          <p:cNvSpPr txBox="1"/>
          <p:nvPr/>
        </p:nvSpPr>
        <p:spPr>
          <a:xfrm>
            <a:off x="8289036" y="2788920"/>
            <a:ext cx="1293876" cy="365760"/>
          </a:xfrm>
          <a:prstGeom prst="rect">
            <a:avLst/>
          </a:prstGeom>
          <a:noFill/>
        </p:spPr>
        <p:txBody>
          <a:bodyPr wrap="square" lIns="0" tIns="0" rIns="0" bIns="0" rtlCol="0" anchor="ctr"/>
          <a:lstStyle/>
          <a:p>
            <a:pPr marL="0" indent="0" algn="ctr">
              <a:buNone/>
            </a:pPr>
            <a:r>
              <a:rPr lang="en-US" sz="1400" b="1" dirty="0">
                <a:solidFill>
                  <a:schemeClr val="accent4"/>
                </a:solidFill>
              </a:rPr>
              <a:t>VS</a:t>
            </a:r>
            <a:endParaRPr lang="en-US" sz="1400" dirty="0"/>
          </a:p>
        </p:txBody>
      </p:sp>
      <p:sp>
        <p:nvSpPr>
          <p:cNvPr id="25" name="Shape 127"/>
          <p:cNvSpPr/>
          <p:nvPr/>
        </p:nvSpPr>
        <p:spPr>
          <a:xfrm>
            <a:off x="9582912" y="2423160"/>
            <a:ext cx="1554480" cy="1097280"/>
          </a:xfrm>
          <a:prstGeom prst="roundRect">
            <a:avLst>
              <a:gd name="adj" fmla="val 5000"/>
            </a:avLst>
          </a:prstGeom>
          <a:solidFill>
            <a:schemeClr val="accent1"/>
          </a:solidFill>
        </p:spPr>
        <p:txBody>
          <a:bodyPr/>
          <a:p/>
        </p:txBody>
      </p:sp>
      <p:pic>
        <p:nvPicPr>
          <p:cNvPr id="26" name="Icon 128" descr="BoxOpen"/>
          <p:cNvPicPr>
            <a:picLocks noChangeAspect="1"/>
          </p:cNvPicPr>
          <p:nvPr/>
        </p:nvPicPr>
        <p:blipFill>
          <a:blip r:embed="rId3"/>
          <a:stretch>
            <a:fillRect/>
          </a:stretch>
        </p:blipFill>
        <p:spPr>
          <a:xfrm>
            <a:off x="10195560" y="2514600"/>
            <a:ext cx="329184" cy="329184"/>
          </a:xfrm>
          <a:prstGeom prst="rect">
            <a:avLst/>
          </a:prstGeom>
        </p:spPr>
      </p:pic>
      <p:sp>
        <p:nvSpPr>
          <p:cNvPr id="27" name="Text 129"/>
          <p:cNvSpPr txBox="1"/>
          <p:nvPr/>
        </p:nvSpPr>
        <p:spPr>
          <a:xfrm>
            <a:off x="9582912" y="2953512"/>
            <a:ext cx="1554480" cy="365760"/>
          </a:xfrm>
          <a:prstGeom prst="rect">
            <a:avLst/>
          </a:prstGeom>
          <a:noFill/>
        </p:spPr>
        <p:txBody>
          <a:bodyPr wrap="square" lIns="0" tIns="0" rIns="0" bIns="0" rtlCol="0" anchor="t"/>
          <a:lstStyle/>
          <a:p>
            <a:pPr marL="0" indent="0" algn="ctr">
              <a:buNone/>
            </a:pPr>
            <a:r>
              <a:rPr lang="en-US" sz="1200" b="1" dirty="0">
                <a:solidFill>
                  <a:schemeClr val="bg1"/>
                </a:solidFill>
              </a:rPr>
              <a:t>Sponsored</a:t>
            </a:r>
            <a:endParaRPr lang="en-US" sz="1200" dirty="0"/>
          </a:p>
        </p:txBody>
      </p:sp>
      <p:sp>
        <p:nvSpPr>
          <p:cNvPr id="28" name="Text 130"/>
          <p:cNvSpPr txBox="1"/>
          <p:nvPr/>
        </p:nvSpPr>
        <p:spPr>
          <a:xfrm>
            <a:off x="6460236"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Suggest alternative products in the same category from other Distributors/Brands on the product page and in the cart footer.</a:t>
            </a:r>
            <a:endParaRPr lang="en-US" sz="1400" dirty="0"/>
          </a:p>
          <a:p>
            <a:pPr marL="177800" indent="-177800">
              <a:spcAft>
                <a:spcPts val="600"/>
              </a:spcAft>
              <a:buSzPct val="100000"/>
              <a:buChar char="•"/>
            </a:pPr>
            <a:r>
              <a:rPr lang="en-US" sz="1400" dirty="0">
                <a:solidFill>
                  <a:schemeClr val="tx1"/>
                </a:solidFill>
              </a:rPr>
              <a:t>Criteria: lower wholesale price, deeper promotions, or sponsored placement (Retail Media Network, Sponsored Products).</a:t>
            </a:r>
            <a:endParaRPr lang="en-US" sz="1400" dirty="0"/>
          </a:p>
        </p:txBody>
      </p:sp>
      <p:sp>
        <p:nvSpPr>
          <p:cNvPr id="29" name="Shape 131"/>
          <p:cNvSpPr/>
          <p:nvPr/>
        </p:nvSpPr>
        <p:spPr>
          <a:xfrm>
            <a:off x="6460236" y="5060188"/>
            <a:ext cx="4951476" cy="974852"/>
          </a:xfrm>
          <a:prstGeom prst="roundRect">
            <a:avLst>
              <a:gd name="adj" fmla="val 7504"/>
            </a:avLst>
          </a:prstGeom>
          <a:solidFill>
            <a:schemeClr val="bg1"/>
          </a:solidFill>
        </p:spPr>
        <p:txBody>
          <a:bodyPr/>
          <a:p/>
        </p:txBody>
      </p:sp>
      <p:sp>
        <p:nvSpPr>
          <p:cNvPr id="30" name="Text 132"/>
          <p:cNvSpPr txBox="1"/>
          <p:nvPr/>
        </p:nvSpPr>
        <p:spPr>
          <a:xfrm>
            <a:off x="6643116" y="5169916"/>
            <a:ext cx="4585716" cy="201168"/>
          </a:xfrm>
          <a:prstGeom prst="rect">
            <a:avLst/>
          </a:prstGeom>
          <a:noFill/>
        </p:spPr>
        <p:txBody>
          <a:bodyPr wrap="square" lIns="0" tIns="0" rIns="0" bIns="0" rtlCol="0" anchor="t"/>
          <a:lstStyle/>
          <a:p>
            <a:pPr marL="0" indent="0">
              <a:buNone/>
            </a:pPr>
            <a:r>
              <a:rPr lang="en-US" sz="1200" b="1" dirty="0">
                <a:solidFill>
                  <a:schemeClr val="accent1"/>
                </a:solidFill>
              </a:rPr>
              <a:t>RESULT</a:t>
            </a:r>
            <a:endParaRPr lang="en-US" sz="1200" dirty="0"/>
          </a:p>
        </p:txBody>
      </p:sp>
      <p:sp>
        <p:nvSpPr>
          <p:cNvPr id="31" name="Text 133"/>
          <p:cNvSpPr txBox="1"/>
          <p:nvPr/>
        </p:nvSpPr>
        <p:spPr>
          <a:xfrm>
            <a:off x="6643116"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Merchants get better margins; FinViet gains a new revenue stream (monetization).</a:t>
            </a:r>
            <a:endParaRPr lang="en-US" sz="1400" dirty="0"/>
          </a:p>
        </p:txBody>
      </p:sp>
      <p:sp>
        <p:nvSpPr>
          <p:cNvPr id="32"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PILLAR 1  ·  BUYING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1"/>
                </a:solidFill>
              </a:rPr>
              <a:t>Forecast &amp; Recommend Order (3 modes)</a:t>
            </a:r>
            <a:endParaRPr lang="en-US" sz="3200" dirty="0"/>
          </a:p>
        </p:txBody>
      </p:sp>
      <p:sp>
        <p:nvSpPr>
          <p:cNvPr id="4" name="Shape 134"/>
          <p:cNvSpPr/>
          <p:nvPr/>
        </p:nvSpPr>
        <p:spPr>
          <a:xfrm>
            <a:off x="548640" y="1554480"/>
            <a:ext cx="3514344" cy="4709160"/>
          </a:xfrm>
          <a:prstGeom prst="roundRect">
            <a:avLst>
              <a:gd name="adj" fmla="val 2082"/>
            </a:avLst>
          </a:prstGeom>
          <a:solidFill>
            <a:schemeClr val="bg2"/>
          </a:solidFill>
        </p:spPr>
        <p:txBody>
          <a:bodyPr/>
          <a:p/>
        </p:txBody>
      </p:sp>
      <p:sp>
        <p:nvSpPr>
          <p:cNvPr id="5" name="Shape 135"/>
          <p:cNvSpPr/>
          <p:nvPr/>
        </p:nvSpPr>
        <p:spPr>
          <a:xfrm>
            <a:off x="777240" y="1828800"/>
            <a:ext cx="731520" cy="731520"/>
          </a:xfrm>
          <a:prstGeom prst="ellipse">
            <a:avLst/>
          </a:prstGeom>
          <a:solidFill>
            <a:schemeClr val="accent1"/>
          </a:solidFill>
        </p:spPr>
        <p:txBody>
          <a:bodyPr/>
          <a:p/>
        </p:txBody>
      </p:sp>
      <p:pic>
        <p:nvPicPr>
          <p:cNvPr id="6" name="Icon 136" descr="RedoAlt"/>
          <p:cNvPicPr>
            <a:picLocks noChangeAspect="1"/>
          </p:cNvPicPr>
          <p:nvPr/>
        </p:nvPicPr>
        <p:blipFill>
          <a:blip r:embed="rId1"/>
          <a:stretch>
            <a:fillRect/>
          </a:stretch>
        </p:blipFill>
        <p:spPr>
          <a:xfrm>
            <a:off x="960120" y="2011680"/>
            <a:ext cx="365760" cy="365760"/>
          </a:xfrm>
          <a:prstGeom prst="rect">
            <a:avLst/>
          </a:prstGeom>
        </p:spPr>
      </p:pic>
      <p:sp>
        <p:nvSpPr>
          <p:cNvPr id="7" name="Pill 137"/>
          <p:cNvSpPr/>
          <p:nvPr/>
        </p:nvSpPr>
        <p:spPr>
          <a:xfrm>
            <a:off x="1737360" y="1847088"/>
            <a:ext cx="749808" cy="292608"/>
          </a:xfrm>
          <a:prstGeom prst="roundRect">
            <a:avLst>
              <a:gd name="adj" fmla="val 53125"/>
            </a:avLst>
          </a:prstGeom>
          <a:solidFill>
            <a:schemeClr val="accent1"/>
          </a:solidFill>
        </p:spPr>
        <p:txBody>
          <a:bodyPr wrap="square" lIns="0" tIns="0" rIns="0" bIns="0" rtlCol="0" anchor="ctr"/>
          <a:lstStyle/>
          <a:p>
            <a:pPr marL="0" indent="0" algn="ctr">
              <a:buNone/>
            </a:pPr>
            <a:r>
              <a:rPr lang="en-US" sz="1400" b="1" dirty="0">
                <a:solidFill>
                  <a:schemeClr val="bg1"/>
                </a:solidFill>
              </a:rPr>
              <a:t>1.6.1</a:t>
            </a:r>
            <a:endParaRPr lang="en-US" sz="1400" dirty="0"/>
          </a:p>
        </p:txBody>
      </p:sp>
      <p:sp>
        <p:nvSpPr>
          <p:cNvPr id="8" name="Text 138"/>
          <p:cNvSpPr txBox="1"/>
          <p:nvPr/>
        </p:nvSpPr>
        <p:spPr>
          <a:xfrm>
            <a:off x="1737360"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Repeat Last Order</a:t>
            </a:r>
            <a:endParaRPr lang="en-US" sz="1600" dirty="0"/>
          </a:p>
        </p:txBody>
      </p:sp>
      <p:sp>
        <p:nvSpPr>
          <p:cNvPr id="9" name="Text 139"/>
          <p:cNvSpPr txBox="1"/>
          <p:nvPr/>
        </p:nvSpPr>
        <p:spPr>
          <a:xfrm>
            <a:off x="777240" y="2880360"/>
            <a:ext cx="3057144" cy="1818513"/>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rPr>
              <a:t>A widget that brings the full item list of the latest successful order to the home page.</a:t>
            </a:r>
            <a:endParaRPr lang="en-US" sz="1500" dirty="0"/>
          </a:p>
          <a:p>
            <a:pPr marL="177800" indent="-177800">
              <a:spcAft>
                <a:spcPts val="600"/>
              </a:spcAft>
              <a:buSzPct val="100000"/>
              <a:buChar char="•"/>
            </a:pPr>
            <a:r>
              <a:rPr lang="en-US" sz="1500" dirty="0">
                <a:solidFill>
                  <a:schemeClr val="tx1"/>
                </a:solidFill>
              </a:rPr>
              <a:t>Merchant taps "Reorder this order" in a single action.</a:t>
            </a:r>
            <a:endParaRPr lang="en-US" sz="1500" dirty="0"/>
          </a:p>
        </p:txBody>
      </p:sp>
      <p:sp>
        <p:nvSpPr>
          <p:cNvPr id="10" name="Shape 140"/>
          <p:cNvSpPr/>
          <p:nvPr/>
        </p:nvSpPr>
        <p:spPr>
          <a:xfrm>
            <a:off x="777240" y="4790313"/>
            <a:ext cx="3057144" cy="1244727"/>
          </a:xfrm>
          <a:prstGeom prst="roundRect">
            <a:avLst>
              <a:gd name="adj" fmla="val 5877"/>
            </a:avLst>
          </a:prstGeom>
          <a:solidFill>
            <a:schemeClr val="bg1"/>
          </a:solidFill>
        </p:spPr>
        <p:txBody>
          <a:bodyPr/>
          <a:p/>
        </p:txBody>
      </p:sp>
      <p:sp>
        <p:nvSpPr>
          <p:cNvPr id="11" name="Text 141"/>
          <p:cNvSpPr txBox="1"/>
          <p:nvPr/>
        </p:nvSpPr>
        <p:spPr>
          <a:xfrm>
            <a:off x="960120" y="4900041"/>
            <a:ext cx="2691384" cy="201168"/>
          </a:xfrm>
          <a:prstGeom prst="rect">
            <a:avLst/>
          </a:prstGeom>
          <a:noFill/>
        </p:spPr>
        <p:txBody>
          <a:bodyPr wrap="square" lIns="0" tIns="0" rIns="0" bIns="0" rtlCol="0" anchor="t"/>
          <a:lstStyle/>
          <a:p>
            <a:pPr marL="0" indent="0">
              <a:buNone/>
            </a:pPr>
            <a:r>
              <a:rPr lang="en-US" sz="1200" b="1" dirty="0">
                <a:solidFill>
                  <a:schemeClr val="accent1"/>
                </a:solidFill>
              </a:rPr>
              <a:t>RESULT</a:t>
            </a:r>
            <a:endParaRPr lang="en-US" sz="1200" dirty="0"/>
          </a:p>
        </p:txBody>
      </p:sp>
      <p:sp>
        <p:nvSpPr>
          <p:cNvPr id="12" name="Text 142"/>
          <p:cNvSpPr txBox="1"/>
          <p:nvPr/>
        </p:nvSpPr>
        <p:spPr>
          <a:xfrm>
            <a:off x="960120" y="5137785"/>
            <a:ext cx="2691384" cy="805815"/>
          </a:xfrm>
          <a:prstGeom prst="rect">
            <a:avLst/>
          </a:prstGeom>
          <a:noFill/>
        </p:spPr>
        <p:txBody>
          <a:bodyPr wrap="square" lIns="0" tIns="0" rIns="0" bIns="0" rtlCol="0" anchor="t"/>
          <a:lstStyle/>
          <a:p>
            <a:pPr marL="0" indent="0">
              <a:buNone/>
            </a:pPr>
            <a:r>
              <a:rPr lang="en-US" sz="1500" dirty="0">
                <a:solidFill>
                  <a:schemeClr val="tx1"/>
                </a:solidFill>
              </a:rPr>
              <a:t>One-tap reorder, with no need to find each SKU again.</a:t>
            </a:r>
            <a:endParaRPr lang="en-US" sz="1500" dirty="0"/>
          </a:p>
        </p:txBody>
      </p:sp>
      <p:sp>
        <p:nvSpPr>
          <p:cNvPr id="13" name="Shape 143"/>
          <p:cNvSpPr/>
          <p:nvPr/>
        </p:nvSpPr>
        <p:spPr>
          <a:xfrm>
            <a:off x="4337304" y="1554480"/>
            <a:ext cx="3514344" cy="4709160"/>
          </a:xfrm>
          <a:prstGeom prst="roundRect">
            <a:avLst>
              <a:gd name="adj" fmla="val 2082"/>
            </a:avLst>
          </a:prstGeom>
          <a:solidFill>
            <a:schemeClr val="bg2"/>
          </a:solidFill>
        </p:spPr>
        <p:txBody>
          <a:bodyPr/>
          <a:p/>
        </p:txBody>
      </p:sp>
      <p:sp>
        <p:nvSpPr>
          <p:cNvPr id="14" name="Shape 144"/>
          <p:cNvSpPr/>
          <p:nvPr/>
        </p:nvSpPr>
        <p:spPr>
          <a:xfrm>
            <a:off x="4565904" y="1828800"/>
            <a:ext cx="731520" cy="731520"/>
          </a:xfrm>
          <a:prstGeom prst="ellipse">
            <a:avLst/>
          </a:prstGeom>
          <a:solidFill>
            <a:schemeClr val="accent1"/>
          </a:solidFill>
        </p:spPr>
        <p:txBody>
          <a:bodyPr/>
          <a:p/>
        </p:txBody>
      </p:sp>
      <p:pic>
        <p:nvPicPr>
          <p:cNvPr id="15" name="Icon 145" descr="ChartLine"/>
          <p:cNvPicPr>
            <a:picLocks noChangeAspect="1"/>
          </p:cNvPicPr>
          <p:nvPr/>
        </p:nvPicPr>
        <p:blipFill>
          <a:blip r:embed="rId2"/>
          <a:stretch>
            <a:fillRect/>
          </a:stretch>
        </p:blipFill>
        <p:spPr>
          <a:xfrm>
            <a:off x="4748784" y="2011680"/>
            <a:ext cx="365760" cy="365760"/>
          </a:xfrm>
          <a:prstGeom prst="rect">
            <a:avLst/>
          </a:prstGeom>
        </p:spPr>
      </p:pic>
      <p:sp>
        <p:nvSpPr>
          <p:cNvPr id="16" name="Pill 146"/>
          <p:cNvSpPr/>
          <p:nvPr/>
        </p:nvSpPr>
        <p:spPr>
          <a:xfrm>
            <a:off x="5526024" y="1847088"/>
            <a:ext cx="749808" cy="292608"/>
          </a:xfrm>
          <a:prstGeom prst="roundRect">
            <a:avLst>
              <a:gd name="adj" fmla="val 53125"/>
            </a:avLst>
          </a:prstGeom>
          <a:solidFill>
            <a:schemeClr val="accent1"/>
          </a:solidFill>
        </p:spPr>
        <p:txBody>
          <a:bodyPr wrap="square" lIns="0" tIns="0" rIns="0" bIns="0" rtlCol="0" anchor="ctr"/>
          <a:lstStyle/>
          <a:p>
            <a:pPr marL="0" indent="0" algn="ctr">
              <a:buNone/>
            </a:pPr>
            <a:r>
              <a:rPr lang="en-US" sz="1400" b="1" dirty="0">
                <a:solidFill>
                  <a:schemeClr val="bg1"/>
                </a:solidFill>
              </a:rPr>
              <a:t>1.6.2</a:t>
            </a:r>
            <a:endParaRPr lang="en-US" sz="1400" dirty="0"/>
          </a:p>
        </p:txBody>
      </p:sp>
      <p:sp>
        <p:nvSpPr>
          <p:cNvPr id="17" name="Text 147"/>
          <p:cNvSpPr txBox="1"/>
          <p:nvPr/>
        </p:nvSpPr>
        <p:spPr>
          <a:xfrm>
            <a:off x="5526024"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Depletion Rate Forecasting</a:t>
            </a:r>
            <a:endParaRPr lang="en-US" sz="1600" dirty="0"/>
          </a:p>
        </p:txBody>
      </p:sp>
      <p:sp>
        <p:nvSpPr>
          <p:cNvPr id="18" name="Text 148"/>
          <p:cNvSpPr txBox="1"/>
          <p:nvPr/>
        </p:nvSpPr>
        <p:spPr>
          <a:xfrm>
            <a:off x="4565904" y="2880360"/>
            <a:ext cx="3057144" cy="1818513"/>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rPr>
              <a:t>Based on purchase history and the store's average stock turnover.</a:t>
            </a:r>
            <a:endParaRPr lang="en-US" sz="1500" dirty="0"/>
          </a:p>
          <a:p>
            <a:pPr marL="177800" indent="-177800">
              <a:spcAft>
                <a:spcPts val="600"/>
              </a:spcAft>
              <a:buSzPct val="100000"/>
              <a:buChar char="•"/>
            </a:pPr>
            <a:r>
              <a:rPr lang="en-US" sz="1500" dirty="0">
                <a:solidFill>
                  <a:schemeClr val="tx1"/>
                </a:solidFill>
              </a:rPr>
              <a:t>Automatically calculates when stock will run low and sends a notification with a pre-filled cart.</a:t>
            </a:r>
            <a:endParaRPr lang="en-US" sz="1500" dirty="0"/>
          </a:p>
        </p:txBody>
      </p:sp>
      <p:sp>
        <p:nvSpPr>
          <p:cNvPr id="19" name="Shape 149"/>
          <p:cNvSpPr/>
          <p:nvPr/>
        </p:nvSpPr>
        <p:spPr>
          <a:xfrm>
            <a:off x="4565904" y="4790313"/>
            <a:ext cx="3057144" cy="1244727"/>
          </a:xfrm>
          <a:prstGeom prst="roundRect">
            <a:avLst>
              <a:gd name="adj" fmla="val 5877"/>
            </a:avLst>
          </a:prstGeom>
          <a:solidFill>
            <a:schemeClr val="bg1"/>
          </a:solidFill>
        </p:spPr>
        <p:txBody>
          <a:bodyPr/>
          <a:p/>
        </p:txBody>
      </p:sp>
      <p:sp>
        <p:nvSpPr>
          <p:cNvPr id="20" name="Text 150"/>
          <p:cNvSpPr txBox="1"/>
          <p:nvPr/>
        </p:nvSpPr>
        <p:spPr>
          <a:xfrm>
            <a:off x="4748784" y="4900041"/>
            <a:ext cx="2691384" cy="201168"/>
          </a:xfrm>
          <a:prstGeom prst="rect">
            <a:avLst/>
          </a:prstGeom>
          <a:noFill/>
        </p:spPr>
        <p:txBody>
          <a:bodyPr wrap="square" lIns="0" tIns="0" rIns="0" bIns="0" rtlCol="0" anchor="t"/>
          <a:lstStyle/>
          <a:p>
            <a:pPr marL="0" indent="0">
              <a:buNone/>
            </a:pPr>
            <a:r>
              <a:rPr lang="en-US" sz="1200" b="1" dirty="0">
                <a:solidFill>
                  <a:schemeClr val="accent1"/>
                </a:solidFill>
              </a:rPr>
              <a:t>EXAMPLE</a:t>
            </a:r>
            <a:endParaRPr lang="en-US" sz="1200" dirty="0"/>
          </a:p>
        </p:txBody>
      </p:sp>
      <p:sp>
        <p:nvSpPr>
          <p:cNvPr id="21" name="Text 151"/>
          <p:cNvSpPr txBox="1"/>
          <p:nvPr/>
        </p:nvSpPr>
        <p:spPr>
          <a:xfrm>
            <a:off x="4748784" y="5137785"/>
            <a:ext cx="2691384" cy="805815"/>
          </a:xfrm>
          <a:prstGeom prst="rect">
            <a:avLst/>
          </a:prstGeom>
          <a:noFill/>
        </p:spPr>
        <p:txBody>
          <a:bodyPr wrap="square" lIns="0" tIns="0" rIns="0" bIns="0" rtlCol="0" anchor="t"/>
          <a:lstStyle/>
          <a:p>
            <a:pPr marL="0" indent="0">
              <a:buNone/>
            </a:pPr>
            <a:r>
              <a:rPr lang="en-US" sz="1500" dirty="0">
                <a:solidFill>
                  <a:schemeClr val="tx1"/>
                </a:solidFill>
              </a:rPr>
              <a:t>"It has been 7 days since the last cooking oil purchase. Place the order now so it arrives before the weekend."</a:t>
            </a:r>
            <a:endParaRPr lang="en-US" sz="1500" dirty="0"/>
          </a:p>
        </p:txBody>
      </p:sp>
      <p:sp>
        <p:nvSpPr>
          <p:cNvPr id="22" name="Shape 152"/>
          <p:cNvSpPr/>
          <p:nvPr/>
        </p:nvSpPr>
        <p:spPr>
          <a:xfrm>
            <a:off x="8125968" y="1554480"/>
            <a:ext cx="3514344" cy="4709160"/>
          </a:xfrm>
          <a:prstGeom prst="roundRect">
            <a:avLst>
              <a:gd name="adj" fmla="val 2082"/>
            </a:avLst>
          </a:prstGeom>
          <a:solidFill>
            <a:schemeClr val="bg2"/>
          </a:solidFill>
        </p:spPr>
        <p:txBody>
          <a:bodyPr/>
          <a:p/>
        </p:txBody>
      </p:sp>
      <p:sp>
        <p:nvSpPr>
          <p:cNvPr id="23" name="Shape 153"/>
          <p:cNvSpPr/>
          <p:nvPr/>
        </p:nvSpPr>
        <p:spPr>
          <a:xfrm>
            <a:off x="8354568" y="1828800"/>
            <a:ext cx="731520" cy="731520"/>
          </a:xfrm>
          <a:prstGeom prst="ellipse">
            <a:avLst/>
          </a:prstGeom>
          <a:solidFill>
            <a:schemeClr val="accent1"/>
          </a:solidFill>
        </p:spPr>
        <p:txBody>
          <a:bodyPr/>
          <a:p/>
        </p:txBody>
      </p:sp>
      <p:pic>
        <p:nvPicPr>
          <p:cNvPr id="24" name="Icon 154" descr="Gift"/>
          <p:cNvPicPr>
            <a:picLocks noChangeAspect="1"/>
          </p:cNvPicPr>
          <p:nvPr/>
        </p:nvPicPr>
        <p:blipFill>
          <a:blip r:embed="rId3"/>
          <a:stretch>
            <a:fillRect/>
          </a:stretch>
        </p:blipFill>
        <p:spPr>
          <a:xfrm>
            <a:off x="8537448" y="2011680"/>
            <a:ext cx="365760" cy="365760"/>
          </a:xfrm>
          <a:prstGeom prst="rect">
            <a:avLst/>
          </a:prstGeom>
        </p:spPr>
      </p:pic>
      <p:sp>
        <p:nvSpPr>
          <p:cNvPr id="25" name="Pill 155"/>
          <p:cNvSpPr/>
          <p:nvPr/>
        </p:nvSpPr>
        <p:spPr>
          <a:xfrm>
            <a:off x="9314688" y="1847088"/>
            <a:ext cx="749808" cy="292608"/>
          </a:xfrm>
          <a:prstGeom prst="roundRect">
            <a:avLst>
              <a:gd name="adj" fmla="val 53125"/>
            </a:avLst>
          </a:prstGeom>
          <a:solidFill>
            <a:schemeClr val="accent1"/>
          </a:solidFill>
        </p:spPr>
        <p:txBody>
          <a:bodyPr wrap="square" lIns="0" tIns="0" rIns="0" bIns="0" rtlCol="0" anchor="ctr"/>
          <a:lstStyle/>
          <a:p>
            <a:pPr marL="0" indent="0" algn="ctr">
              <a:buNone/>
            </a:pPr>
            <a:r>
              <a:rPr lang="en-US" sz="1400" b="1" dirty="0">
                <a:solidFill>
                  <a:schemeClr val="bg1"/>
                </a:solidFill>
              </a:rPr>
              <a:t>1.6.3</a:t>
            </a:r>
            <a:endParaRPr lang="en-US" sz="1400" dirty="0"/>
          </a:p>
        </p:txBody>
      </p:sp>
      <p:sp>
        <p:nvSpPr>
          <p:cNvPr id="26" name="Text 156"/>
          <p:cNvSpPr txBox="1"/>
          <p:nvPr/>
        </p:nvSpPr>
        <p:spPr>
          <a:xfrm>
            <a:off x="9314688"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Seasonal Order Suggestion</a:t>
            </a:r>
            <a:endParaRPr lang="en-US" sz="1600" dirty="0"/>
          </a:p>
        </p:txBody>
      </p:sp>
      <p:sp>
        <p:nvSpPr>
          <p:cNvPr id="27" name="Text 157"/>
          <p:cNvSpPr txBox="1"/>
          <p:nvPr/>
        </p:nvSpPr>
        <p:spPr>
          <a:xfrm>
            <a:off x="8354568" y="2880360"/>
            <a:ext cx="3057144" cy="1818513"/>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rPr>
              <a:t>Proactively push order templates ahead of special occasions.</a:t>
            </a:r>
            <a:endParaRPr lang="en-US" sz="1500" dirty="0"/>
          </a:p>
          <a:p>
            <a:pPr marL="177800" indent="-177800">
              <a:spcAft>
                <a:spcPts val="600"/>
              </a:spcAft>
              <a:buSzPct val="100000"/>
              <a:buChar char="•"/>
            </a:pPr>
            <a:r>
              <a:rPr lang="en-US" sz="1500" dirty="0">
                <a:solidFill>
                  <a:schemeClr val="tx1"/>
                </a:solidFill>
              </a:rPr>
              <a:t>Cakes, candy, jam and beer one month before Tet; soft drinks and ice cream before hot spells; school supplies before the new school year.</a:t>
            </a:r>
            <a:endParaRPr lang="en-US" sz="1500" dirty="0"/>
          </a:p>
        </p:txBody>
      </p:sp>
      <p:sp>
        <p:nvSpPr>
          <p:cNvPr id="28" name="Shape 158"/>
          <p:cNvSpPr/>
          <p:nvPr/>
        </p:nvSpPr>
        <p:spPr>
          <a:xfrm>
            <a:off x="8354568" y="4790313"/>
            <a:ext cx="3057144" cy="1244727"/>
          </a:xfrm>
          <a:prstGeom prst="roundRect">
            <a:avLst>
              <a:gd name="adj" fmla="val 5877"/>
            </a:avLst>
          </a:prstGeom>
          <a:solidFill>
            <a:schemeClr val="bg1"/>
          </a:solidFill>
        </p:spPr>
        <p:txBody>
          <a:bodyPr/>
          <a:p/>
        </p:txBody>
      </p:sp>
      <p:sp>
        <p:nvSpPr>
          <p:cNvPr id="29" name="Text 159"/>
          <p:cNvSpPr txBox="1"/>
          <p:nvPr/>
        </p:nvSpPr>
        <p:spPr>
          <a:xfrm>
            <a:off x="8537448" y="4900041"/>
            <a:ext cx="2691384" cy="201168"/>
          </a:xfrm>
          <a:prstGeom prst="rect">
            <a:avLst/>
          </a:prstGeom>
          <a:noFill/>
        </p:spPr>
        <p:txBody>
          <a:bodyPr wrap="square" lIns="0" tIns="0" rIns="0" bIns="0" rtlCol="0" anchor="t"/>
          <a:lstStyle/>
          <a:p>
            <a:pPr marL="0" indent="0">
              <a:buNone/>
            </a:pPr>
            <a:r>
              <a:rPr lang="en-US" sz="1200" b="1" dirty="0">
                <a:solidFill>
                  <a:schemeClr val="accent1"/>
                </a:solidFill>
              </a:rPr>
              <a:t>VALUE</a:t>
            </a:r>
            <a:endParaRPr lang="en-US" sz="1200" dirty="0"/>
          </a:p>
        </p:txBody>
      </p:sp>
      <p:sp>
        <p:nvSpPr>
          <p:cNvPr id="30" name="Text 160"/>
          <p:cNvSpPr txBox="1"/>
          <p:nvPr/>
        </p:nvSpPr>
        <p:spPr>
          <a:xfrm>
            <a:off x="8537448" y="5137785"/>
            <a:ext cx="2691384" cy="805815"/>
          </a:xfrm>
          <a:prstGeom prst="rect">
            <a:avLst/>
          </a:prstGeom>
          <a:noFill/>
        </p:spPr>
        <p:txBody>
          <a:bodyPr wrap="square" lIns="0" tIns="0" rIns="0" bIns="0" rtlCol="0" anchor="t"/>
          <a:lstStyle/>
          <a:p>
            <a:pPr marL="0" indent="0">
              <a:buNone/>
            </a:pPr>
            <a:r>
              <a:rPr lang="en-US" sz="1500" dirty="0">
                <a:solidFill>
                  <a:schemeClr val="tx1"/>
                </a:solidFill>
              </a:rPr>
              <a:t>Digitizes the Sales rep's role of reminding stores to order, turning the app into an automatic purchasing assistant.</a:t>
            </a:r>
            <a:endParaRPr lang="en-US" sz="1500" dirty="0"/>
          </a:p>
        </p:txBody>
      </p:sp>
      <p:sp>
        <p:nvSpPr>
          <p:cNvPr id="31"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PILLAR 1  ·  BUYING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1"/>
                </a:solidFill>
              </a:rPr>
              <a:t>Flash Sale &amp; Brand Dedicated Storefront</a:t>
            </a:r>
            <a:endParaRPr lang="en-US" sz="3200" dirty="0"/>
          </a:p>
        </p:txBody>
      </p:sp>
      <p:sp>
        <p:nvSpPr>
          <p:cNvPr id="4" name="Shape 161"/>
          <p:cNvSpPr/>
          <p:nvPr/>
        </p:nvSpPr>
        <p:spPr>
          <a:xfrm>
            <a:off x="548640" y="1554480"/>
            <a:ext cx="5408676" cy="4709160"/>
          </a:xfrm>
          <a:prstGeom prst="roundRect">
            <a:avLst>
              <a:gd name="adj" fmla="val 1553"/>
            </a:avLst>
          </a:prstGeom>
          <a:solidFill>
            <a:schemeClr val="bg2"/>
          </a:solidFill>
        </p:spPr>
        <p:txBody>
          <a:bodyPr/>
          <a:p/>
        </p:txBody>
      </p:sp>
      <p:sp>
        <p:nvSpPr>
          <p:cNvPr id="5" name="Pill 162"/>
          <p:cNvSpPr/>
          <p:nvPr/>
        </p:nvSpPr>
        <p:spPr>
          <a:xfrm>
            <a:off x="777240"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1.7</a:t>
            </a:r>
            <a:endParaRPr lang="en-US" sz="1400" dirty="0"/>
          </a:p>
        </p:txBody>
      </p:sp>
      <p:sp>
        <p:nvSpPr>
          <p:cNvPr id="6" name="Text 163"/>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Flash Sales &amp; Exclusive Vouchers</a:t>
            </a:r>
            <a:endParaRPr lang="en-US" sz="1800" dirty="0"/>
          </a:p>
        </p:txBody>
      </p:sp>
      <p:sp>
        <p:nvSpPr>
          <p:cNvPr id="7" name="Shape 164"/>
          <p:cNvSpPr/>
          <p:nvPr/>
        </p:nvSpPr>
        <p:spPr>
          <a:xfrm>
            <a:off x="777240" y="2331720"/>
            <a:ext cx="4951476" cy="1280160"/>
          </a:xfrm>
          <a:prstGeom prst="roundRect">
            <a:avLst>
              <a:gd name="adj" fmla="val 5714"/>
            </a:avLst>
          </a:prstGeom>
          <a:solidFill>
            <a:schemeClr val="bg1"/>
          </a:solidFill>
        </p:spPr>
        <p:txBody>
          <a:bodyPr/>
          <a:p/>
        </p:txBody>
      </p:sp>
      <p:sp>
        <p:nvSpPr>
          <p:cNvPr id="8" name="Shape 165"/>
          <p:cNvSpPr/>
          <p:nvPr/>
        </p:nvSpPr>
        <p:spPr>
          <a:xfrm>
            <a:off x="1333652" y="2474366"/>
            <a:ext cx="537667" cy="537667"/>
          </a:xfrm>
          <a:prstGeom prst="ellipse">
            <a:avLst/>
          </a:prstGeom>
          <a:solidFill>
            <a:schemeClr val="accent1"/>
          </a:solidFill>
        </p:spPr>
        <p:txBody>
          <a:bodyPr/>
          <a:p/>
        </p:txBody>
      </p:sp>
      <p:pic>
        <p:nvPicPr>
          <p:cNvPr id="9" name="Icon 166" descr="Bolt"/>
          <p:cNvPicPr>
            <a:picLocks noChangeAspect="1"/>
          </p:cNvPicPr>
          <p:nvPr/>
        </p:nvPicPr>
        <p:blipFill>
          <a:blip r:embed="rId1"/>
          <a:stretch>
            <a:fillRect/>
          </a:stretch>
        </p:blipFill>
        <p:spPr>
          <a:xfrm>
            <a:off x="1468069" y="2608783"/>
            <a:ext cx="268834" cy="268834"/>
          </a:xfrm>
          <a:prstGeom prst="rect">
            <a:avLst/>
          </a:prstGeom>
        </p:spPr>
      </p:pic>
      <p:sp>
        <p:nvSpPr>
          <p:cNvPr id="10" name="Text 167"/>
          <p:cNvSpPr txBox="1"/>
          <p:nvPr/>
        </p:nvSpPr>
        <p:spPr>
          <a:xfrm>
            <a:off x="85039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Fixed-time flash sale</a:t>
            </a:r>
            <a:endParaRPr lang="en-US" sz="1200" dirty="0"/>
          </a:p>
        </p:txBody>
      </p:sp>
      <p:pic>
        <p:nvPicPr>
          <p:cNvPr id="11" name="Icon 168" descr="ChevronRight"/>
          <p:cNvPicPr>
            <a:picLocks noChangeAspect="1"/>
          </p:cNvPicPr>
          <p:nvPr/>
        </p:nvPicPr>
        <p:blipFill>
          <a:blip r:embed="rId2"/>
          <a:stretch>
            <a:fillRect/>
          </a:stretch>
        </p:blipFill>
        <p:spPr>
          <a:xfrm>
            <a:off x="2318004" y="2633472"/>
            <a:ext cx="219456" cy="219456"/>
          </a:xfrm>
          <a:prstGeom prst="rect">
            <a:avLst/>
          </a:prstGeom>
        </p:spPr>
      </p:pic>
      <p:sp>
        <p:nvSpPr>
          <p:cNvPr id="12" name="Shape 169"/>
          <p:cNvSpPr/>
          <p:nvPr/>
        </p:nvSpPr>
        <p:spPr>
          <a:xfrm>
            <a:off x="2984144" y="2474366"/>
            <a:ext cx="537667" cy="537667"/>
          </a:xfrm>
          <a:prstGeom prst="ellipse">
            <a:avLst/>
          </a:prstGeom>
          <a:solidFill>
            <a:schemeClr val="accent1"/>
          </a:solidFill>
        </p:spPr>
        <p:txBody>
          <a:bodyPr/>
          <a:p/>
        </p:txBody>
      </p:sp>
      <p:pic>
        <p:nvPicPr>
          <p:cNvPr id="13" name="Icon 170" descr="Tag"/>
          <p:cNvPicPr>
            <a:picLocks noChangeAspect="1"/>
          </p:cNvPicPr>
          <p:nvPr/>
        </p:nvPicPr>
        <p:blipFill>
          <a:blip r:embed="rId3"/>
          <a:stretch>
            <a:fillRect/>
          </a:stretch>
        </p:blipFill>
        <p:spPr>
          <a:xfrm>
            <a:off x="3118561" y="2608783"/>
            <a:ext cx="268834" cy="268834"/>
          </a:xfrm>
          <a:prstGeom prst="rect">
            <a:avLst/>
          </a:prstGeom>
        </p:spPr>
      </p:pic>
      <p:sp>
        <p:nvSpPr>
          <p:cNvPr id="14" name="Text 171"/>
          <p:cNvSpPr txBox="1"/>
          <p:nvPr/>
        </p:nvSpPr>
        <p:spPr>
          <a:xfrm>
            <a:off x="2500884"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Voucher Hub</a:t>
            </a:r>
            <a:endParaRPr lang="en-US" sz="1200" dirty="0"/>
          </a:p>
        </p:txBody>
      </p:sp>
      <p:pic>
        <p:nvPicPr>
          <p:cNvPr id="15" name="Icon 172" descr="ChevronRight"/>
          <p:cNvPicPr>
            <a:picLocks noChangeAspect="1"/>
          </p:cNvPicPr>
          <p:nvPr/>
        </p:nvPicPr>
        <p:blipFill>
          <a:blip r:embed="rId2"/>
          <a:stretch>
            <a:fillRect/>
          </a:stretch>
        </p:blipFill>
        <p:spPr>
          <a:xfrm>
            <a:off x="3968496" y="2633472"/>
            <a:ext cx="219456" cy="219456"/>
          </a:xfrm>
          <a:prstGeom prst="rect">
            <a:avLst/>
          </a:prstGeom>
        </p:spPr>
      </p:pic>
      <p:sp>
        <p:nvSpPr>
          <p:cNvPr id="16" name="Shape 173"/>
          <p:cNvSpPr/>
          <p:nvPr/>
        </p:nvSpPr>
        <p:spPr>
          <a:xfrm>
            <a:off x="4634636" y="2474366"/>
            <a:ext cx="537667" cy="537667"/>
          </a:xfrm>
          <a:prstGeom prst="ellipse">
            <a:avLst/>
          </a:prstGeom>
          <a:solidFill>
            <a:schemeClr val="accent1"/>
          </a:solidFill>
        </p:spPr>
        <p:txBody>
          <a:bodyPr/>
          <a:p/>
        </p:txBody>
      </p:sp>
      <p:pic>
        <p:nvPicPr>
          <p:cNvPr id="17" name="Icon 174" descr="MobileAlt"/>
          <p:cNvPicPr>
            <a:picLocks noChangeAspect="1"/>
          </p:cNvPicPr>
          <p:nvPr/>
        </p:nvPicPr>
        <p:blipFill>
          <a:blip r:embed="rId4"/>
          <a:stretch>
            <a:fillRect/>
          </a:stretch>
        </p:blipFill>
        <p:spPr>
          <a:xfrm>
            <a:off x="4769053" y="2608783"/>
            <a:ext cx="268834" cy="268834"/>
          </a:xfrm>
          <a:prstGeom prst="rect">
            <a:avLst/>
          </a:prstGeom>
        </p:spPr>
      </p:pic>
      <p:sp>
        <p:nvSpPr>
          <p:cNvPr id="18" name="Text 175"/>
          <p:cNvSpPr txBox="1"/>
          <p:nvPr/>
        </p:nvSpPr>
        <p:spPr>
          <a:xfrm>
            <a:off x="4151376"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Self-order in app</a:t>
            </a:r>
            <a:endParaRPr lang="en-US" sz="1200" dirty="0"/>
          </a:p>
        </p:txBody>
      </p:sp>
      <p:sp>
        <p:nvSpPr>
          <p:cNvPr id="19" name="Text 176"/>
          <p:cNvSpPr txBox="1"/>
          <p:nvPr/>
        </p:nvSpPr>
        <p:spPr>
          <a:xfrm>
            <a:off x="777240"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Fixed-slot flash sales (e.g. 10 a.m. Tuesday and Thursday), with a limited number of units per store.</a:t>
            </a:r>
            <a:endParaRPr lang="en-US" sz="1400" dirty="0"/>
          </a:p>
          <a:p>
            <a:pPr marL="177800" indent="-177800">
              <a:spcAft>
                <a:spcPts val="600"/>
              </a:spcAft>
              <a:buSzPct val="100000"/>
              <a:buChar char="•"/>
            </a:pPr>
            <a:r>
              <a:rPr lang="en-US" sz="1400" dirty="0">
                <a:solidFill>
                  <a:schemeClr val="tx1"/>
                </a:solidFill>
              </a:rPr>
              <a:t>Voucher Hub: direct discounts on orders, cashback to wallet, shipping fee support. Sales cannot apply vouchers on the Merchant's behalf.</a:t>
            </a:r>
            <a:endParaRPr lang="en-US" sz="1400" dirty="0"/>
          </a:p>
        </p:txBody>
      </p:sp>
      <p:sp>
        <p:nvSpPr>
          <p:cNvPr id="20" name="Shape 177"/>
          <p:cNvSpPr/>
          <p:nvPr/>
        </p:nvSpPr>
        <p:spPr>
          <a:xfrm>
            <a:off x="777240" y="5060188"/>
            <a:ext cx="4951476" cy="974852"/>
          </a:xfrm>
          <a:prstGeom prst="roundRect">
            <a:avLst>
              <a:gd name="adj" fmla="val 7504"/>
            </a:avLst>
          </a:prstGeom>
          <a:solidFill>
            <a:schemeClr val="bg1"/>
          </a:solidFill>
        </p:spPr>
        <p:txBody>
          <a:bodyPr/>
          <a:p/>
        </p:txBody>
      </p:sp>
      <p:sp>
        <p:nvSpPr>
          <p:cNvPr id="21" name="Text 178"/>
          <p:cNvSpPr txBox="1"/>
          <p:nvPr/>
        </p:nvSpPr>
        <p:spPr>
          <a:xfrm>
            <a:off x="960120" y="5169916"/>
            <a:ext cx="4585716" cy="201168"/>
          </a:xfrm>
          <a:prstGeom prst="rect">
            <a:avLst/>
          </a:prstGeom>
          <a:noFill/>
        </p:spPr>
        <p:txBody>
          <a:bodyPr wrap="square" lIns="0" tIns="0" rIns="0" bIns="0" rtlCol="0" anchor="t"/>
          <a:lstStyle/>
          <a:p>
            <a:pPr marL="0" indent="0">
              <a:buNone/>
            </a:pPr>
            <a:r>
              <a:rPr lang="en-US" sz="1200" b="1" dirty="0">
                <a:solidFill>
                  <a:schemeClr val="accent1"/>
                </a:solidFill>
              </a:rPr>
              <a:t>VALUE</a:t>
            </a:r>
            <a:endParaRPr lang="en-US" sz="1200" dirty="0"/>
          </a:p>
        </p:txBody>
      </p:sp>
      <p:sp>
        <p:nvSpPr>
          <p:cNvPr id="22" name="Text 179"/>
          <p:cNvSpPr txBox="1"/>
          <p:nvPr/>
        </p:nvSpPr>
        <p:spPr>
          <a:xfrm>
            <a:off x="960120"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If calling Sales and ordering in the app give the same price, the Merchant chooses to call Sales. Exclusive offers motivate self-ordering.</a:t>
            </a:r>
            <a:endParaRPr lang="en-US" sz="1400" dirty="0"/>
          </a:p>
        </p:txBody>
      </p:sp>
      <p:sp>
        <p:nvSpPr>
          <p:cNvPr id="23" name="Shape 180"/>
          <p:cNvSpPr/>
          <p:nvPr/>
        </p:nvSpPr>
        <p:spPr>
          <a:xfrm>
            <a:off x="6231636" y="1554480"/>
            <a:ext cx="5408676" cy="4709160"/>
          </a:xfrm>
          <a:prstGeom prst="roundRect">
            <a:avLst>
              <a:gd name="adj" fmla="val 1553"/>
            </a:avLst>
          </a:prstGeom>
          <a:solidFill>
            <a:schemeClr val="bg2"/>
          </a:solidFill>
        </p:spPr>
        <p:txBody>
          <a:bodyPr/>
          <a:p/>
        </p:txBody>
      </p:sp>
      <p:sp>
        <p:nvSpPr>
          <p:cNvPr id="24" name="Pill 181"/>
          <p:cNvSpPr/>
          <p:nvPr/>
        </p:nvSpPr>
        <p:spPr>
          <a:xfrm>
            <a:off x="6460236" y="1828800"/>
            <a:ext cx="566928" cy="329184"/>
          </a:xfrm>
          <a:prstGeom prst="roundRect">
            <a:avLst>
              <a:gd name="adj" fmla="val 47222"/>
            </a:avLst>
          </a:prstGeom>
          <a:solidFill>
            <a:schemeClr val="accent1"/>
          </a:solidFill>
        </p:spPr>
        <p:txBody>
          <a:bodyPr wrap="square" lIns="0" tIns="0" rIns="0" bIns="0" rtlCol="0" anchor="ctr"/>
          <a:lstStyle/>
          <a:p>
            <a:pPr marL="0" indent="0" algn="ctr">
              <a:buNone/>
            </a:pPr>
            <a:r>
              <a:rPr lang="en-US" sz="1400" b="1" dirty="0">
                <a:solidFill>
                  <a:schemeClr val="bg1"/>
                </a:solidFill>
              </a:rPr>
              <a:t>1.8</a:t>
            </a:r>
            <a:endParaRPr lang="en-US" sz="1400" dirty="0"/>
          </a:p>
        </p:txBody>
      </p:sp>
      <p:sp>
        <p:nvSpPr>
          <p:cNvPr id="25" name="Text 182"/>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Brand Dedicated Storefront</a:t>
            </a:r>
            <a:endParaRPr lang="en-US" sz="1800" dirty="0"/>
          </a:p>
        </p:txBody>
      </p:sp>
      <p:sp>
        <p:nvSpPr>
          <p:cNvPr id="26" name="Shape 183"/>
          <p:cNvSpPr/>
          <p:nvPr/>
        </p:nvSpPr>
        <p:spPr>
          <a:xfrm>
            <a:off x="6460236" y="2331720"/>
            <a:ext cx="4951476" cy="1280160"/>
          </a:xfrm>
          <a:prstGeom prst="roundRect">
            <a:avLst>
              <a:gd name="adj" fmla="val 5714"/>
            </a:avLst>
          </a:prstGeom>
          <a:solidFill>
            <a:schemeClr val="bg1"/>
          </a:solidFill>
        </p:spPr>
        <p:txBody>
          <a:bodyPr/>
          <a:p/>
        </p:txBody>
      </p:sp>
      <p:sp>
        <p:nvSpPr>
          <p:cNvPr id="27" name="Shape 184"/>
          <p:cNvSpPr/>
          <p:nvPr/>
        </p:nvSpPr>
        <p:spPr>
          <a:xfrm>
            <a:off x="7016648" y="2474366"/>
            <a:ext cx="537667" cy="537667"/>
          </a:xfrm>
          <a:prstGeom prst="ellipse">
            <a:avLst/>
          </a:prstGeom>
          <a:solidFill>
            <a:schemeClr val="accent1"/>
          </a:solidFill>
        </p:spPr>
        <p:txBody>
          <a:bodyPr/>
          <a:p/>
        </p:txBody>
      </p:sp>
      <p:pic>
        <p:nvPicPr>
          <p:cNvPr id="28" name="Icon 185" descr="Users"/>
          <p:cNvPicPr>
            <a:picLocks noChangeAspect="1"/>
          </p:cNvPicPr>
          <p:nvPr/>
        </p:nvPicPr>
        <p:blipFill>
          <a:blip r:embed="rId5"/>
          <a:stretch>
            <a:fillRect/>
          </a:stretch>
        </p:blipFill>
        <p:spPr>
          <a:xfrm>
            <a:off x="7151065" y="2608783"/>
            <a:ext cx="268834" cy="268834"/>
          </a:xfrm>
          <a:prstGeom prst="rect">
            <a:avLst/>
          </a:prstGeom>
        </p:spPr>
      </p:pic>
      <p:sp>
        <p:nvSpPr>
          <p:cNvPr id="29" name="Text 186"/>
          <p:cNvSpPr txBox="1"/>
          <p:nvPr/>
        </p:nvSpPr>
        <p:spPr>
          <a:xfrm>
            <a:off x="6533388"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Franchise account</a:t>
            </a:r>
            <a:endParaRPr lang="en-US" sz="1200" dirty="0"/>
          </a:p>
        </p:txBody>
      </p:sp>
      <p:pic>
        <p:nvPicPr>
          <p:cNvPr id="30" name="Icon 187" descr="ChevronRight"/>
          <p:cNvPicPr>
            <a:picLocks noChangeAspect="1"/>
          </p:cNvPicPr>
          <p:nvPr/>
        </p:nvPicPr>
        <p:blipFill>
          <a:blip r:embed="rId2"/>
          <a:stretch>
            <a:fillRect/>
          </a:stretch>
        </p:blipFill>
        <p:spPr>
          <a:xfrm>
            <a:off x="8001000" y="2633472"/>
            <a:ext cx="219456" cy="219456"/>
          </a:xfrm>
          <a:prstGeom prst="rect">
            <a:avLst/>
          </a:prstGeom>
        </p:spPr>
      </p:pic>
      <p:sp>
        <p:nvSpPr>
          <p:cNvPr id="31" name="Shape 188"/>
          <p:cNvSpPr/>
          <p:nvPr/>
        </p:nvSpPr>
        <p:spPr>
          <a:xfrm>
            <a:off x="8667140" y="2474366"/>
            <a:ext cx="537667" cy="537667"/>
          </a:xfrm>
          <a:prstGeom prst="ellipse">
            <a:avLst/>
          </a:prstGeom>
          <a:solidFill>
            <a:schemeClr val="accent1"/>
          </a:solidFill>
        </p:spPr>
        <p:txBody>
          <a:bodyPr/>
          <a:p/>
        </p:txBody>
      </p:sp>
      <p:pic>
        <p:nvPicPr>
          <p:cNvPr id="32" name="Icon 189" descr="LayerGroup"/>
          <p:cNvPicPr>
            <a:picLocks noChangeAspect="1"/>
          </p:cNvPicPr>
          <p:nvPr/>
        </p:nvPicPr>
        <p:blipFill>
          <a:blip r:embed="rId6"/>
          <a:stretch>
            <a:fillRect/>
          </a:stretch>
        </p:blipFill>
        <p:spPr>
          <a:xfrm>
            <a:off x="8801557" y="2608783"/>
            <a:ext cx="268834" cy="268834"/>
          </a:xfrm>
          <a:prstGeom prst="rect">
            <a:avLst/>
          </a:prstGeom>
        </p:spPr>
      </p:pic>
      <p:sp>
        <p:nvSpPr>
          <p:cNvPr id="33" name="Text 190"/>
          <p:cNvSpPr txBox="1"/>
          <p:nvPr/>
        </p:nvSpPr>
        <p:spPr>
          <a:xfrm>
            <a:off x="8183880"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Segmentation</a:t>
            </a:r>
            <a:endParaRPr lang="en-US" sz="1200" dirty="0"/>
          </a:p>
        </p:txBody>
      </p:sp>
      <p:pic>
        <p:nvPicPr>
          <p:cNvPr id="34" name="Icon 191" descr="ChevronRight"/>
          <p:cNvPicPr>
            <a:picLocks noChangeAspect="1"/>
          </p:cNvPicPr>
          <p:nvPr/>
        </p:nvPicPr>
        <p:blipFill>
          <a:blip r:embed="rId2"/>
          <a:stretch>
            <a:fillRect/>
          </a:stretch>
        </p:blipFill>
        <p:spPr>
          <a:xfrm>
            <a:off x="9651492" y="2633472"/>
            <a:ext cx="219456" cy="219456"/>
          </a:xfrm>
          <a:prstGeom prst="rect">
            <a:avLst/>
          </a:prstGeom>
        </p:spPr>
      </p:pic>
      <p:sp>
        <p:nvSpPr>
          <p:cNvPr id="35" name="Shape 192"/>
          <p:cNvSpPr/>
          <p:nvPr/>
        </p:nvSpPr>
        <p:spPr>
          <a:xfrm>
            <a:off x="10317632" y="2474366"/>
            <a:ext cx="537667" cy="537667"/>
          </a:xfrm>
          <a:prstGeom prst="ellipse">
            <a:avLst/>
          </a:prstGeom>
          <a:solidFill>
            <a:schemeClr val="accent1"/>
          </a:solidFill>
        </p:spPr>
        <p:txBody>
          <a:bodyPr/>
          <a:p/>
        </p:txBody>
      </p:sp>
      <p:pic>
        <p:nvPicPr>
          <p:cNvPr id="36" name="Icon 193" descr="Store"/>
          <p:cNvPicPr>
            <a:picLocks noChangeAspect="1"/>
          </p:cNvPicPr>
          <p:nvPr/>
        </p:nvPicPr>
        <p:blipFill>
          <a:blip r:embed="rId7"/>
          <a:stretch>
            <a:fillRect/>
          </a:stretch>
        </p:blipFill>
        <p:spPr>
          <a:xfrm>
            <a:off x="10452049" y="2608783"/>
            <a:ext cx="268834" cy="268834"/>
          </a:xfrm>
          <a:prstGeom prst="rect">
            <a:avLst/>
          </a:prstGeom>
        </p:spPr>
      </p:pic>
      <p:sp>
        <p:nvSpPr>
          <p:cNvPr id="37" name="Text 194"/>
          <p:cNvSpPr txBox="1"/>
          <p:nvPr/>
        </p:nvSpPr>
        <p:spPr>
          <a:xfrm>
            <a:off x="983437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Dedicated storefront</a:t>
            </a:r>
            <a:endParaRPr lang="en-US" sz="1200" dirty="0"/>
          </a:p>
        </p:txBody>
      </p:sp>
      <p:sp>
        <p:nvSpPr>
          <p:cNvPr id="38" name="Text 195"/>
          <p:cNvSpPr txBox="1"/>
          <p:nvPr/>
        </p:nvSpPr>
        <p:spPr>
          <a:xfrm>
            <a:off x="6460236"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White-label storefront for Brand-owned store chains and franchisees (e.g. the Tho Phat steamed bun chain, ice cream and milk dealers).</a:t>
            </a:r>
            <a:endParaRPr lang="en-US" sz="1400" dirty="0"/>
          </a:p>
          <a:p>
            <a:pPr marL="177800" indent="-177800">
              <a:spcAft>
                <a:spcPts val="600"/>
              </a:spcAft>
              <a:buSzPct val="100000"/>
              <a:buChar char="•"/>
            </a:pPr>
            <a:r>
              <a:rPr lang="en-US" sz="1400" dirty="0">
                <a:solidFill>
                  <a:schemeClr val="tx1"/>
                </a:solidFill>
              </a:rPr>
              <a:t>Shows only that Brand's catalog, wholesale prices and support programs; hides the general grocery catalog.</a:t>
            </a:r>
            <a:endParaRPr lang="en-US" sz="1400" dirty="0"/>
          </a:p>
        </p:txBody>
      </p:sp>
      <p:sp>
        <p:nvSpPr>
          <p:cNvPr id="39" name="Shape 196"/>
          <p:cNvSpPr/>
          <p:nvPr/>
        </p:nvSpPr>
        <p:spPr>
          <a:xfrm>
            <a:off x="6460236" y="5060188"/>
            <a:ext cx="4951476" cy="974852"/>
          </a:xfrm>
          <a:prstGeom prst="roundRect">
            <a:avLst>
              <a:gd name="adj" fmla="val 7504"/>
            </a:avLst>
          </a:prstGeom>
          <a:solidFill>
            <a:schemeClr val="bg1"/>
          </a:solidFill>
        </p:spPr>
        <p:txBody>
          <a:bodyPr/>
          <a:p/>
        </p:txBody>
      </p:sp>
      <p:sp>
        <p:nvSpPr>
          <p:cNvPr id="40" name="Text 197"/>
          <p:cNvSpPr txBox="1"/>
          <p:nvPr/>
        </p:nvSpPr>
        <p:spPr>
          <a:xfrm>
            <a:off x="6643116" y="5169916"/>
            <a:ext cx="4585716" cy="201168"/>
          </a:xfrm>
          <a:prstGeom prst="rect">
            <a:avLst/>
          </a:prstGeom>
          <a:noFill/>
        </p:spPr>
        <p:txBody>
          <a:bodyPr wrap="square" lIns="0" tIns="0" rIns="0" bIns="0" rtlCol="0" anchor="t"/>
          <a:lstStyle/>
          <a:p>
            <a:pPr marL="0" indent="0">
              <a:buNone/>
            </a:pPr>
            <a:r>
              <a:rPr lang="en-US" sz="1200" b="1" dirty="0">
                <a:solidFill>
                  <a:schemeClr val="accent1"/>
                </a:solidFill>
              </a:rPr>
              <a:t>VALUE</a:t>
            </a:r>
            <a:endParaRPr lang="en-US" sz="1200" dirty="0"/>
          </a:p>
        </p:txBody>
      </p:sp>
      <p:sp>
        <p:nvSpPr>
          <p:cNvPr id="41" name="Text 198"/>
          <p:cNvSpPr txBox="1"/>
          <p:nvPr/>
        </p:nvSpPr>
        <p:spPr>
          <a:xfrm>
            <a:off x="6643116"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Brands control product flow and avoid competing products; FinViet expands into specialized F&amp;B and retail chains.</a:t>
            </a:r>
            <a:endParaRPr lang="en-US" sz="1400" dirty="0"/>
          </a:p>
        </p:txBody>
      </p:sp>
      <p:sp>
        <p:nvSpPr>
          <p:cNvPr id="42"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2"/>
                </a:solidFill>
              </a:rPr>
              <a:t>PILLAR 2  ·  SELLING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2"/>
                </a:solidFill>
              </a:rPr>
              <a:t>E-invoice &amp; Auto-sync Catalog</a:t>
            </a:r>
            <a:endParaRPr lang="en-US" sz="3200" dirty="0"/>
          </a:p>
        </p:txBody>
      </p:sp>
      <p:sp>
        <p:nvSpPr>
          <p:cNvPr id="4" name="Shape 199"/>
          <p:cNvSpPr/>
          <p:nvPr/>
        </p:nvSpPr>
        <p:spPr>
          <a:xfrm>
            <a:off x="548640" y="1554480"/>
            <a:ext cx="5408676" cy="4709160"/>
          </a:xfrm>
          <a:prstGeom prst="roundRect">
            <a:avLst>
              <a:gd name="adj" fmla="val 1553"/>
            </a:avLst>
          </a:prstGeom>
          <a:solidFill>
            <a:schemeClr val="bg2"/>
          </a:solidFill>
        </p:spPr>
        <p:txBody>
          <a:bodyPr/>
          <a:p/>
        </p:txBody>
      </p:sp>
      <p:sp>
        <p:nvSpPr>
          <p:cNvPr id="5" name="Pill 200"/>
          <p:cNvSpPr/>
          <p:nvPr/>
        </p:nvSpPr>
        <p:spPr>
          <a:xfrm>
            <a:off x="777240" y="1828800"/>
            <a:ext cx="566928" cy="329184"/>
          </a:xfrm>
          <a:prstGeom prst="roundRect">
            <a:avLst>
              <a:gd name="adj" fmla="val 47222"/>
            </a:avLst>
          </a:prstGeom>
          <a:solidFill>
            <a:schemeClr val="accent2"/>
          </a:solidFill>
        </p:spPr>
        <p:txBody>
          <a:bodyPr wrap="square" lIns="0" tIns="0" rIns="0" bIns="0" rtlCol="0" anchor="ctr"/>
          <a:lstStyle/>
          <a:p>
            <a:pPr marL="0" indent="0" algn="ctr">
              <a:buNone/>
            </a:pPr>
            <a:r>
              <a:rPr lang="en-US" sz="1400" b="1" dirty="0">
                <a:solidFill>
                  <a:schemeClr val="bg1"/>
                </a:solidFill>
              </a:rPr>
              <a:t>2.1</a:t>
            </a:r>
            <a:endParaRPr lang="en-US" sz="1400" dirty="0"/>
          </a:p>
        </p:txBody>
      </p:sp>
      <p:sp>
        <p:nvSpPr>
          <p:cNvPr id="6" name="Text 201"/>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E-invoice &amp; Digital Signature</a:t>
            </a:r>
            <a:endParaRPr lang="en-US" sz="1800" dirty="0"/>
          </a:p>
        </p:txBody>
      </p:sp>
      <p:sp>
        <p:nvSpPr>
          <p:cNvPr id="7" name="Shape 202"/>
          <p:cNvSpPr/>
          <p:nvPr/>
        </p:nvSpPr>
        <p:spPr>
          <a:xfrm>
            <a:off x="777240" y="2331720"/>
            <a:ext cx="4951476" cy="1280160"/>
          </a:xfrm>
          <a:prstGeom prst="roundRect">
            <a:avLst>
              <a:gd name="adj" fmla="val 5714"/>
            </a:avLst>
          </a:prstGeom>
          <a:solidFill>
            <a:schemeClr val="bg1"/>
          </a:solidFill>
        </p:spPr>
        <p:txBody>
          <a:bodyPr/>
          <a:p/>
        </p:txBody>
      </p:sp>
      <p:sp>
        <p:nvSpPr>
          <p:cNvPr id="8" name="Shape 203"/>
          <p:cNvSpPr/>
          <p:nvPr/>
        </p:nvSpPr>
        <p:spPr>
          <a:xfrm>
            <a:off x="1333652" y="2474366"/>
            <a:ext cx="537667" cy="537667"/>
          </a:xfrm>
          <a:prstGeom prst="ellipse">
            <a:avLst/>
          </a:prstGeom>
          <a:solidFill>
            <a:schemeClr val="accent2"/>
          </a:solidFill>
        </p:spPr>
        <p:txBody>
          <a:bodyPr/>
          <a:p/>
        </p:txBody>
      </p:sp>
      <p:pic>
        <p:nvPicPr>
          <p:cNvPr id="9" name="Icon 204" descr="CashRegister"/>
          <p:cNvPicPr>
            <a:picLocks noChangeAspect="1"/>
          </p:cNvPicPr>
          <p:nvPr/>
        </p:nvPicPr>
        <p:blipFill>
          <a:blip r:embed="rId1"/>
          <a:stretch>
            <a:fillRect/>
          </a:stretch>
        </p:blipFill>
        <p:spPr>
          <a:xfrm>
            <a:off x="1468069" y="2608783"/>
            <a:ext cx="268834" cy="268834"/>
          </a:xfrm>
          <a:prstGeom prst="rect">
            <a:avLst/>
          </a:prstGeom>
        </p:spPr>
      </p:pic>
      <p:sp>
        <p:nvSpPr>
          <p:cNvPr id="10" name="Text 205"/>
          <p:cNvSpPr txBox="1"/>
          <p:nvPr/>
        </p:nvSpPr>
        <p:spPr>
          <a:xfrm>
            <a:off x="85039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POS Transaction</a:t>
            </a:r>
            <a:endParaRPr lang="en-US" sz="1200" dirty="0"/>
          </a:p>
        </p:txBody>
      </p:sp>
      <p:pic>
        <p:nvPicPr>
          <p:cNvPr id="11" name="Icon 206" descr="ChevronRight"/>
          <p:cNvPicPr>
            <a:picLocks noChangeAspect="1"/>
          </p:cNvPicPr>
          <p:nvPr/>
        </p:nvPicPr>
        <p:blipFill>
          <a:blip r:embed="rId2"/>
          <a:stretch>
            <a:fillRect/>
          </a:stretch>
        </p:blipFill>
        <p:spPr>
          <a:xfrm>
            <a:off x="2318004" y="2633472"/>
            <a:ext cx="219456" cy="219456"/>
          </a:xfrm>
          <a:prstGeom prst="rect">
            <a:avLst/>
          </a:prstGeom>
        </p:spPr>
      </p:pic>
      <p:sp>
        <p:nvSpPr>
          <p:cNvPr id="12" name="Shape 207"/>
          <p:cNvSpPr/>
          <p:nvPr/>
        </p:nvSpPr>
        <p:spPr>
          <a:xfrm>
            <a:off x="2984144" y="2474366"/>
            <a:ext cx="537667" cy="537667"/>
          </a:xfrm>
          <a:prstGeom prst="ellipse">
            <a:avLst/>
          </a:prstGeom>
          <a:solidFill>
            <a:schemeClr val="accent2"/>
          </a:solidFill>
        </p:spPr>
        <p:txBody>
          <a:bodyPr/>
          <a:p/>
        </p:txBody>
      </p:sp>
      <p:pic>
        <p:nvPicPr>
          <p:cNvPr id="13" name="Icon 208" descr="Server"/>
          <p:cNvPicPr>
            <a:picLocks noChangeAspect="1"/>
          </p:cNvPicPr>
          <p:nvPr/>
        </p:nvPicPr>
        <p:blipFill>
          <a:blip r:embed="rId3"/>
          <a:stretch>
            <a:fillRect/>
          </a:stretch>
        </p:blipFill>
        <p:spPr>
          <a:xfrm>
            <a:off x="3118561" y="2608783"/>
            <a:ext cx="268834" cy="268834"/>
          </a:xfrm>
          <a:prstGeom prst="rect">
            <a:avLst/>
          </a:prstGeom>
        </p:spPr>
      </p:pic>
      <p:sp>
        <p:nvSpPr>
          <p:cNvPr id="14" name="Text 209"/>
          <p:cNvSpPr txBox="1"/>
          <p:nvPr/>
        </p:nvSpPr>
        <p:spPr>
          <a:xfrm>
            <a:off x="2500884"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Cloud HSM</a:t>
            </a:r>
            <a:endParaRPr lang="en-US" sz="1200" dirty="0"/>
          </a:p>
        </p:txBody>
      </p:sp>
      <p:pic>
        <p:nvPicPr>
          <p:cNvPr id="15" name="Icon 210" descr="ChevronRight"/>
          <p:cNvPicPr>
            <a:picLocks noChangeAspect="1"/>
          </p:cNvPicPr>
          <p:nvPr/>
        </p:nvPicPr>
        <p:blipFill>
          <a:blip r:embed="rId2"/>
          <a:stretch>
            <a:fillRect/>
          </a:stretch>
        </p:blipFill>
        <p:spPr>
          <a:xfrm>
            <a:off x="3968496" y="2633472"/>
            <a:ext cx="219456" cy="219456"/>
          </a:xfrm>
          <a:prstGeom prst="rect">
            <a:avLst/>
          </a:prstGeom>
        </p:spPr>
      </p:pic>
      <p:sp>
        <p:nvSpPr>
          <p:cNvPr id="16" name="Shape 211"/>
          <p:cNvSpPr/>
          <p:nvPr/>
        </p:nvSpPr>
        <p:spPr>
          <a:xfrm>
            <a:off x="4634636" y="2474366"/>
            <a:ext cx="537667" cy="537667"/>
          </a:xfrm>
          <a:prstGeom prst="ellipse">
            <a:avLst/>
          </a:prstGeom>
          <a:solidFill>
            <a:schemeClr val="accent2"/>
          </a:solidFill>
        </p:spPr>
        <p:txBody>
          <a:bodyPr/>
          <a:p/>
        </p:txBody>
      </p:sp>
      <p:pic>
        <p:nvPicPr>
          <p:cNvPr id="17" name="Icon 212" descr="FileInvoice"/>
          <p:cNvPicPr>
            <a:picLocks noChangeAspect="1"/>
          </p:cNvPicPr>
          <p:nvPr/>
        </p:nvPicPr>
        <p:blipFill>
          <a:blip r:embed="rId4"/>
          <a:stretch>
            <a:fillRect/>
          </a:stretch>
        </p:blipFill>
        <p:spPr>
          <a:xfrm>
            <a:off x="4769053" y="2608783"/>
            <a:ext cx="268834" cy="268834"/>
          </a:xfrm>
          <a:prstGeom prst="rect">
            <a:avLst/>
          </a:prstGeom>
        </p:spPr>
      </p:pic>
      <p:sp>
        <p:nvSpPr>
          <p:cNvPr id="18" name="Text 213"/>
          <p:cNvSpPr txBox="1"/>
          <p:nvPr/>
        </p:nvSpPr>
        <p:spPr>
          <a:xfrm>
            <a:off x="4151376"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E-invoice (tax stamp)</a:t>
            </a:r>
            <a:endParaRPr lang="en-US" sz="1200" dirty="0"/>
          </a:p>
        </p:txBody>
      </p:sp>
      <p:sp>
        <p:nvSpPr>
          <p:cNvPr id="19" name="Text 214"/>
          <p:cNvSpPr txBox="1"/>
          <p:nvPr/>
        </p:nvSpPr>
        <p:spPr>
          <a:xfrm>
            <a:off x="777240" y="3749040"/>
            <a:ext cx="4951476" cy="99745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Integrates Remote Signing / Cloud HSM and e-invoicing from the cash register (Circular 78 &amp; Decree 123) in the retail module.</a:t>
            </a:r>
            <a:endParaRPr lang="en-US" sz="1400" dirty="0"/>
          </a:p>
          <a:p>
            <a:pPr marL="177800" indent="-177800">
              <a:spcAft>
                <a:spcPts val="600"/>
              </a:spcAft>
              <a:buSzPct val="100000"/>
              <a:buChar char="•"/>
            </a:pPr>
            <a:r>
              <a:rPr lang="en-US" sz="1400" dirty="0">
                <a:solidFill>
                  <a:schemeClr val="tx1"/>
                </a:solidFill>
              </a:rPr>
              <a:t>Digitally sign and transmit tax-authority-coded invoices with a single tap.</a:t>
            </a:r>
            <a:endParaRPr lang="en-US" sz="1400" dirty="0"/>
          </a:p>
        </p:txBody>
      </p:sp>
      <p:sp>
        <p:nvSpPr>
          <p:cNvPr id="20" name="Shape 215"/>
          <p:cNvSpPr/>
          <p:nvPr/>
        </p:nvSpPr>
        <p:spPr>
          <a:xfrm>
            <a:off x="777240" y="4837938"/>
            <a:ext cx="4951476" cy="1197102"/>
          </a:xfrm>
          <a:prstGeom prst="roundRect">
            <a:avLst>
              <a:gd name="adj" fmla="val 6111"/>
            </a:avLst>
          </a:prstGeom>
          <a:solidFill>
            <a:schemeClr val="bg1"/>
          </a:solidFill>
        </p:spPr>
        <p:txBody>
          <a:bodyPr/>
          <a:p/>
        </p:txBody>
      </p:sp>
      <p:sp>
        <p:nvSpPr>
          <p:cNvPr id="21" name="Text 216"/>
          <p:cNvSpPr txBox="1"/>
          <p:nvPr/>
        </p:nvSpPr>
        <p:spPr>
          <a:xfrm>
            <a:off x="960120" y="4947666"/>
            <a:ext cx="4585716" cy="201168"/>
          </a:xfrm>
          <a:prstGeom prst="rect">
            <a:avLst/>
          </a:prstGeom>
          <a:noFill/>
        </p:spPr>
        <p:txBody>
          <a:bodyPr wrap="square" lIns="0" tIns="0" rIns="0" bIns="0" rtlCol="0" anchor="t"/>
          <a:lstStyle/>
          <a:p>
            <a:pPr marL="0" indent="0">
              <a:buNone/>
            </a:pPr>
            <a:r>
              <a:rPr lang="en-US" sz="1200" b="1" dirty="0">
                <a:solidFill>
                  <a:schemeClr val="accent2"/>
                </a:solidFill>
              </a:rPr>
              <a:t>WHY</a:t>
            </a:r>
            <a:endParaRPr lang="en-US" sz="1200" dirty="0"/>
          </a:p>
        </p:txBody>
      </p:sp>
      <p:sp>
        <p:nvSpPr>
          <p:cNvPr id="22" name="Text 217"/>
          <p:cNvSpPr txBox="1"/>
          <p:nvPr/>
        </p:nvSpPr>
        <p:spPr>
          <a:xfrm>
            <a:off x="960120" y="5185410"/>
            <a:ext cx="4585716" cy="758190"/>
          </a:xfrm>
          <a:prstGeom prst="rect">
            <a:avLst/>
          </a:prstGeom>
          <a:noFill/>
        </p:spPr>
        <p:txBody>
          <a:bodyPr wrap="square" lIns="0" tIns="0" rIns="0" bIns="0" rtlCol="0" anchor="t"/>
          <a:lstStyle/>
          <a:p>
            <a:pPr marL="0" indent="0">
              <a:buNone/>
            </a:pPr>
            <a:r>
              <a:rPr lang="en-US" sz="1400" dirty="0">
                <a:solidFill>
                  <a:schemeClr val="tx1"/>
                </a:solidFill>
              </a:rPr>
              <a:t>Household businesses with revenue over VND 1 billion per year must issue e-invoices from their cash register. No bulky signing device is needed.</a:t>
            </a:r>
            <a:endParaRPr lang="en-US" sz="1400" dirty="0"/>
          </a:p>
        </p:txBody>
      </p:sp>
      <p:sp>
        <p:nvSpPr>
          <p:cNvPr id="23" name="Shape 218"/>
          <p:cNvSpPr/>
          <p:nvPr/>
        </p:nvSpPr>
        <p:spPr>
          <a:xfrm>
            <a:off x="6231636" y="1554480"/>
            <a:ext cx="5408676" cy="4709160"/>
          </a:xfrm>
          <a:prstGeom prst="roundRect">
            <a:avLst>
              <a:gd name="adj" fmla="val 1553"/>
            </a:avLst>
          </a:prstGeom>
          <a:solidFill>
            <a:schemeClr val="bg2"/>
          </a:solidFill>
        </p:spPr>
        <p:txBody>
          <a:bodyPr/>
          <a:p/>
        </p:txBody>
      </p:sp>
      <p:sp>
        <p:nvSpPr>
          <p:cNvPr id="24" name="Pill 219"/>
          <p:cNvSpPr/>
          <p:nvPr/>
        </p:nvSpPr>
        <p:spPr>
          <a:xfrm>
            <a:off x="6460236" y="1828800"/>
            <a:ext cx="566928" cy="329184"/>
          </a:xfrm>
          <a:prstGeom prst="roundRect">
            <a:avLst>
              <a:gd name="adj" fmla="val 47222"/>
            </a:avLst>
          </a:prstGeom>
          <a:solidFill>
            <a:schemeClr val="accent2"/>
          </a:solidFill>
        </p:spPr>
        <p:txBody>
          <a:bodyPr wrap="square" lIns="0" tIns="0" rIns="0" bIns="0" rtlCol="0" anchor="ctr"/>
          <a:lstStyle/>
          <a:p>
            <a:pPr marL="0" indent="0" algn="ctr">
              <a:buNone/>
            </a:pPr>
            <a:r>
              <a:rPr lang="en-US" sz="1400" b="1" dirty="0">
                <a:solidFill>
                  <a:schemeClr val="bg1"/>
                </a:solidFill>
              </a:rPr>
              <a:t>2.2</a:t>
            </a:r>
            <a:endParaRPr lang="en-US" sz="1400" dirty="0"/>
          </a:p>
        </p:txBody>
      </p:sp>
      <p:sp>
        <p:nvSpPr>
          <p:cNvPr id="25" name="Text 220"/>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Auto-Sync Catalog</a:t>
            </a:r>
            <a:endParaRPr lang="en-US" sz="1800" dirty="0"/>
          </a:p>
        </p:txBody>
      </p:sp>
      <p:sp>
        <p:nvSpPr>
          <p:cNvPr id="26" name="Shape 221"/>
          <p:cNvSpPr/>
          <p:nvPr/>
        </p:nvSpPr>
        <p:spPr>
          <a:xfrm>
            <a:off x="6460236" y="2331720"/>
            <a:ext cx="4951476" cy="1280160"/>
          </a:xfrm>
          <a:prstGeom prst="roundRect">
            <a:avLst>
              <a:gd name="adj" fmla="val 5714"/>
            </a:avLst>
          </a:prstGeom>
          <a:solidFill>
            <a:schemeClr val="bg1"/>
          </a:solidFill>
        </p:spPr>
        <p:txBody>
          <a:bodyPr/>
          <a:p/>
        </p:txBody>
      </p:sp>
      <p:sp>
        <p:nvSpPr>
          <p:cNvPr id="27" name="Shape 222"/>
          <p:cNvSpPr/>
          <p:nvPr/>
        </p:nvSpPr>
        <p:spPr>
          <a:xfrm>
            <a:off x="7016648" y="2474366"/>
            <a:ext cx="537667" cy="537667"/>
          </a:xfrm>
          <a:prstGeom prst="ellipse">
            <a:avLst/>
          </a:prstGeom>
          <a:solidFill>
            <a:schemeClr val="accent2"/>
          </a:solidFill>
        </p:spPr>
        <p:txBody>
          <a:bodyPr/>
          <a:p/>
        </p:txBody>
      </p:sp>
      <p:pic>
        <p:nvPicPr>
          <p:cNvPr id="28" name="Icon 223" descr="Boxes"/>
          <p:cNvPicPr>
            <a:picLocks noChangeAspect="1"/>
          </p:cNvPicPr>
          <p:nvPr/>
        </p:nvPicPr>
        <p:blipFill>
          <a:blip r:embed="rId5"/>
          <a:stretch>
            <a:fillRect/>
          </a:stretch>
        </p:blipFill>
        <p:spPr>
          <a:xfrm>
            <a:off x="7151065" y="2608783"/>
            <a:ext cx="268834" cy="268834"/>
          </a:xfrm>
          <a:prstGeom prst="rect">
            <a:avLst/>
          </a:prstGeom>
        </p:spPr>
      </p:pic>
      <p:sp>
        <p:nvSpPr>
          <p:cNvPr id="29" name="Text 224"/>
          <p:cNvSpPr txBox="1"/>
          <p:nvPr/>
        </p:nvSpPr>
        <p:spPr>
          <a:xfrm>
            <a:off x="6533388"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Wholesale Order</a:t>
            </a:r>
            <a:endParaRPr lang="en-US" sz="1200" dirty="0"/>
          </a:p>
        </p:txBody>
      </p:sp>
      <p:pic>
        <p:nvPicPr>
          <p:cNvPr id="30" name="Icon 225" descr="ChevronRight"/>
          <p:cNvPicPr>
            <a:picLocks noChangeAspect="1"/>
          </p:cNvPicPr>
          <p:nvPr/>
        </p:nvPicPr>
        <p:blipFill>
          <a:blip r:embed="rId2"/>
          <a:stretch>
            <a:fillRect/>
          </a:stretch>
        </p:blipFill>
        <p:spPr>
          <a:xfrm>
            <a:off x="8001000" y="2633472"/>
            <a:ext cx="219456" cy="219456"/>
          </a:xfrm>
          <a:prstGeom prst="rect">
            <a:avLst/>
          </a:prstGeom>
        </p:spPr>
      </p:pic>
      <p:sp>
        <p:nvSpPr>
          <p:cNvPr id="31" name="Shape 226"/>
          <p:cNvSpPr/>
          <p:nvPr/>
        </p:nvSpPr>
        <p:spPr>
          <a:xfrm>
            <a:off x="8667140" y="2474366"/>
            <a:ext cx="537667" cy="537667"/>
          </a:xfrm>
          <a:prstGeom prst="ellipse">
            <a:avLst/>
          </a:prstGeom>
          <a:solidFill>
            <a:schemeClr val="accent2"/>
          </a:solidFill>
        </p:spPr>
        <p:txBody>
          <a:bodyPr/>
          <a:p/>
        </p:txBody>
      </p:sp>
      <p:pic>
        <p:nvPicPr>
          <p:cNvPr id="32" name="Icon 227" descr="SyncAlt"/>
          <p:cNvPicPr>
            <a:picLocks noChangeAspect="1"/>
          </p:cNvPicPr>
          <p:nvPr/>
        </p:nvPicPr>
        <p:blipFill>
          <a:blip r:embed="rId6"/>
          <a:stretch>
            <a:fillRect/>
          </a:stretch>
        </p:blipFill>
        <p:spPr>
          <a:xfrm>
            <a:off x="8801557" y="2608783"/>
            <a:ext cx="268834" cy="268834"/>
          </a:xfrm>
          <a:prstGeom prst="rect">
            <a:avLst/>
          </a:prstGeom>
        </p:spPr>
      </p:pic>
      <p:sp>
        <p:nvSpPr>
          <p:cNvPr id="33" name="Text 228"/>
          <p:cNvSpPr txBox="1"/>
          <p:nvPr/>
        </p:nvSpPr>
        <p:spPr>
          <a:xfrm>
            <a:off x="8183880"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Auto-sync</a:t>
            </a:r>
            <a:endParaRPr lang="en-US" sz="1200" dirty="0"/>
          </a:p>
        </p:txBody>
      </p:sp>
      <p:pic>
        <p:nvPicPr>
          <p:cNvPr id="34" name="Icon 229" descr="ChevronRight"/>
          <p:cNvPicPr>
            <a:picLocks noChangeAspect="1"/>
          </p:cNvPicPr>
          <p:nvPr/>
        </p:nvPicPr>
        <p:blipFill>
          <a:blip r:embed="rId2"/>
          <a:stretch>
            <a:fillRect/>
          </a:stretch>
        </p:blipFill>
        <p:spPr>
          <a:xfrm>
            <a:off x="9651492" y="2633472"/>
            <a:ext cx="219456" cy="219456"/>
          </a:xfrm>
          <a:prstGeom prst="rect">
            <a:avLst/>
          </a:prstGeom>
        </p:spPr>
      </p:pic>
      <p:sp>
        <p:nvSpPr>
          <p:cNvPr id="35" name="Shape 230"/>
          <p:cNvSpPr/>
          <p:nvPr/>
        </p:nvSpPr>
        <p:spPr>
          <a:xfrm>
            <a:off x="10317632" y="2474366"/>
            <a:ext cx="537667" cy="537667"/>
          </a:xfrm>
          <a:prstGeom prst="ellipse">
            <a:avLst/>
          </a:prstGeom>
          <a:solidFill>
            <a:schemeClr val="accent2"/>
          </a:solidFill>
        </p:spPr>
        <p:txBody>
          <a:bodyPr/>
          <a:p/>
        </p:txBody>
      </p:sp>
      <p:pic>
        <p:nvPicPr>
          <p:cNvPr id="36" name="Icon 231" descr="Warehouse"/>
          <p:cNvPicPr>
            <a:picLocks noChangeAspect="1"/>
          </p:cNvPicPr>
          <p:nvPr/>
        </p:nvPicPr>
        <p:blipFill>
          <a:blip r:embed="rId7"/>
          <a:stretch>
            <a:fillRect/>
          </a:stretch>
        </p:blipFill>
        <p:spPr>
          <a:xfrm>
            <a:off x="10452049" y="2608783"/>
            <a:ext cx="268834" cy="268834"/>
          </a:xfrm>
          <a:prstGeom prst="rect">
            <a:avLst/>
          </a:prstGeom>
        </p:spPr>
      </p:pic>
      <p:sp>
        <p:nvSpPr>
          <p:cNvPr id="37" name="Text 232"/>
          <p:cNvSpPr txBox="1"/>
          <p:nvPr/>
        </p:nvSpPr>
        <p:spPr>
          <a:xfrm>
            <a:off x="983437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Retail Inventory</a:t>
            </a:r>
            <a:endParaRPr lang="en-US" sz="1200" dirty="0"/>
          </a:p>
        </p:txBody>
      </p:sp>
      <p:sp>
        <p:nvSpPr>
          <p:cNvPr id="38" name="Text 233"/>
          <p:cNvSpPr txBox="1"/>
          <p:nvPr/>
        </p:nvSpPr>
        <p:spPr>
          <a:xfrm>
            <a:off x="6460236" y="3749040"/>
            <a:ext cx="4951476" cy="99745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Every successful wholesale order from a Distributor syncs automatically to the store's retail inventory.</a:t>
            </a:r>
            <a:endParaRPr lang="en-US" sz="1400" dirty="0"/>
          </a:p>
          <a:p>
            <a:pPr marL="177800" indent="-177800">
              <a:spcAft>
                <a:spcPts val="600"/>
              </a:spcAft>
              <a:buSzPct val="100000"/>
              <a:buChar char="•"/>
            </a:pPr>
            <a:r>
              <a:rPr lang="en-US" sz="1400" dirty="0">
                <a:solidFill>
                  <a:schemeClr val="tx1"/>
                </a:solidFill>
              </a:rPr>
              <a:t>Pre-fills standard name, barcode, image and suggested retail price (SRP).</a:t>
            </a:r>
            <a:endParaRPr lang="en-US" sz="1400" dirty="0"/>
          </a:p>
        </p:txBody>
      </p:sp>
      <p:sp>
        <p:nvSpPr>
          <p:cNvPr id="39" name="Shape 234"/>
          <p:cNvSpPr/>
          <p:nvPr/>
        </p:nvSpPr>
        <p:spPr>
          <a:xfrm>
            <a:off x="6460236" y="4837938"/>
            <a:ext cx="4951476" cy="1197102"/>
          </a:xfrm>
          <a:prstGeom prst="roundRect">
            <a:avLst>
              <a:gd name="adj" fmla="val 6111"/>
            </a:avLst>
          </a:prstGeom>
          <a:solidFill>
            <a:schemeClr val="bg1"/>
          </a:solidFill>
        </p:spPr>
        <p:txBody>
          <a:bodyPr/>
          <a:p/>
        </p:txBody>
      </p:sp>
      <p:sp>
        <p:nvSpPr>
          <p:cNvPr id="40" name="Text 235"/>
          <p:cNvSpPr txBox="1"/>
          <p:nvPr/>
        </p:nvSpPr>
        <p:spPr>
          <a:xfrm>
            <a:off x="6643116" y="4947666"/>
            <a:ext cx="4585716" cy="201168"/>
          </a:xfrm>
          <a:prstGeom prst="rect">
            <a:avLst/>
          </a:prstGeom>
          <a:noFill/>
        </p:spPr>
        <p:txBody>
          <a:bodyPr wrap="square" lIns="0" tIns="0" rIns="0" bIns="0" rtlCol="0" anchor="t"/>
          <a:lstStyle/>
          <a:p>
            <a:pPr marL="0" indent="0">
              <a:buNone/>
            </a:pPr>
            <a:r>
              <a:rPr lang="en-US" sz="1200" b="1" dirty="0">
                <a:solidFill>
                  <a:schemeClr val="accent2"/>
                </a:solidFill>
              </a:rPr>
              <a:t>RESULT</a:t>
            </a:r>
            <a:endParaRPr lang="en-US" sz="1200" dirty="0"/>
          </a:p>
        </p:txBody>
      </p:sp>
      <p:sp>
        <p:nvSpPr>
          <p:cNvPr id="41" name="Text 236"/>
          <p:cNvSpPr txBox="1"/>
          <p:nvPr/>
        </p:nvSpPr>
        <p:spPr>
          <a:xfrm>
            <a:off x="6643116" y="5185410"/>
            <a:ext cx="4585716" cy="758190"/>
          </a:xfrm>
          <a:prstGeom prst="rect">
            <a:avLst/>
          </a:prstGeom>
          <a:noFill/>
        </p:spPr>
        <p:txBody>
          <a:bodyPr wrap="square" lIns="0" tIns="0" rIns="0" bIns="0" rtlCol="0" anchor="t"/>
          <a:lstStyle/>
          <a:p>
            <a:pPr marL="0" indent="0">
              <a:buNone/>
            </a:pPr>
            <a:r>
              <a:rPr lang="en-US" sz="1400" dirty="0">
                <a:solidFill>
                  <a:schemeClr val="tx1"/>
                </a:solidFill>
              </a:rPr>
              <a:t>Saves 90% of setup effort: store owners do not need to type each item among thousands of SKUs, and can start selling right away.</a:t>
            </a:r>
            <a:endParaRPr lang="en-US" sz="1400" dirty="0"/>
          </a:p>
        </p:txBody>
      </p:sp>
      <p:sp>
        <p:nvSpPr>
          <p:cNvPr id="42"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2"/>
                </a:solidFill>
              </a:rPr>
              <a:t>PILLAR 2  ·  SELLING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2"/>
                </a:solidFill>
              </a:rPr>
              <a:t>Smart QR &amp; Digital Debt Ledger</a:t>
            </a:r>
            <a:endParaRPr lang="en-US" sz="3200" dirty="0"/>
          </a:p>
        </p:txBody>
      </p:sp>
      <p:sp>
        <p:nvSpPr>
          <p:cNvPr id="4" name="Shape 237"/>
          <p:cNvSpPr/>
          <p:nvPr/>
        </p:nvSpPr>
        <p:spPr>
          <a:xfrm>
            <a:off x="548640" y="1554480"/>
            <a:ext cx="5408676" cy="4709160"/>
          </a:xfrm>
          <a:prstGeom prst="roundRect">
            <a:avLst>
              <a:gd name="adj" fmla="val 1553"/>
            </a:avLst>
          </a:prstGeom>
          <a:solidFill>
            <a:schemeClr val="bg2"/>
          </a:solidFill>
        </p:spPr>
        <p:txBody>
          <a:bodyPr/>
          <a:p/>
        </p:txBody>
      </p:sp>
      <p:sp>
        <p:nvSpPr>
          <p:cNvPr id="5" name="Pill 238"/>
          <p:cNvSpPr/>
          <p:nvPr/>
        </p:nvSpPr>
        <p:spPr>
          <a:xfrm>
            <a:off x="777240" y="1828800"/>
            <a:ext cx="566928" cy="329184"/>
          </a:xfrm>
          <a:prstGeom prst="roundRect">
            <a:avLst>
              <a:gd name="adj" fmla="val 47222"/>
            </a:avLst>
          </a:prstGeom>
          <a:solidFill>
            <a:schemeClr val="accent2"/>
          </a:solidFill>
        </p:spPr>
        <p:txBody>
          <a:bodyPr wrap="square" lIns="0" tIns="0" rIns="0" bIns="0" rtlCol="0" anchor="ctr"/>
          <a:lstStyle/>
          <a:p>
            <a:pPr marL="0" indent="0" algn="ctr">
              <a:buNone/>
            </a:pPr>
            <a:r>
              <a:rPr lang="en-US" sz="1400" b="1" dirty="0">
                <a:solidFill>
                  <a:schemeClr val="bg1"/>
                </a:solidFill>
              </a:rPr>
              <a:t>2.3</a:t>
            </a:r>
            <a:endParaRPr lang="en-US" sz="1400" dirty="0"/>
          </a:p>
        </p:txBody>
      </p:sp>
      <p:sp>
        <p:nvSpPr>
          <p:cNvPr id="6" name="Text 239"/>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Dynamic VietQR &amp; Voice Box</a:t>
            </a:r>
            <a:endParaRPr lang="en-US" sz="1800" dirty="0"/>
          </a:p>
        </p:txBody>
      </p:sp>
      <p:sp>
        <p:nvSpPr>
          <p:cNvPr id="7" name="Shape 240"/>
          <p:cNvSpPr/>
          <p:nvPr/>
        </p:nvSpPr>
        <p:spPr>
          <a:xfrm>
            <a:off x="777240" y="2331720"/>
            <a:ext cx="4951476" cy="1280160"/>
          </a:xfrm>
          <a:prstGeom prst="roundRect">
            <a:avLst>
              <a:gd name="adj" fmla="val 5714"/>
            </a:avLst>
          </a:prstGeom>
          <a:solidFill>
            <a:schemeClr val="bg1"/>
          </a:solidFill>
        </p:spPr>
        <p:txBody>
          <a:bodyPr/>
          <a:p/>
        </p:txBody>
      </p:sp>
      <p:sp>
        <p:nvSpPr>
          <p:cNvPr id="8" name="Shape 241"/>
          <p:cNvSpPr/>
          <p:nvPr/>
        </p:nvSpPr>
        <p:spPr>
          <a:xfrm>
            <a:off x="1333652" y="2474366"/>
            <a:ext cx="537667" cy="537667"/>
          </a:xfrm>
          <a:prstGeom prst="ellipse">
            <a:avLst/>
          </a:prstGeom>
          <a:solidFill>
            <a:schemeClr val="accent2"/>
          </a:solidFill>
        </p:spPr>
        <p:txBody>
          <a:bodyPr/>
          <a:p/>
        </p:txBody>
      </p:sp>
      <p:pic>
        <p:nvPicPr>
          <p:cNvPr id="9" name="Icon 242" descr="Qrcode"/>
          <p:cNvPicPr>
            <a:picLocks noChangeAspect="1"/>
          </p:cNvPicPr>
          <p:nvPr/>
        </p:nvPicPr>
        <p:blipFill>
          <a:blip r:embed="rId1"/>
          <a:stretch>
            <a:fillRect/>
          </a:stretch>
        </p:blipFill>
        <p:spPr>
          <a:xfrm>
            <a:off x="1468069" y="2608783"/>
            <a:ext cx="268834" cy="268834"/>
          </a:xfrm>
          <a:prstGeom prst="rect">
            <a:avLst/>
          </a:prstGeom>
        </p:spPr>
      </p:pic>
      <p:sp>
        <p:nvSpPr>
          <p:cNvPr id="10" name="Text 243"/>
          <p:cNvSpPr txBox="1"/>
          <p:nvPr/>
        </p:nvSpPr>
        <p:spPr>
          <a:xfrm>
            <a:off x="85039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Correct-amount QR</a:t>
            </a:r>
            <a:endParaRPr lang="en-US" sz="1200" dirty="0"/>
          </a:p>
        </p:txBody>
      </p:sp>
      <p:pic>
        <p:nvPicPr>
          <p:cNvPr id="11" name="Icon 244" descr="ChevronRight"/>
          <p:cNvPicPr>
            <a:picLocks noChangeAspect="1"/>
          </p:cNvPicPr>
          <p:nvPr/>
        </p:nvPicPr>
        <p:blipFill>
          <a:blip r:embed="rId2"/>
          <a:stretch>
            <a:fillRect/>
          </a:stretch>
        </p:blipFill>
        <p:spPr>
          <a:xfrm>
            <a:off x="2318004" y="2633472"/>
            <a:ext cx="219456" cy="219456"/>
          </a:xfrm>
          <a:prstGeom prst="rect">
            <a:avLst/>
          </a:prstGeom>
        </p:spPr>
      </p:pic>
      <p:sp>
        <p:nvSpPr>
          <p:cNvPr id="12" name="Shape 245"/>
          <p:cNvSpPr/>
          <p:nvPr/>
        </p:nvSpPr>
        <p:spPr>
          <a:xfrm>
            <a:off x="2984144" y="2474366"/>
            <a:ext cx="537667" cy="537667"/>
          </a:xfrm>
          <a:prstGeom prst="ellipse">
            <a:avLst/>
          </a:prstGeom>
          <a:solidFill>
            <a:schemeClr val="accent2"/>
          </a:solidFill>
        </p:spPr>
        <p:txBody>
          <a:bodyPr/>
          <a:p/>
        </p:txBody>
      </p:sp>
      <p:pic>
        <p:nvPicPr>
          <p:cNvPr id="13" name="Icon 246" descr="Coins"/>
          <p:cNvPicPr>
            <a:picLocks noChangeAspect="1"/>
          </p:cNvPicPr>
          <p:nvPr/>
        </p:nvPicPr>
        <p:blipFill>
          <a:blip r:embed="rId3"/>
          <a:stretch>
            <a:fillRect/>
          </a:stretch>
        </p:blipFill>
        <p:spPr>
          <a:xfrm>
            <a:off x="3118561" y="2608783"/>
            <a:ext cx="268834" cy="268834"/>
          </a:xfrm>
          <a:prstGeom prst="rect">
            <a:avLst/>
          </a:prstGeom>
        </p:spPr>
      </p:pic>
      <p:sp>
        <p:nvSpPr>
          <p:cNvPr id="14" name="Text 247"/>
          <p:cNvSpPr txBox="1"/>
          <p:nvPr/>
        </p:nvSpPr>
        <p:spPr>
          <a:xfrm>
            <a:off x="2500884"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Credited account</a:t>
            </a:r>
            <a:endParaRPr lang="en-US" sz="1200" dirty="0"/>
          </a:p>
        </p:txBody>
      </p:sp>
      <p:pic>
        <p:nvPicPr>
          <p:cNvPr id="15" name="Icon 248" descr="ChevronRight"/>
          <p:cNvPicPr>
            <a:picLocks noChangeAspect="1"/>
          </p:cNvPicPr>
          <p:nvPr/>
        </p:nvPicPr>
        <p:blipFill>
          <a:blip r:embed="rId2"/>
          <a:stretch>
            <a:fillRect/>
          </a:stretch>
        </p:blipFill>
        <p:spPr>
          <a:xfrm>
            <a:off x="3968496" y="2633472"/>
            <a:ext cx="219456" cy="219456"/>
          </a:xfrm>
          <a:prstGeom prst="rect">
            <a:avLst/>
          </a:prstGeom>
        </p:spPr>
      </p:pic>
      <p:sp>
        <p:nvSpPr>
          <p:cNvPr id="16" name="Shape 249"/>
          <p:cNvSpPr/>
          <p:nvPr/>
        </p:nvSpPr>
        <p:spPr>
          <a:xfrm>
            <a:off x="4634636" y="2474366"/>
            <a:ext cx="537667" cy="537667"/>
          </a:xfrm>
          <a:prstGeom prst="ellipse">
            <a:avLst/>
          </a:prstGeom>
          <a:solidFill>
            <a:schemeClr val="accent2"/>
          </a:solidFill>
        </p:spPr>
        <p:txBody>
          <a:bodyPr/>
          <a:p/>
        </p:txBody>
      </p:sp>
      <p:pic>
        <p:nvPicPr>
          <p:cNvPr id="17" name="Icon 250" descr="VolumeUp"/>
          <p:cNvPicPr>
            <a:picLocks noChangeAspect="1"/>
          </p:cNvPicPr>
          <p:nvPr/>
        </p:nvPicPr>
        <p:blipFill>
          <a:blip r:embed="rId4"/>
          <a:stretch>
            <a:fillRect/>
          </a:stretch>
        </p:blipFill>
        <p:spPr>
          <a:xfrm>
            <a:off x="4769053" y="2608783"/>
            <a:ext cx="268834" cy="268834"/>
          </a:xfrm>
          <a:prstGeom prst="rect">
            <a:avLst/>
          </a:prstGeom>
        </p:spPr>
      </p:pic>
      <p:sp>
        <p:nvSpPr>
          <p:cNvPr id="18" name="Text 251"/>
          <p:cNvSpPr txBox="1"/>
          <p:nvPr/>
        </p:nvSpPr>
        <p:spPr>
          <a:xfrm>
            <a:off x="4151376"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Loud speaker</a:t>
            </a:r>
            <a:endParaRPr lang="en-US" sz="1200" dirty="0"/>
          </a:p>
        </p:txBody>
      </p:sp>
      <p:sp>
        <p:nvSpPr>
          <p:cNvPr id="19" name="Text 252"/>
          <p:cNvSpPr txBox="1"/>
          <p:nvPr/>
        </p:nvSpPr>
        <p:spPr>
          <a:xfrm>
            <a:off x="777240"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Dynamic VietQR / Napas247 QR automatically shows the exact order amount.</a:t>
            </a:r>
            <a:endParaRPr lang="en-US" sz="1400" dirty="0"/>
          </a:p>
          <a:p>
            <a:pPr marL="177800" indent="-177800">
              <a:spcAft>
                <a:spcPts val="600"/>
              </a:spcAft>
              <a:buSzPct val="100000"/>
              <a:buChar char="•"/>
            </a:pPr>
            <a:r>
              <a:rPr lang="en-US" sz="1400" dirty="0">
                <a:solidFill>
                  <a:schemeClr val="tx1"/>
                </a:solidFill>
              </a:rPr>
              <a:t>A Smart Soundbox or phone/Bluetooth speaker reads the amount aloud when the account is credited, which helps prevent fake transfer receipts.</a:t>
            </a:r>
            <a:endParaRPr lang="en-US" sz="1400" dirty="0"/>
          </a:p>
        </p:txBody>
      </p:sp>
      <p:sp>
        <p:nvSpPr>
          <p:cNvPr id="20" name="Shape 253"/>
          <p:cNvSpPr/>
          <p:nvPr/>
        </p:nvSpPr>
        <p:spPr>
          <a:xfrm>
            <a:off x="777240" y="5060188"/>
            <a:ext cx="4951476" cy="974852"/>
          </a:xfrm>
          <a:prstGeom prst="roundRect">
            <a:avLst>
              <a:gd name="adj" fmla="val 7504"/>
            </a:avLst>
          </a:prstGeom>
          <a:solidFill>
            <a:schemeClr val="bg1"/>
          </a:solidFill>
        </p:spPr>
        <p:txBody>
          <a:bodyPr/>
          <a:p/>
        </p:txBody>
      </p:sp>
      <p:sp>
        <p:nvSpPr>
          <p:cNvPr id="21" name="Text 254"/>
          <p:cNvSpPr txBox="1"/>
          <p:nvPr/>
        </p:nvSpPr>
        <p:spPr>
          <a:xfrm>
            <a:off x="960120" y="5169916"/>
            <a:ext cx="4585716" cy="201168"/>
          </a:xfrm>
          <a:prstGeom prst="rect">
            <a:avLst/>
          </a:prstGeom>
          <a:noFill/>
        </p:spPr>
        <p:txBody>
          <a:bodyPr wrap="square" lIns="0" tIns="0" rIns="0" bIns="0" rtlCol="0" anchor="t"/>
          <a:lstStyle/>
          <a:p>
            <a:pPr marL="0" indent="0">
              <a:buNone/>
            </a:pPr>
            <a:r>
              <a:rPr lang="en-US" sz="1200" b="1" dirty="0">
                <a:solidFill>
                  <a:schemeClr val="accent2"/>
                </a:solidFill>
              </a:rPr>
              <a:t>EXAMPLE</a:t>
            </a:r>
            <a:endParaRPr lang="en-US" sz="1200" dirty="0"/>
          </a:p>
        </p:txBody>
      </p:sp>
      <p:sp>
        <p:nvSpPr>
          <p:cNvPr id="22" name="Text 255"/>
          <p:cNvSpPr txBox="1"/>
          <p:nvPr/>
        </p:nvSpPr>
        <p:spPr>
          <a:xfrm>
            <a:off x="960120"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"FinViet received 65,000 VND."</a:t>
            </a:r>
            <a:endParaRPr lang="en-US" sz="1400" dirty="0"/>
          </a:p>
        </p:txBody>
      </p:sp>
      <p:sp>
        <p:nvSpPr>
          <p:cNvPr id="23" name="Shape 256"/>
          <p:cNvSpPr/>
          <p:nvPr/>
        </p:nvSpPr>
        <p:spPr>
          <a:xfrm>
            <a:off x="6231636" y="1554480"/>
            <a:ext cx="5408676" cy="4709160"/>
          </a:xfrm>
          <a:prstGeom prst="roundRect">
            <a:avLst>
              <a:gd name="adj" fmla="val 1553"/>
            </a:avLst>
          </a:prstGeom>
          <a:solidFill>
            <a:schemeClr val="bg2"/>
          </a:solidFill>
        </p:spPr>
        <p:txBody>
          <a:bodyPr/>
          <a:p/>
        </p:txBody>
      </p:sp>
      <p:sp>
        <p:nvSpPr>
          <p:cNvPr id="24" name="Pill 257"/>
          <p:cNvSpPr/>
          <p:nvPr/>
        </p:nvSpPr>
        <p:spPr>
          <a:xfrm>
            <a:off x="6460236" y="1828800"/>
            <a:ext cx="566928" cy="329184"/>
          </a:xfrm>
          <a:prstGeom prst="roundRect">
            <a:avLst>
              <a:gd name="adj" fmla="val 47222"/>
            </a:avLst>
          </a:prstGeom>
          <a:solidFill>
            <a:schemeClr val="accent2"/>
          </a:solidFill>
        </p:spPr>
        <p:txBody>
          <a:bodyPr wrap="square" lIns="0" tIns="0" rIns="0" bIns="0" rtlCol="0" anchor="ctr"/>
          <a:lstStyle/>
          <a:p>
            <a:pPr marL="0" indent="0" algn="ctr">
              <a:buNone/>
            </a:pPr>
            <a:r>
              <a:rPr lang="en-US" sz="1400" b="1" dirty="0">
                <a:solidFill>
                  <a:schemeClr val="bg1"/>
                </a:solidFill>
              </a:rPr>
              <a:t>2.4</a:t>
            </a:r>
            <a:endParaRPr lang="en-US" sz="1400" dirty="0"/>
          </a:p>
        </p:txBody>
      </p:sp>
      <p:sp>
        <p:nvSpPr>
          <p:cNvPr id="25" name="Text 258"/>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1-Tap Digital Debt Ledger</a:t>
            </a:r>
            <a:endParaRPr lang="en-US" sz="1800" dirty="0"/>
          </a:p>
        </p:txBody>
      </p:sp>
      <p:sp>
        <p:nvSpPr>
          <p:cNvPr id="26" name="Shape 259"/>
          <p:cNvSpPr/>
          <p:nvPr/>
        </p:nvSpPr>
        <p:spPr>
          <a:xfrm>
            <a:off x="6460236" y="2331720"/>
            <a:ext cx="4951476" cy="1280160"/>
          </a:xfrm>
          <a:prstGeom prst="roundRect">
            <a:avLst>
              <a:gd name="adj" fmla="val 5714"/>
            </a:avLst>
          </a:prstGeom>
          <a:solidFill>
            <a:schemeClr val="bg1"/>
          </a:solidFill>
        </p:spPr>
        <p:txBody>
          <a:bodyPr/>
          <a:p/>
        </p:txBody>
      </p:sp>
      <p:sp>
        <p:nvSpPr>
          <p:cNvPr id="27" name="Shape 260"/>
          <p:cNvSpPr/>
          <p:nvPr/>
        </p:nvSpPr>
        <p:spPr>
          <a:xfrm>
            <a:off x="7016648" y="2474366"/>
            <a:ext cx="537667" cy="537667"/>
          </a:xfrm>
          <a:prstGeom prst="ellipse">
            <a:avLst/>
          </a:prstGeom>
          <a:solidFill>
            <a:schemeClr val="accent2"/>
          </a:solidFill>
        </p:spPr>
        <p:txBody>
          <a:bodyPr/>
          <a:p/>
        </p:txBody>
      </p:sp>
      <p:pic>
        <p:nvPicPr>
          <p:cNvPr id="28" name="Icon 261" descr="BookOpen"/>
          <p:cNvPicPr>
            <a:picLocks noChangeAspect="1"/>
          </p:cNvPicPr>
          <p:nvPr/>
        </p:nvPicPr>
        <p:blipFill>
          <a:blip r:embed="rId5"/>
          <a:stretch>
            <a:fillRect/>
          </a:stretch>
        </p:blipFill>
        <p:spPr>
          <a:xfrm>
            <a:off x="7151065" y="2608783"/>
            <a:ext cx="268834" cy="268834"/>
          </a:xfrm>
          <a:prstGeom prst="rect">
            <a:avLst/>
          </a:prstGeom>
        </p:spPr>
      </p:pic>
      <p:sp>
        <p:nvSpPr>
          <p:cNvPr id="29" name="Text 262"/>
          <p:cNvSpPr txBox="1"/>
          <p:nvPr/>
        </p:nvSpPr>
        <p:spPr>
          <a:xfrm>
            <a:off x="6533388"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One-tap credit</a:t>
            </a:r>
            <a:endParaRPr lang="en-US" sz="1200" dirty="0"/>
          </a:p>
        </p:txBody>
      </p:sp>
      <p:pic>
        <p:nvPicPr>
          <p:cNvPr id="30" name="Icon 263" descr="ChevronRight"/>
          <p:cNvPicPr>
            <a:picLocks noChangeAspect="1"/>
          </p:cNvPicPr>
          <p:nvPr/>
        </p:nvPicPr>
        <p:blipFill>
          <a:blip r:embed="rId2"/>
          <a:stretch>
            <a:fillRect/>
          </a:stretch>
        </p:blipFill>
        <p:spPr>
          <a:xfrm>
            <a:off x="8001000" y="2633472"/>
            <a:ext cx="219456" cy="219456"/>
          </a:xfrm>
          <a:prstGeom prst="rect">
            <a:avLst/>
          </a:prstGeom>
        </p:spPr>
      </p:pic>
      <p:sp>
        <p:nvSpPr>
          <p:cNvPr id="31" name="Shape 264"/>
          <p:cNvSpPr/>
          <p:nvPr/>
        </p:nvSpPr>
        <p:spPr>
          <a:xfrm>
            <a:off x="8667140" y="2474366"/>
            <a:ext cx="537667" cy="537667"/>
          </a:xfrm>
          <a:prstGeom prst="ellipse">
            <a:avLst/>
          </a:prstGeom>
          <a:solidFill>
            <a:schemeClr val="accent2"/>
          </a:solidFill>
        </p:spPr>
        <p:txBody>
          <a:bodyPr/>
          <a:p/>
        </p:txBody>
      </p:sp>
      <p:pic>
        <p:nvPicPr>
          <p:cNvPr id="32" name="Icon 265" descr="Users"/>
          <p:cNvPicPr>
            <a:picLocks noChangeAspect="1"/>
          </p:cNvPicPr>
          <p:nvPr/>
        </p:nvPicPr>
        <p:blipFill>
          <a:blip r:embed="rId6"/>
          <a:stretch>
            <a:fillRect/>
          </a:stretch>
        </p:blipFill>
        <p:spPr>
          <a:xfrm>
            <a:off x="8801557" y="2608783"/>
            <a:ext cx="268834" cy="268834"/>
          </a:xfrm>
          <a:prstGeom prst="rect">
            <a:avLst/>
          </a:prstGeom>
        </p:spPr>
      </p:pic>
      <p:sp>
        <p:nvSpPr>
          <p:cNvPr id="33" name="Text 266"/>
          <p:cNvSpPr txBox="1"/>
          <p:nvPr/>
        </p:nvSpPr>
        <p:spPr>
          <a:xfrm>
            <a:off x="8183880"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Pick from contacts</a:t>
            </a:r>
            <a:endParaRPr lang="en-US" sz="1200" dirty="0"/>
          </a:p>
        </p:txBody>
      </p:sp>
      <p:pic>
        <p:nvPicPr>
          <p:cNvPr id="34" name="Icon 267" descr="ChevronRight"/>
          <p:cNvPicPr>
            <a:picLocks noChangeAspect="1"/>
          </p:cNvPicPr>
          <p:nvPr/>
        </p:nvPicPr>
        <p:blipFill>
          <a:blip r:embed="rId2"/>
          <a:stretch>
            <a:fillRect/>
          </a:stretch>
        </p:blipFill>
        <p:spPr>
          <a:xfrm>
            <a:off x="9651492" y="2633472"/>
            <a:ext cx="219456" cy="219456"/>
          </a:xfrm>
          <a:prstGeom prst="rect">
            <a:avLst/>
          </a:prstGeom>
        </p:spPr>
      </p:pic>
      <p:sp>
        <p:nvSpPr>
          <p:cNvPr id="35" name="Shape 268"/>
          <p:cNvSpPr/>
          <p:nvPr/>
        </p:nvSpPr>
        <p:spPr>
          <a:xfrm>
            <a:off x="10317632" y="2474366"/>
            <a:ext cx="537667" cy="537667"/>
          </a:xfrm>
          <a:prstGeom prst="ellipse">
            <a:avLst/>
          </a:prstGeom>
          <a:solidFill>
            <a:schemeClr val="accent2"/>
          </a:solidFill>
        </p:spPr>
        <p:txBody>
          <a:bodyPr/>
          <a:p/>
        </p:txBody>
      </p:sp>
      <p:pic>
        <p:nvPicPr>
          <p:cNvPr id="36" name="Icon 269" descr="CommentDots"/>
          <p:cNvPicPr>
            <a:picLocks noChangeAspect="1"/>
          </p:cNvPicPr>
          <p:nvPr/>
        </p:nvPicPr>
        <p:blipFill>
          <a:blip r:embed="rId7"/>
          <a:stretch>
            <a:fillRect/>
          </a:stretch>
        </p:blipFill>
        <p:spPr>
          <a:xfrm>
            <a:off x="10452049" y="2608783"/>
            <a:ext cx="268834" cy="268834"/>
          </a:xfrm>
          <a:prstGeom prst="rect">
            <a:avLst/>
          </a:prstGeom>
        </p:spPr>
      </p:pic>
      <p:sp>
        <p:nvSpPr>
          <p:cNvPr id="37" name="Text 270"/>
          <p:cNvSpPr txBox="1"/>
          <p:nvPr/>
        </p:nvSpPr>
        <p:spPr>
          <a:xfrm>
            <a:off x="983437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Debt reminder via Zalo/SMS</a:t>
            </a:r>
            <a:endParaRPr lang="en-US" sz="1200" dirty="0"/>
          </a:p>
        </p:txBody>
      </p:sp>
      <p:sp>
        <p:nvSpPr>
          <p:cNvPr id="38" name="Text 271"/>
          <p:cNvSpPr txBox="1"/>
          <p:nvPr/>
        </p:nvSpPr>
        <p:spPr>
          <a:xfrm>
            <a:off x="6460236"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"Record debt" right on the payment screen: pick a name from contacts, confirm, and the amount and items are recorded automatically.</a:t>
            </a:r>
            <a:endParaRPr lang="en-US" sz="1400" dirty="0"/>
          </a:p>
          <a:p>
            <a:pPr marL="177800" indent="-177800">
              <a:spcAft>
                <a:spcPts val="600"/>
              </a:spcAft>
              <a:buSzPct val="100000"/>
              <a:buChar char="•"/>
            </a:pPr>
            <a:r>
              <a:rPr lang="en-US" sz="1400" dirty="0">
                <a:solidFill>
                  <a:schemeClr val="tx1"/>
                </a:solidFill>
              </a:rPr>
              <a:t>Send a debt statement via Zalo/SMS with polite wording, in one action.</a:t>
            </a:r>
            <a:endParaRPr lang="en-US" sz="1400" dirty="0"/>
          </a:p>
        </p:txBody>
      </p:sp>
      <p:sp>
        <p:nvSpPr>
          <p:cNvPr id="39" name="Shape 272"/>
          <p:cNvSpPr/>
          <p:nvPr/>
        </p:nvSpPr>
        <p:spPr>
          <a:xfrm>
            <a:off x="6460236" y="5060188"/>
            <a:ext cx="4951476" cy="974852"/>
          </a:xfrm>
          <a:prstGeom prst="roundRect">
            <a:avLst>
              <a:gd name="adj" fmla="val 7504"/>
            </a:avLst>
          </a:prstGeom>
          <a:solidFill>
            <a:schemeClr val="bg1"/>
          </a:solidFill>
        </p:spPr>
        <p:txBody>
          <a:bodyPr/>
          <a:p/>
        </p:txBody>
      </p:sp>
      <p:sp>
        <p:nvSpPr>
          <p:cNvPr id="40" name="Text 273"/>
          <p:cNvSpPr txBox="1"/>
          <p:nvPr/>
        </p:nvSpPr>
        <p:spPr>
          <a:xfrm>
            <a:off x="6643116" y="5169916"/>
            <a:ext cx="4585716" cy="201168"/>
          </a:xfrm>
          <a:prstGeom prst="rect">
            <a:avLst/>
          </a:prstGeom>
          <a:noFill/>
        </p:spPr>
        <p:txBody>
          <a:bodyPr wrap="square" lIns="0" tIns="0" rIns="0" bIns="0" rtlCol="0" anchor="t"/>
          <a:lstStyle/>
          <a:p>
            <a:pPr marL="0" indent="0">
              <a:buNone/>
            </a:pPr>
            <a:r>
              <a:rPr lang="en-US" sz="1200" b="1" dirty="0">
                <a:solidFill>
                  <a:schemeClr val="accent2"/>
                </a:solidFill>
              </a:rPr>
              <a:t>RESULT</a:t>
            </a:r>
            <a:endParaRPr lang="en-US" sz="1200" dirty="0"/>
          </a:p>
        </p:txBody>
      </p:sp>
      <p:sp>
        <p:nvSpPr>
          <p:cNvPr id="41" name="Text 274"/>
          <p:cNvSpPr txBox="1"/>
          <p:nvPr/>
        </p:nvSpPr>
        <p:spPr>
          <a:xfrm>
            <a:off x="6643116"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Replaces paper debt books that are easy to lose. Collects debt gently, reducing bad debt while keeping neighborly relationships.</a:t>
            </a:r>
            <a:endParaRPr lang="en-US" sz="1400" dirty="0"/>
          </a:p>
        </p:txBody>
      </p:sp>
      <p:sp>
        <p:nvSpPr>
          <p:cNvPr id="42"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2"/>
                </a:solidFill>
              </a:rPr>
              <a:t>PILLAR 2  ·  SELLING</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2"/>
                </a:solidFill>
              </a:rPr>
              <a:t>Real-time Stock Sync &amp; Alerts</a:t>
            </a:r>
            <a:endParaRPr lang="en-US" sz="3200" dirty="0"/>
          </a:p>
        </p:txBody>
      </p:sp>
      <p:sp>
        <p:nvSpPr>
          <p:cNvPr id="4" name="Shape 275"/>
          <p:cNvSpPr/>
          <p:nvPr/>
        </p:nvSpPr>
        <p:spPr>
          <a:xfrm>
            <a:off x="548640" y="1554480"/>
            <a:ext cx="5394960" cy="4709160"/>
          </a:xfrm>
          <a:prstGeom prst="roundRect">
            <a:avLst>
              <a:gd name="adj" fmla="val 1553"/>
            </a:avLst>
          </a:prstGeom>
          <a:solidFill>
            <a:schemeClr val="bg2"/>
          </a:solidFill>
        </p:spPr>
        <p:txBody>
          <a:bodyPr/>
          <a:p/>
        </p:txBody>
      </p:sp>
      <p:sp>
        <p:nvSpPr>
          <p:cNvPr id="5" name="Shape 276"/>
          <p:cNvSpPr/>
          <p:nvPr/>
        </p:nvSpPr>
        <p:spPr>
          <a:xfrm>
            <a:off x="777240" y="1783080"/>
            <a:ext cx="4937760" cy="4251960"/>
          </a:xfrm>
          <a:prstGeom prst="roundRect">
            <a:avLst>
              <a:gd name="adj" fmla="val 1720"/>
            </a:avLst>
          </a:prstGeom>
          <a:solidFill>
            <a:schemeClr val="bg1"/>
          </a:solidFill>
        </p:spPr>
        <p:txBody>
          <a:bodyPr/>
          <a:p/>
        </p:txBody>
      </p:sp>
      <p:sp>
        <p:nvSpPr>
          <p:cNvPr id="6" name="Shape 277"/>
          <p:cNvSpPr/>
          <p:nvPr/>
        </p:nvSpPr>
        <p:spPr>
          <a:xfrm>
            <a:off x="1188720" y="1971675"/>
            <a:ext cx="685800" cy="685800"/>
          </a:xfrm>
          <a:prstGeom prst="ellipse">
            <a:avLst/>
          </a:prstGeom>
          <a:solidFill>
            <a:schemeClr val="accent2"/>
          </a:solidFill>
        </p:spPr>
        <p:txBody>
          <a:bodyPr/>
          <a:p/>
        </p:txBody>
      </p:sp>
      <p:pic>
        <p:nvPicPr>
          <p:cNvPr id="7" name="Icon 278" descr="CashRegister"/>
          <p:cNvPicPr>
            <a:picLocks noChangeAspect="1"/>
          </p:cNvPicPr>
          <p:nvPr/>
        </p:nvPicPr>
        <p:blipFill>
          <a:blip r:embed="rId1"/>
          <a:stretch>
            <a:fillRect/>
          </a:stretch>
        </p:blipFill>
        <p:spPr>
          <a:xfrm>
            <a:off x="1360170" y="2143125"/>
            <a:ext cx="342900" cy="342900"/>
          </a:xfrm>
          <a:prstGeom prst="rect">
            <a:avLst/>
          </a:prstGeom>
        </p:spPr>
      </p:pic>
      <p:sp>
        <p:nvSpPr>
          <p:cNvPr id="8" name="Text 279"/>
          <p:cNvSpPr txBox="1"/>
          <p:nvPr/>
        </p:nvSpPr>
        <p:spPr>
          <a:xfrm>
            <a:off x="2103120" y="1783080"/>
            <a:ext cx="3337560" cy="1062990"/>
          </a:xfrm>
          <a:prstGeom prst="rect">
            <a:avLst/>
          </a:prstGeom>
          <a:noFill/>
        </p:spPr>
        <p:txBody>
          <a:bodyPr wrap="square" lIns="0" tIns="0" rIns="0" bIns="0" rtlCol="0" anchor="ctr"/>
          <a:lstStyle/>
          <a:p>
            <a:pPr marL="0" indent="0">
              <a:buNone/>
            </a:pPr>
            <a:r>
              <a:rPr lang="en-US" sz="1600" b="1" dirty="0">
                <a:solidFill>
                  <a:schemeClr val="tx1"/>
                </a:solidFill>
              </a:rPr>
              <a:t>In-store sales (scan / select to sell)</a:t>
            </a:r>
            <a:endParaRPr lang="en-US" sz="1600" dirty="0"/>
          </a:p>
        </p:txBody>
      </p:sp>
      <p:pic>
        <p:nvPicPr>
          <p:cNvPr id="9" name="Icon 280" descr="ChevronDown"/>
          <p:cNvPicPr>
            <a:picLocks noChangeAspect="1"/>
          </p:cNvPicPr>
          <p:nvPr/>
        </p:nvPicPr>
        <p:blipFill>
          <a:blip r:embed="rId2"/>
          <a:stretch>
            <a:fillRect/>
          </a:stretch>
        </p:blipFill>
        <p:spPr>
          <a:xfrm>
            <a:off x="1431036" y="2718054"/>
            <a:ext cx="201168" cy="201168"/>
          </a:xfrm>
          <a:prstGeom prst="rect">
            <a:avLst/>
          </a:prstGeom>
        </p:spPr>
      </p:pic>
      <p:sp>
        <p:nvSpPr>
          <p:cNvPr id="10" name="Shape 281"/>
          <p:cNvSpPr/>
          <p:nvPr/>
        </p:nvSpPr>
        <p:spPr>
          <a:xfrm>
            <a:off x="1188720" y="3034665"/>
            <a:ext cx="685800" cy="685800"/>
          </a:xfrm>
          <a:prstGeom prst="ellipse">
            <a:avLst/>
          </a:prstGeom>
          <a:solidFill>
            <a:schemeClr val="accent2"/>
          </a:solidFill>
        </p:spPr>
        <p:txBody>
          <a:bodyPr/>
          <a:p/>
        </p:txBody>
      </p:sp>
      <p:pic>
        <p:nvPicPr>
          <p:cNvPr id="11" name="Icon 282" descr="SyncAlt"/>
          <p:cNvPicPr>
            <a:picLocks noChangeAspect="1"/>
          </p:cNvPicPr>
          <p:nvPr/>
        </p:nvPicPr>
        <p:blipFill>
          <a:blip r:embed="rId3"/>
          <a:stretch>
            <a:fillRect/>
          </a:stretch>
        </p:blipFill>
        <p:spPr>
          <a:xfrm>
            <a:off x="1360170" y="3206115"/>
            <a:ext cx="342900" cy="342900"/>
          </a:xfrm>
          <a:prstGeom prst="rect">
            <a:avLst/>
          </a:prstGeom>
        </p:spPr>
      </p:pic>
      <p:sp>
        <p:nvSpPr>
          <p:cNvPr id="12" name="Text 283"/>
          <p:cNvSpPr txBox="1"/>
          <p:nvPr/>
        </p:nvSpPr>
        <p:spPr>
          <a:xfrm>
            <a:off x="2103120" y="2846070"/>
            <a:ext cx="3337560" cy="1062990"/>
          </a:xfrm>
          <a:prstGeom prst="rect">
            <a:avLst/>
          </a:prstGeom>
          <a:noFill/>
        </p:spPr>
        <p:txBody>
          <a:bodyPr wrap="square" lIns="0" tIns="0" rIns="0" bIns="0" rtlCol="0" anchor="ctr"/>
          <a:lstStyle/>
          <a:p>
            <a:pPr marL="0" indent="0">
              <a:buNone/>
            </a:pPr>
            <a:r>
              <a:rPr lang="en-US" sz="1600" b="1" dirty="0">
                <a:solidFill>
                  <a:schemeClr val="tx1"/>
                </a:solidFill>
              </a:rPr>
              <a:t>Automatically deducts inventory in real time</a:t>
            </a:r>
            <a:endParaRPr lang="en-US" sz="1600" dirty="0"/>
          </a:p>
        </p:txBody>
      </p:sp>
      <p:pic>
        <p:nvPicPr>
          <p:cNvPr id="13" name="Icon 284" descr="ChevronDown"/>
          <p:cNvPicPr>
            <a:picLocks noChangeAspect="1"/>
          </p:cNvPicPr>
          <p:nvPr/>
        </p:nvPicPr>
        <p:blipFill>
          <a:blip r:embed="rId2"/>
          <a:stretch>
            <a:fillRect/>
          </a:stretch>
        </p:blipFill>
        <p:spPr>
          <a:xfrm>
            <a:off x="1431036" y="3781044"/>
            <a:ext cx="201168" cy="201168"/>
          </a:xfrm>
          <a:prstGeom prst="rect">
            <a:avLst/>
          </a:prstGeom>
        </p:spPr>
      </p:pic>
      <p:sp>
        <p:nvSpPr>
          <p:cNvPr id="14" name="Shape 285"/>
          <p:cNvSpPr/>
          <p:nvPr/>
        </p:nvSpPr>
        <p:spPr>
          <a:xfrm>
            <a:off x="1188720" y="4097655"/>
            <a:ext cx="685800" cy="685800"/>
          </a:xfrm>
          <a:prstGeom prst="ellipse">
            <a:avLst/>
          </a:prstGeom>
          <a:solidFill>
            <a:schemeClr val="accent2"/>
          </a:solidFill>
        </p:spPr>
        <p:txBody>
          <a:bodyPr/>
          <a:p/>
        </p:txBody>
      </p:sp>
      <p:pic>
        <p:nvPicPr>
          <p:cNvPr id="15" name="Icon 286" descr="ExclamationTriangle"/>
          <p:cNvPicPr>
            <a:picLocks noChangeAspect="1"/>
          </p:cNvPicPr>
          <p:nvPr/>
        </p:nvPicPr>
        <p:blipFill>
          <a:blip r:embed="rId4"/>
          <a:stretch>
            <a:fillRect/>
          </a:stretch>
        </p:blipFill>
        <p:spPr>
          <a:xfrm>
            <a:off x="1360170" y="4269105"/>
            <a:ext cx="342900" cy="342900"/>
          </a:xfrm>
          <a:prstGeom prst="rect">
            <a:avLst/>
          </a:prstGeom>
        </p:spPr>
      </p:pic>
      <p:sp>
        <p:nvSpPr>
          <p:cNvPr id="16" name="Text 287"/>
          <p:cNvSpPr txBox="1"/>
          <p:nvPr/>
        </p:nvSpPr>
        <p:spPr>
          <a:xfrm>
            <a:off x="2103120" y="3909060"/>
            <a:ext cx="3337560" cy="1062990"/>
          </a:xfrm>
          <a:prstGeom prst="rect">
            <a:avLst/>
          </a:prstGeom>
          <a:noFill/>
        </p:spPr>
        <p:txBody>
          <a:bodyPr wrap="square" lIns="0" tIns="0" rIns="0" bIns="0" rtlCol="0" anchor="ctr"/>
          <a:lstStyle/>
          <a:p>
            <a:pPr marL="0" indent="0">
              <a:buNone/>
            </a:pPr>
            <a:r>
              <a:rPr lang="en-US" sz="1600" b="1" dirty="0">
                <a:solidFill>
                  <a:schemeClr val="tx1"/>
                </a:solidFill>
              </a:rPr>
              <a:t>Hits Safety Stock → alert</a:t>
            </a:r>
            <a:endParaRPr lang="en-US" sz="1600" dirty="0"/>
          </a:p>
        </p:txBody>
      </p:sp>
      <p:pic>
        <p:nvPicPr>
          <p:cNvPr id="17" name="Icon 288" descr="ChevronDown"/>
          <p:cNvPicPr>
            <a:picLocks noChangeAspect="1"/>
          </p:cNvPicPr>
          <p:nvPr/>
        </p:nvPicPr>
        <p:blipFill>
          <a:blip r:embed="rId2"/>
          <a:stretch>
            <a:fillRect/>
          </a:stretch>
        </p:blipFill>
        <p:spPr>
          <a:xfrm>
            <a:off x="1431036" y="4844034"/>
            <a:ext cx="201168" cy="201168"/>
          </a:xfrm>
          <a:prstGeom prst="rect">
            <a:avLst/>
          </a:prstGeom>
        </p:spPr>
      </p:pic>
      <p:sp>
        <p:nvSpPr>
          <p:cNvPr id="18" name="Shape 289"/>
          <p:cNvSpPr/>
          <p:nvPr/>
        </p:nvSpPr>
        <p:spPr>
          <a:xfrm>
            <a:off x="1188720" y="5160645"/>
            <a:ext cx="685800" cy="685800"/>
          </a:xfrm>
          <a:prstGeom prst="ellipse">
            <a:avLst/>
          </a:prstGeom>
          <a:solidFill>
            <a:schemeClr val="accent2"/>
          </a:solidFill>
        </p:spPr>
        <p:txBody>
          <a:bodyPr/>
          <a:p/>
        </p:txBody>
      </p:sp>
      <p:pic>
        <p:nvPicPr>
          <p:cNvPr id="19" name="Icon 290" descr="ShoppingCart"/>
          <p:cNvPicPr>
            <a:picLocks noChangeAspect="1"/>
          </p:cNvPicPr>
          <p:nvPr/>
        </p:nvPicPr>
        <p:blipFill>
          <a:blip r:embed="rId5"/>
          <a:stretch>
            <a:fillRect/>
          </a:stretch>
        </p:blipFill>
        <p:spPr>
          <a:xfrm>
            <a:off x="1360170" y="5332095"/>
            <a:ext cx="342900" cy="342900"/>
          </a:xfrm>
          <a:prstGeom prst="rect">
            <a:avLst/>
          </a:prstGeom>
        </p:spPr>
      </p:pic>
      <p:sp>
        <p:nvSpPr>
          <p:cNvPr id="20" name="Text 291"/>
          <p:cNvSpPr txBox="1"/>
          <p:nvPr/>
        </p:nvSpPr>
        <p:spPr>
          <a:xfrm>
            <a:off x="2103120" y="4972050"/>
            <a:ext cx="3337560" cy="1062990"/>
          </a:xfrm>
          <a:prstGeom prst="rect">
            <a:avLst/>
          </a:prstGeom>
          <a:noFill/>
        </p:spPr>
        <p:txBody>
          <a:bodyPr wrap="square" lIns="0" tIns="0" rIns="0" bIns="0" rtlCol="0" anchor="ctr"/>
          <a:lstStyle/>
          <a:p>
            <a:pPr marL="0" indent="0">
              <a:buNone/>
            </a:pPr>
            <a:r>
              <a:rPr lang="en-US" sz="1600" b="1" dirty="0">
                <a:solidFill>
                  <a:schemeClr val="tx1"/>
                </a:solidFill>
              </a:rPr>
              <a:t>One tap to the Wholesale cart</a:t>
            </a:r>
            <a:endParaRPr lang="en-US" sz="1600" dirty="0"/>
          </a:p>
        </p:txBody>
      </p:sp>
      <p:sp>
        <p:nvSpPr>
          <p:cNvPr id="21" name="Shape 292"/>
          <p:cNvSpPr/>
          <p:nvPr/>
        </p:nvSpPr>
        <p:spPr>
          <a:xfrm>
            <a:off x="6217920" y="1554480"/>
            <a:ext cx="5422392" cy="4709160"/>
          </a:xfrm>
          <a:prstGeom prst="roundRect">
            <a:avLst>
              <a:gd name="adj" fmla="val 1553"/>
            </a:avLst>
          </a:prstGeom>
          <a:solidFill>
            <a:schemeClr val="bg2"/>
          </a:solidFill>
        </p:spPr>
        <p:txBody>
          <a:bodyPr/>
          <a:p/>
        </p:txBody>
      </p:sp>
      <p:sp>
        <p:nvSpPr>
          <p:cNvPr id="22" name="Pill 293"/>
          <p:cNvSpPr/>
          <p:nvPr/>
        </p:nvSpPr>
        <p:spPr>
          <a:xfrm>
            <a:off x="6492240" y="1828800"/>
            <a:ext cx="566928" cy="329184"/>
          </a:xfrm>
          <a:prstGeom prst="roundRect">
            <a:avLst>
              <a:gd name="adj" fmla="val 47222"/>
            </a:avLst>
          </a:prstGeom>
          <a:solidFill>
            <a:schemeClr val="accent2"/>
          </a:solidFill>
        </p:spPr>
        <p:txBody>
          <a:bodyPr wrap="square" lIns="0" tIns="0" rIns="0" bIns="0" rtlCol="0" anchor="ctr"/>
          <a:lstStyle/>
          <a:p>
            <a:pPr marL="0" indent="0" algn="ctr">
              <a:buNone/>
            </a:pPr>
            <a:r>
              <a:rPr lang="en-US" sz="1400" b="1" dirty="0">
                <a:solidFill>
                  <a:schemeClr val="bg1"/>
                </a:solidFill>
              </a:rPr>
              <a:t>2.5</a:t>
            </a:r>
            <a:endParaRPr lang="en-US" sz="1400" dirty="0"/>
          </a:p>
        </p:txBody>
      </p:sp>
      <p:sp>
        <p:nvSpPr>
          <p:cNvPr id="23" name="Text 294"/>
          <p:cNvSpPr txBox="1"/>
          <p:nvPr/>
        </p:nvSpPr>
        <p:spPr>
          <a:xfrm>
            <a:off x="7196328" y="1737360"/>
            <a:ext cx="4169664" cy="512064"/>
          </a:xfrm>
          <a:prstGeom prst="rect">
            <a:avLst/>
          </a:prstGeom>
          <a:noFill/>
        </p:spPr>
        <p:txBody>
          <a:bodyPr wrap="square" lIns="0" tIns="0" rIns="0" bIns="0" rtlCol="0" anchor="ctr"/>
          <a:lstStyle/>
          <a:p>
            <a:pPr marL="0" indent="0">
              <a:buNone/>
            </a:pPr>
            <a:r>
              <a:rPr lang="en-US" sz="1800" b="1" dirty="0">
                <a:solidFill>
                  <a:schemeClr val="tx1"/>
                </a:solidFill>
              </a:rPr>
              <a:t>Real-time inventory sync &amp; alerts</a:t>
            </a:r>
            <a:endParaRPr lang="en-US" sz="1800" dirty="0"/>
          </a:p>
        </p:txBody>
      </p:sp>
      <p:sp>
        <p:nvSpPr>
          <p:cNvPr id="24" name="Text 295"/>
          <p:cNvSpPr txBox="1"/>
          <p:nvPr/>
        </p:nvSpPr>
        <p:spPr>
          <a:xfrm>
            <a:off x="6492240" y="2468880"/>
            <a:ext cx="4873752" cy="2090928"/>
          </a:xfrm>
          <a:prstGeom prst="rect">
            <a:avLst/>
          </a:prstGeom>
          <a:noFill/>
        </p:spPr>
        <p:txBody>
          <a:bodyPr wrap="square" lIns="0" tIns="0" rIns="0" bIns="0" rtlCol="0" anchor="t"/>
          <a:lstStyle/>
          <a:p>
            <a:pPr marL="177800" indent="-177800">
              <a:spcAft>
                <a:spcPts val="1200"/>
              </a:spcAft>
              <a:buSzPct val="100000"/>
              <a:buChar char="•"/>
            </a:pPr>
            <a:r>
              <a:rPr lang="en-US" sz="1600" dirty="0">
                <a:solidFill>
                  <a:schemeClr val="tx1"/>
                </a:solidFill>
              </a:rPr>
              <a:t>Automatically deducts stock on retail sales (scan or select) and adds stock when goods arrive from the Distributor.</a:t>
            </a:r>
            <a:endParaRPr lang="en-US" sz="1600" dirty="0"/>
          </a:p>
          <a:p>
            <a:pPr marL="177800" indent="-177800">
              <a:spcAft>
                <a:spcPts val="1200"/>
              </a:spcAft>
              <a:buSzPct val="100000"/>
              <a:buChar char="•"/>
            </a:pPr>
            <a:r>
              <a:rPr lang="en-US" sz="1600" dirty="0">
                <a:solidFill>
                  <a:schemeClr val="tx1"/>
                </a:solidFill>
              </a:rPr>
              <a:t>Reaching the Safety Stock Threshold triggers an instant alert, with a button to jump to the wholesale ordering flow.</a:t>
            </a:r>
            <a:endParaRPr lang="en-US" sz="1600" dirty="0"/>
          </a:p>
          <a:p>
            <a:pPr marL="177800" indent="-177800">
              <a:spcAft>
                <a:spcPts val="1200"/>
              </a:spcAft>
              <a:buSzPct val="100000"/>
              <a:buChar char="•"/>
            </a:pPr>
            <a:r>
              <a:rPr lang="en-US" sz="1600" dirty="0">
                <a:solidFill>
                  <a:schemeClr val="tx1"/>
                </a:solidFill>
              </a:rPr>
              <a:t>A closed B2B2C loop turns FinViet into a comprehensive business management assistant.</a:t>
            </a:r>
            <a:endParaRPr lang="en-US" sz="1600" dirty="0"/>
          </a:p>
        </p:txBody>
      </p:sp>
      <p:sp>
        <p:nvSpPr>
          <p:cNvPr id="25" name="Shape 296"/>
          <p:cNvSpPr/>
          <p:nvPr/>
        </p:nvSpPr>
        <p:spPr>
          <a:xfrm>
            <a:off x="6492240" y="4696968"/>
            <a:ext cx="4873752" cy="1292352"/>
          </a:xfrm>
          <a:prstGeom prst="roundRect">
            <a:avLst>
              <a:gd name="adj" fmla="val 5660"/>
            </a:avLst>
          </a:prstGeom>
          <a:solidFill>
            <a:schemeClr val="bg1"/>
          </a:solidFill>
        </p:spPr>
        <p:txBody>
          <a:bodyPr/>
          <a:p/>
        </p:txBody>
      </p:sp>
      <p:sp>
        <p:nvSpPr>
          <p:cNvPr id="26" name="Text 297"/>
          <p:cNvSpPr txBox="1"/>
          <p:nvPr/>
        </p:nvSpPr>
        <p:spPr>
          <a:xfrm>
            <a:off x="6675120" y="4806696"/>
            <a:ext cx="4507992" cy="201168"/>
          </a:xfrm>
          <a:prstGeom prst="rect">
            <a:avLst/>
          </a:prstGeom>
          <a:noFill/>
        </p:spPr>
        <p:txBody>
          <a:bodyPr wrap="square" lIns="0" tIns="0" rIns="0" bIns="0" rtlCol="0" anchor="t"/>
          <a:lstStyle/>
          <a:p>
            <a:pPr marL="0" indent="0">
              <a:buNone/>
            </a:pPr>
            <a:r>
              <a:rPr lang="en-US" sz="1200" b="1" dirty="0">
                <a:solidFill>
                  <a:schemeClr val="accent2"/>
                </a:solidFill>
              </a:rPr>
              <a:t>EXAMPLE</a:t>
            </a:r>
            <a:endParaRPr lang="en-US" sz="1200" dirty="0"/>
          </a:p>
        </p:txBody>
      </p:sp>
      <p:sp>
        <p:nvSpPr>
          <p:cNvPr id="27" name="Text 298"/>
          <p:cNvSpPr txBox="1"/>
          <p:nvPr/>
        </p:nvSpPr>
        <p:spPr>
          <a:xfrm>
            <a:off x="6675120" y="5044440"/>
            <a:ext cx="4507992" cy="853440"/>
          </a:xfrm>
          <a:prstGeom prst="rect">
            <a:avLst/>
          </a:prstGeom>
          <a:noFill/>
        </p:spPr>
        <p:txBody>
          <a:bodyPr wrap="square" lIns="0" tIns="0" rIns="0" bIns="0" rtlCol="0" anchor="t"/>
          <a:lstStyle/>
          <a:p>
            <a:pPr marL="0" indent="0">
              <a:buNone/>
            </a:pPr>
            <a:r>
              <a:rPr lang="en-US" sz="1600" dirty="0">
                <a:solidFill>
                  <a:schemeClr val="tx1"/>
                </a:solidFill>
              </a:rPr>
              <a:t>"Product X is running low on the shelf." The store owner no longer learns about stock-outs only when a customer asks.</a:t>
            </a:r>
            <a:endParaRPr lang="en-US" sz="1600" dirty="0"/>
          </a:p>
        </p:txBody>
      </p:sp>
      <p:sp>
        <p:nvSpPr>
          <p:cNvPr id="28"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3"/>
                </a:solidFill>
              </a:rPr>
              <a:t>PILLAR 3  ·  WHOLESALE</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3"/>
                </a:solidFill>
              </a:rPr>
              <a:t>Two-way flows for Distributors</a:t>
            </a:r>
            <a:endParaRPr lang="en-US" sz="3200" dirty="0"/>
          </a:p>
        </p:txBody>
      </p:sp>
      <p:sp>
        <p:nvSpPr>
          <p:cNvPr id="4" name="Shape 299"/>
          <p:cNvSpPr/>
          <p:nvPr/>
        </p:nvSpPr>
        <p:spPr>
          <a:xfrm>
            <a:off x="548640" y="1691640"/>
            <a:ext cx="2194560" cy="1188720"/>
          </a:xfrm>
          <a:prstGeom prst="roundRect">
            <a:avLst>
              <a:gd name="adj" fmla="val 6154"/>
            </a:avLst>
          </a:prstGeom>
          <a:solidFill>
            <a:schemeClr val="bg2"/>
          </a:solidFill>
        </p:spPr>
        <p:txBody>
          <a:bodyPr/>
          <a:p/>
        </p:txBody>
      </p:sp>
      <p:sp>
        <p:nvSpPr>
          <p:cNvPr id="5" name="Shape 300"/>
          <p:cNvSpPr/>
          <p:nvPr/>
        </p:nvSpPr>
        <p:spPr>
          <a:xfrm>
            <a:off x="731520" y="1965960"/>
            <a:ext cx="640080" cy="640080"/>
          </a:xfrm>
          <a:prstGeom prst="ellipse">
            <a:avLst/>
          </a:prstGeom>
          <a:solidFill>
            <a:schemeClr val="accent3"/>
          </a:solidFill>
        </p:spPr>
        <p:txBody>
          <a:bodyPr/>
          <a:p/>
        </p:txBody>
      </p:sp>
      <p:pic>
        <p:nvPicPr>
          <p:cNvPr id="6" name="Icon 301" descr="Building"/>
          <p:cNvPicPr>
            <a:picLocks noChangeAspect="1"/>
          </p:cNvPicPr>
          <p:nvPr/>
        </p:nvPicPr>
        <p:blipFill>
          <a:blip r:embed="rId1"/>
          <a:stretch>
            <a:fillRect/>
          </a:stretch>
        </p:blipFill>
        <p:spPr>
          <a:xfrm>
            <a:off x="891540" y="2125980"/>
            <a:ext cx="320040" cy="320040"/>
          </a:xfrm>
          <a:prstGeom prst="rect">
            <a:avLst/>
          </a:prstGeom>
        </p:spPr>
      </p:pic>
      <p:sp>
        <p:nvSpPr>
          <p:cNvPr id="7" name="Text 302"/>
          <p:cNvSpPr txBox="1"/>
          <p:nvPr/>
        </p:nvSpPr>
        <p:spPr>
          <a:xfrm>
            <a:off x="1508760" y="1691640"/>
            <a:ext cx="1143000" cy="1188720"/>
          </a:xfrm>
          <a:prstGeom prst="rect">
            <a:avLst/>
          </a:prstGeom>
          <a:noFill/>
        </p:spPr>
        <p:txBody>
          <a:bodyPr wrap="square" lIns="0" tIns="0" rIns="0" bIns="0" rtlCol="0" anchor="ctr"/>
          <a:lstStyle/>
          <a:p>
            <a:pPr marL="0" indent="0">
              <a:buNone/>
            </a:pPr>
            <a:r>
              <a:rPr lang="en-US" sz="1600" b="1" dirty="0">
                <a:solidFill>
                  <a:schemeClr val="tx1"/>
                </a:solidFill>
              </a:rPr>
              <a:t>Brand</a:t>
            </a:r>
            <a:endParaRPr lang="en-US" sz="1600" dirty="0"/>
          </a:p>
        </p:txBody>
      </p:sp>
      <p:sp>
        <p:nvSpPr>
          <p:cNvPr id="8" name="Shape 303"/>
          <p:cNvSpPr/>
          <p:nvPr/>
        </p:nvSpPr>
        <p:spPr>
          <a:xfrm>
            <a:off x="4997196" y="1691640"/>
            <a:ext cx="2194560" cy="1188720"/>
          </a:xfrm>
          <a:prstGeom prst="roundRect">
            <a:avLst>
              <a:gd name="adj" fmla="val 6154"/>
            </a:avLst>
          </a:prstGeom>
          <a:solidFill>
            <a:schemeClr val="accent3"/>
          </a:solidFill>
        </p:spPr>
        <p:txBody>
          <a:bodyPr/>
          <a:p/>
        </p:txBody>
      </p:sp>
      <p:sp>
        <p:nvSpPr>
          <p:cNvPr id="9" name="Shape 304"/>
          <p:cNvSpPr/>
          <p:nvPr/>
        </p:nvSpPr>
        <p:spPr>
          <a:xfrm>
            <a:off x="5180076" y="1965960"/>
            <a:ext cx="640080" cy="640080"/>
          </a:xfrm>
          <a:prstGeom prst="ellipse">
            <a:avLst/>
          </a:prstGeom>
          <a:solidFill>
            <a:schemeClr val="bg1"/>
          </a:solidFill>
        </p:spPr>
        <p:txBody>
          <a:bodyPr/>
          <a:p/>
        </p:txBody>
      </p:sp>
      <p:pic>
        <p:nvPicPr>
          <p:cNvPr id="10" name="Icon 305" descr="Warehouse"/>
          <p:cNvPicPr>
            <a:picLocks noChangeAspect="1"/>
          </p:cNvPicPr>
          <p:nvPr/>
        </p:nvPicPr>
        <p:blipFill>
          <a:blip r:embed="rId2"/>
          <a:stretch>
            <a:fillRect/>
          </a:stretch>
        </p:blipFill>
        <p:spPr>
          <a:xfrm>
            <a:off x="5340096" y="2125980"/>
            <a:ext cx="320040" cy="320040"/>
          </a:xfrm>
          <a:prstGeom prst="rect">
            <a:avLst/>
          </a:prstGeom>
        </p:spPr>
      </p:pic>
      <p:sp>
        <p:nvSpPr>
          <p:cNvPr id="11" name="Text 306"/>
          <p:cNvSpPr txBox="1"/>
          <p:nvPr/>
        </p:nvSpPr>
        <p:spPr>
          <a:xfrm>
            <a:off x="5957316" y="1691640"/>
            <a:ext cx="1143000" cy="1188720"/>
          </a:xfrm>
          <a:prstGeom prst="rect">
            <a:avLst/>
          </a:prstGeom>
          <a:noFill/>
        </p:spPr>
        <p:txBody>
          <a:bodyPr wrap="square" lIns="0" tIns="0" rIns="0" bIns="0" rtlCol="0" anchor="ctr"/>
          <a:lstStyle/>
          <a:p>
            <a:pPr marL="0" indent="0">
              <a:buNone/>
            </a:pPr>
            <a:r>
              <a:rPr lang="en-US" sz="1600" b="1" dirty="0">
                <a:solidFill>
                  <a:schemeClr val="bg1"/>
                </a:solidFill>
              </a:rPr>
              <a:t>Distributor (Wholesaler)</a:t>
            </a:r>
            <a:endParaRPr lang="en-US" sz="1600" dirty="0"/>
          </a:p>
        </p:txBody>
      </p:sp>
      <p:sp>
        <p:nvSpPr>
          <p:cNvPr id="12" name="Shape 307"/>
          <p:cNvSpPr/>
          <p:nvPr/>
        </p:nvSpPr>
        <p:spPr>
          <a:xfrm>
            <a:off x="9445752" y="1691640"/>
            <a:ext cx="2194560" cy="1188720"/>
          </a:xfrm>
          <a:prstGeom prst="roundRect">
            <a:avLst>
              <a:gd name="adj" fmla="val 6154"/>
            </a:avLst>
          </a:prstGeom>
          <a:solidFill>
            <a:schemeClr val="bg2"/>
          </a:solidFill>
        </p:spPr>
        <p:txBody>
          <a:bodyPr/>
          <a:p/>
        </p:txBody>
      </p:sp>
      <p:sp>
        <p:nvSpPr>
          <p:cNvPr id="13" name="Shape 308"/>
          <p:cNvSpPr/>
          <p:nvPr/>
        </p:nvSpPr>
        <p:spPr>
          <a:xfrm>
            <a:off x="9628632" y="1965960"/>
            <a:ext cx="640080" cy="640080"/>
          </a:xfrm>
          <a:prstGeom prst="ellipse">
            <a:avLst/>
          </a:prstGeom>
          <a:solidFill>
            <a:schemeClr val="accent3"/>
          </a:solidFill>
        </p:spPr>
        <p:txBody>
          <a:bodyPr/>
          <a:p/>
        </p:txBody>
      </p:sp>
      <p:pic>
        <p:nvPicPr>
          <p:cNvPr id="14" name="Icon 309" descr="Store"/>
          <p:cNvPicPr>
            <a:picLocks noChangeAspect="1"/>
          </p:cNvPicPr>
          <p:nvPr/>
        </p:nvPicPr>
        <p:blipFill>
          <a:blip r:embed="rId3"/>
          <a:stretch>
            <a:fillRect/>
          </a:stretch>
        </p:blipFill>
        <p:spPr>
          <a:xfrm>
            <a:off x="9788652" y="2125980"/>
            <a:ext cx="320040" cy="320040"/>
          </a:xfrm>
          <a:prstGeom prst="rect">
            <a:avLst/>
          </a:prstGeom>
        </p:spPr>
      </p:pic>
      <p:sp>
        <p:nvSpPr>
          <p:cNvPr id="15" name="Text 310"/>
          <p:cNvSpPr txBox="1"/>
          <p:nvPr/>
        </p:nvSpPr>
        <p:spPr>
          <a:xfrm>
            <a:off x="10405872" y="1691640"/>
            <a:ext cx="1143000" cy="1188720"/>
          </a:xfrm>
          <a:prstGeom prst="rect">
            <a:avLst/>
          </a:prstGeom>
          <a:noFill/>
        </p:spPr>
        <p:txBody>
          <a:bodyPr wrap="square" lIns="0" tIns="0" rIns="0" bIns="0" rtlCol="0" anchor="ctr"/>
          <a:lstStyle/>
          <a:p>
            <a:pPr marL="0" indent="0">
              <a:buNone/>
            </a:pPr>
            <a:r>
              <a:rPr lang="en-US" sz="1600" b="1" dirty="0">
                <a:solidFill>
                  <a:schemeClr val="tx1"/>
                </a:solidFill>
              </a:rPr>
              <a:t>Merchant</a:t>
            </a:r>
            <a:endParaRPr lang="en-US" sz="1600" dirty="0"/>
          </a:p>
        </p:txBody>
      </p:sp>
      <p:sp>
        <p:nvSpPr>
          <p:cNvPr id="16" name="Text 311"/>
          <p:cNvSpPr txBox="1"/>
          <p:nvPr/>
        </p:nvSpPr>
        <p:spPr>
          <a:xfrm>
            <a:off x="2834640" y="1783080"/>
            <a:ext cx="2071116" cy="274320"/>
          </a:xfrm>
          <a:prstGeom prst="rect">
            <a:avLst/>
          </a:prstGeom>
          <a:noFill/>
        </p:spPr>
        <p:txBody>
          <a:bodyPr wrap="square" lIns="0" tIns="0" rIns="0" bIns="0" rtlCol="0" anchor="t"/>
          <a:lstStyle/>
          <a:p>
            <a:pPr marL="0" indent="0" algn="ctr">
              <a:buNone/>
            </a:pPr>
            <a:r>
              <a:rPr lang="en-US" sz="1400" b="1" dirty="0">
                <a:solidFill>
                  <a:schemeClr val="accent3"/>
                </a:solidFill>
              </a:rPr>
              <a:t>PRIMARY INWARD</a:t>
            </a:r>
            <a:endParaRPr lang="en-US" sz="1400" dirty="0"/>
          </a:p>
        </p:txBody>
      </p:sp>
      <p:sp>
        <p:nvSpPr>
          <p:cNvPr id="17" name="Shape 312"/>
          <p:cNvSpPr/>
          <p:nvPr/>
        </p:nvSpPr>
        <p:spPr>
          <a:xfrm>
            <a:off x="2834640" y="2286000"/>
            <a:ext cx="2071116" cy="0"/>
          </a:xfrm>
          <a:prstGeom prst="line">
            <a:avLst/>
          </a:prstGeom>
          <a:noFill/>
          <a:ln w="25400">
            <a:solidFill>
              <a:schemeClr val="accent1"/>
            </a:solidFill>
            <a:prstDash val="solid"/>
            <a:tailEnd type="triangle"/>
          </a:ln>
        </p:spPr>
        <p:txBody>
          <a:bodyPr/>
          <a:p/>
        </p:txBody>
      </p:sp>
      <p:sp>
        <p:nvSpPr>
          <p:cNvPr id="18" name="Text 313"/>
          <p:cNvSpPr txBox="1"/>
          <p:nvPr/>
        </p:nvSpPr>
        <p:spPr>
          <a:xfrm>
            <a:off x="2926080" y="2468880"/>
            <a:ext cx="1888236" cy="914400"/>
          </a:xfrm>
          <a:prstGeom prst="rect">
            <a:avLst/>
          </a:prstGeom>
          <a:noFill/>
        </p:spPr>
        <p:txBody>
          <a:bodyPr wrap="square" lIns="0" tIns="0" rIns="0" bIns="0" rtlCol="0" anchor="t"/>
          <a:lstStyle/>
          <a:p>
            <a:pPr marL="0" indent="0" algn="ctr">
              <a:buNone/>
            </a:pPr>
            <a:r>
              <a:rPr lang="en-US" sz="1400" dirty="0">
                <a:solidFill>
                  <a:schemeClr val="tx1"/>
                </a:solidFill>
              </a:rPr>
              <a:t>Distributors order directly from the Brand through the app, under the signed commercial contract.</a:t>
            </a:r>
            <a:endParaRPr lang="en-US" sz="1400" dirty="0"/>
          </a:p>
        </p:txBody>
      </p:sp>
      <p:sp>
        <p:nvSpPr>
          <p:cNvPr id="19" name="Text 314"/>
          <p:cNvSpPr txBox="1"/>
          <p:nvPr/>
        </p:nvSpPr>
        <p:spPr>
          <a:xfrm>
            <a:off x="7283196" y="1783080"/>
            <a:ext cx="2071116" cy="274320"/>
          </a:xfrm>
          <a:prstGeom prst="rect">
            <a:avLst/>
          </a:prstGeom>
          <a:noFill/>
        </p:spPr>
        <p:txBody>
          <a:bodyPr wrap="square" lIns="0" tIns="0" rIns="0" bIns="0" rtlCol="0" anchor="t"/>
          <a:lstStyle/>
          <a:p>
            <a:pPr marL="0" indent="0" algn="ctr">
              <a:buNone/>
            </a:pPr>
            <a:r>
              <a:rPr lang="en-US" sz="1400" b="1" dirty="0">
                <a:solidFill>
                  <a:schemeClr val="accent3"/>
                </a:solidFill>
              </a:rPr>
              <a:t>SECONDARY OUTWARD</a:t>
            </a:r>
            <a:endParaRPr lang="en-US" sz="1400" dirty="0"/>
          </a:p>
        </p:txBody>
      </p:sp>
      <p:sp>
        <p:nvSpPr>
          <p:cNvPr id="20" name="Shape 315"/>
          <p:cNvSpPr/>
          <p:nvPr/>
        </p:nvSpPr>
        <p:spPr>
          <a:xfrm>
            <a:off x="7283196" y="2286000"/>
            <a:ext cx="2071116" cy="0"/>
          </a:xfrm>
          <a:prstGeom prst="line">
            <a:avLst/>
          </a:prstGeom>
          <a:noFill/>
          <a:ln w="25400">
            <a:solidFill>
              <a:schemeClr val="accent1"/>
            </a:solidFill>
            <a:prstDash val="solid"/>
            <a:tailEnd type="triangle"/>
          </a:ln>
        </p:spPr>
        <p:txBody>
          <a:bodyPr/>
          <a:p/>
        </p:txBody>
      </p:sp>
      <p:sp>
        <p:nvSpPr>
          <p:cNvPr id="21" name="Text 316"/>
          <p:cNvSpPr txBox="1"/>
          <p:nvPr/>
        </p:nvSpPr>
        <p:spPr>
          <a:xfrm>
            <a:off x="7374636" y="2468880"/>
            <a:ext cx="1888236" cy="914400"/>
          </a:xfrm>
          <a:prstGeom prst="rect">
            <a:avLst/>
          </a:prstGeom>
          <a:noFill/>
        </p:spPr>
        <p:txBody>
          <a:bodyPr wrap="square" lIns="0" tIns="0" rIns="0" bIns="0" rtlCol="0" anchor="t"/>
          <a:lstStyle/>
          <a:p>
            <a:pPr marL="0" indent="0" algn="ctr">
              <a:buNone/>
            </a:pPr>
            <a:r>
              <a:rPr lang="en-US" sz="1400" dirty="0">
                <a:solidFill>
                  <a:schemeClr val="tx1"/>
                </a:solidFill>
              </a:rPr>
              <a:t>Incoming goods are automatically added to inventory for resale to Merchants in the managed region.</a:t>
            </a:r>
            <a:endParaRPr lang="en-US" sz="1400" dirty="0"/>
          </a:p>
        </p:txBody>
      </p:sp>
      <p:sp>
        <p:nvSpPr>
          <p:cNvPr id="22" name="Shape 317"/>
          <p:cNvSpPr/>
          <p:nvPr/>
        </p:nvSpPr>
        <p:spPr>
          <a:xfrm>
            <a:off x="548640" y="4160520"/>
            <a:ext cx="11091672" cy="2057400"/>
          </a:xfrm>
          <a:prstGeom prst="roundRect">
            <a:avLst>
              <a:gd name="adj" fmla="val 3556"/>
            </a:avLst>
          </a:prstGeom>
          <a:solidFill>
            <a:schemeClr val="accent3"/>
          </a:solidFill>
        </p:spPr>
        <p:txBody>
          <a:bodyPr/>
          <a:p/>
        </p:txBody>
      </p:sp>
      <p:sp>
        <p:nvSpPr>
          <p:cNvPr id="23" name="Text 318"/>
          <p:cNvSpPr txBox="1"/>
          <p:nvPr/>
        </p:nvSpPr>
        <p:spPr>
          <a:xfrm>
            <a:off x="914400" y="4434840"/>
            <a:ext cx="5486400" cy="274320"/>
          </a:xfrm>
          <a:prstGeom prst="rect">
            <a:avLst/>
          </a:prstGeom>
          <a:noFill/>
        </p:spPr>
        <p:txBody>
          <a:bodyPr wrap="square" lIns="0" tIns="0" rIns="0" bIns="0" rtlCol="0" anchor="t"/>
          <a:lstStyle/>
          <a:p>
            <a:pPr marL="0" indent="0">
              <a:buNone/>
            </a:pPr>
            <a:r>
              <a:rPr lang="en-US" sz="1400" b="1" dirty="0">
                <a:solidFill>
                  <a:schemeClr val="bg1"/>
                </a:solidFill>
              </a:rPr>
              <a:t>STRATEGIC PURPOSE</a:t>
            </a:r>
            <a:endParaRPr lang="en-US" sz="1400" dirty="0"/>
          </a:p>
        </p:txBody>
      </p:sp>
      <p:sp>
        <p:nvSpPr>
          <p:cNvPr id="24" name="Text 319"/>
          <p:cNvSpPr txBox="1"/>
          <p:nvPr/>
        </p:nvSpPr>
        <p:spPr>
          <a:xfrm>
            <a:off x="914400" y="4800600"/>
            <a:ext cx="10332720" cy="548640"/>
          </a:xfrm>
          <a:prstGeom prst="rect">
            <a:avLst/>
          </a:prstGeom>
          <a:noFill/>
        </p:spPr>
        <p:txBody>
          <a:bodyPr wrap="square" lIns="0" tIns="0" rIns="0" bIns="0" rtlCol="0" anchor="ctr"/>
          <a:lstStyle/>
          <a:p>
            <a:pPr marL="0" indent="0">
              <a:buNone/>
            </a:pPr>
            <a:r>
              <a:rPr lang="en-US" sz="2800" b="1" dirty="0">
                <a:solidFill>
                  <a:schemeClr val="bg1"/>
                </a:solidFill>
              </a:rPr>
              <a:t>Lock Brands and Distributors into the FinViet platform</a:t>
            </a:r>
            <a:endParaRPr lang="en-US" sz="2800" dirty="0"/>
          </a:p>
        </p:txBody>
      </p:sp>
      <p:sp>
        <p:nvSpPr>
          <p:cNvPr id="25" name="Text 320"/>
          <p:cNvSpPr txBox="1"/>
          <p:nvPr/>
        </p:nvSpPr>
        <p:spPr>
          <a:xfrm>
            <a:off x="914400" y="5486400"/>
            <a:ext cx="10332720" cy="411480"/>
          </a:xfrm>
          <a:prstGeom prst="rect">
            <a:avLst/>
          </a:prstGeom>
          <a:noFill/>
        </p:spPr>
        <p:txBody>
          <a:bodyPr wrap="square" lIns="0" tIns="0" rIns="0" bIns="0" rtlCol="0" anchor="ctr"/>
          <a:lstStyle/>
          <a:p>
            <a:pPr marL="0" indent="0">
              <a:buNone/>
            </a:pPr>
            <a:r>
              <a:rPr lang="en-US" sz="1800" dirty="0">
                <a:solidFill>
                  <a:schemeClr val="bg1"/>
                </a:solidFill>
              </a:rPr>
              <a:t>Make FinViet the only digital transaction gateway in the distribution chain.</a:t>
            </a:r>
            <a:endParaRPr lang="en-US" sz="1800" dirty="0"/>
          </a:p>
        </p:txBody>
      </p:sp>
      <p:sp>
        <p:nvSpPr>
          <p:cNvPr id="26"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3"/>
                </a:solidFill>
              </a:rPr>
              <a:t>PILLAR 3  ·  WHOLESALE</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3"/>
                </a:solidFill>
              </a:rPr>
              <a:t>Primary Ordering, Inventory Sync &amp; Rebate</a:t>
            </a:r>
            <a:endParaRPr lang="en-US" sz="3200" dirty="0"/>
          </a:p>
        </p:txBody>
      </p:sp>
      <p:sp>
        <p:nvSpPr>
          <p:cNvPr id="4" name="Shape 321"/>
          <p:cNvSpPr/>
          <p:nvPr/>
        </p:nvSpPr>
        <p:spPr>
          <a:xfrm>
            <a:off x="548640" y="1554480"/>
            <a:ext cx="3514344" cy="4709160"/>
          </a:xfrm>
          <a:prstGeom prst="roundRect">
            <a:avLst>
              <a:gd name="adj" fmla="val 2082"/>
            </a:avLst>
          </a:prstGeom>
          <a:solidFill>
            <a:schemeClr val="bg2"/>
          </a:solidFill>
        </p:spPr>
        <p:txBody>
          <a:bodyPr/>
          <a:p/>
        </p:txBody>
      </p:sp>
      <p:sp>
        <p:nvSpPr>
          <p:cNvPr id="5" name="Shape 322"/>
          <p:cNvSpPr/>
          <p:nvPr/>
        </p:nvSpPr>
        <p:spPr>
          <a:xfrm>
            <a:off x="777240" y="1828800"/>
            <a:ext cx="731520" cy="731520"/>
          </a:xfrm>
          <a:prstGeom prst="ellipse">
            <a:avLst/>
          </a:prstGeom>
          <a:solidFill>
            <a:schemeClr val="accent3"/>
          </a:solidFill>
        </p:spPr>
        <p:txBody>
          <a:bodyPr/>
          <a:p/>
        </p:txBody>
      </p:sp>
      <p:pic>
        <p:nvPicPr>
          <p:cNvPr id="6" name="Icon 323" descr="ClipboardList"/>
          <p:cNvPicPr>
            <a:picLocks noChangeAspect="1"/>
          </p:cNvPicPr>
          <p:nvPr/>
        </p:nvPicPr>
        <p:blipFill>
          <a:blip r:embed="rId1"/>
          <a:stretch>
            <a:fillRect/>
          </a:stretch>
        </p:blipFill>
        <p:spPr>
          <a:xfrm>
            <a:off x="960120" y="2011680"/>
            <a:ext cx="365760" cy="365760"/>
          </a:xfrm>
          <a:prstGeom prst="rect">
            <a:avLst/>
          </a:prstGeom>
        </p:spPr>
      </p:pic>
      <p:sp>
        <p:nvSpPr>
          <p:cNvPr id="7" name="Pill 324"/>
          <p:cNvSpPr/>
          <p:nvPr/>
        </p:nvSpPr>
        <p:spPr>
          <a:xfrm>
            <a:off x="1737360" y="1847088"/>
            <a:ext cx="566928" cy="292608"/>
          </a:xfrm>
          <a:prstGeom prst="roundRect">
            <a:avLst>
              <a:gd name="adj" fmla="val 53125"/>
            </a:avLst>
          </a:prstGeom>
          <a:solidFill>
            <a:schemeClr val="accent3"/>
          </a:solidFill>
        </p:spPr>
        <p:txBody>
          <a:bodyPr wrap="square" lIns="0" tIns="0" rIns="0" bIns="0" rtlCol="0" anchor="ctr"/>
          <a:lstStyle/>
          <a:p>
            <a:pPr marL="0" indent="0" algn="ctr">
              <a:buNone/>
            </a:pPr>
            <a:r>
              <a:rPr lang="en-US" sz="1400" b="1" dirty="0">
                <a:solidFill>
                  <a:schemeClr val="bg1"/>
                </a:solidFill>
              </a:rPr>
              <a:t>3.1</a:t>
            </a:r>
            <a:endParaRPr lang="en-US" sz="1400" dirty="0"/>
          </a:p>
        </p:txBody>
      </p:sp>
      <p:sp>
        <p:nvSpPr>
          <p:cNvPr id="8" name="Text 325"/>
          <p:cNvSpPr txBox="1"/>
          <p:nvPr/>
        </p:nvSpPr>
        <p:spPr>
          <a:xfrm>
            <a:off x="1737360"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Primary Ordering Gateway</a:t>
            </a:r>
            <a:endParaRPr lang="en-US" sz="1600" dirty="0"/>
          </a:p>
        </p:txBody>
      </p:sp>
      <p:sp>
        <p:nvSpPr>
          <p:cNvPr id="9" name="Text 326"/>
          <p:cNvSpPr txBox="1"/>
          <p:nvPr/>
        </p:nvSpPr>
        <p:spPr>
          <a:xfrm>
            <a:off x="777240" y="2880360"/>
            <a:ext cx="3057144" cy="164388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Dedicated Distributor role in the app.</a:t>
            </a:r>
            <a:endParaRPr lang="en-US" sz="1400" dirty="0"/>
          </a:p>
          <a:p>
            <a:pPr marL="177800" indent="-177800">
              <a:spcAft>
                <a:spcPts val="600"/>
              </a:spcAft>
              <a:buSzPct val="100000"/>
              <a:buChar char="•"/>
            </a:pPr>
            <a:r>
              <a:rPr lang="en-US" sz="1400" dirty="0">
                <a:solidFill>
                  <a:schemeClr val="tx1"/>
                </a:solidFill>
              </a:rPr>
              <a:t>View the Brand catalog, apply Tier-1 wholesale prices, control the Credit Limit.</a:t>
            </a:r>
            <a:endParaRPr lang="en-US" sz="1400" dirty="0"/>
          </a:p>
          <a:p>
            <a:pPr marL="177800" indent="-177800">
              <a:spcAft>
                <a:spcPts val="600"/>
              </a:spcAft>
              <a:buSzPct val="100000"/>
              <a:buChar char="•"/>
            </a:pPr>
            <a:r>
              <a:rPr lang="en-US" sz="1400" dirty="0">
                <a:solidFill>
                  <a:schemeClr val="tx1"/>
                </a:solidFill>
              </a:rPr>
              <a:t>Create large orders (pallet or truckload), connected to the Brand's ERP/DMS for approval and dispatch.</a:t>
            </a:r>
            <a:endParaRPr lang="en-US" sz="1400" dirty="0"/>
          </a:p>
        </p:txBody>
      </p:sp>
      <p:sp>
        <p:nvSpPr>
          <p:cNvPr id="10" name="Shape 327"/>
          <p:cNvSpPr/>
          <p:nvPr/>
        </p:nvSpPr>
        <p:spPr>
          <a:xfrm>
            <a:off x="777240" y="4615688"/>
            <a:ext cx="3057144" cy="1419352"/>
          </a:xfrm>
          <a:prstGeom prst="roundRect">
            <a:avLst>
              <a:gd name="adj" fmla="val 5154"/>
            </a:avLst>
          </a:prstGeom>
          <a:solidFill>
            <a:schemeClr val="bg1"/>
          </a:solidFill>
        </p:spPr>
        <p:txBody>
          <a:bodyPr/>
          <a:p/>
        </p:txBody>
      </p:sp>
      <p:sp>
        <p:nvSpPr>
          <p:cNvPr id="11" name="Text 328"/>
          <p:cNvSpPr txBox="1"/>
          <p:nvPr/>
        </p:nvSpPr>
        <p:spPr>
          <a:xfrm>
            <a:off x="960120" y="4725416"/>
            <a:ext cx="2691384" cy="201168"/>
          </a:xfrm>
          <a:prstGeom prst="rect">
            <a:avLst/>
          </a:prstGeom>
          <a:noFill/>
        </p:spPr>
        <p:txBody>
          <a:bodyPr wrap="square" lIns="0" tIns="0" rIns="0" bIns="0" rtlCol="0" anchor="t"/>
          <a:lstStyle/>
          <a:p>
            <a:pPr marL="0" indent="0">
              <a:buNone/>
            </a:pPr>
            <a:r>
              <a:rPr lang="en-US" sz="1200" b="1" dirty="0">
                <a:solidFill>
                  <a:schemeClr val="accent3"/>
                </a:solidFill>
              </a:rPr>
              <a:t>REPLACES</a:t>
            </a:r>
            <a:endParaRPr lang="en-US" sz="1200" dirty="0"/>
          </a:p>
        </p:txBody>
      </p:sp>
      <p:sp>
        <p:nvSpPr>
          <p:cNvPr id="12" name="Text 329"/>
          <p:cNvSpPr txBox="1"/>
          <p:nvPr/>
        </p:nvSpPr>
        <p:spPr>
          <a:xfrm>
            <a:off x="960120" y="4963160"/>
            <a:ext cx="2691384" cy="980440"/>
          </a:xfrm>
          <a:prstGeom prst="rect">
            <a:avLst/>
          </a:prstGeom>
          <a:noFill/>
        </p:spPr>
        <p:txBody>
          <a:bodyPr wrap="square" lIns="0" tIns="0" rIns="0" bIns="0" rtlCol="0" anchor="t"/>
          <a:lstStyle/>
          <a:p>
            <a:pPr marL="0" indent="0">
              <a:buNone/>
            </a:pPr>
            <a:r>
              <a:rPr lang="en-US" sz="1400" dirty="0">
                <a:solidFill>
                  <a:schemeClr val="tx1"/>
                </a:solidFill>
              </a:rPr>
              <a:t>No more phone calls, Zalo messages or manual Excel files to the Brand's Admin/Sales team.</a:t>
            </a:r>
            <a:endParaRPr lang="en-US" sz="1400" dirty="0"/>
          </a:p>
        </p:txBody>
      </p:sp>
      <p:sp>
        <p:nvSpPr>
          <p:cNvPr id="13" name="Shape 330"/>
          <p:cNvSpPr/>
          <p:nvPr/>
        </p:nvSpPr>
        <p:spPr>
          <a:xfrm>
            <a:off x="4337304" y="1554480"/>
            <a:ext cx="3514344" cy="4709160"/>
          </a:xfrm>
          <a:prstGeom prst="roundRect">
            <a:avLst>
              <a:gd name="adj" fmla="val 2082"/>
            </a:avLst>
          </a:prstGeom>
          <a:solidFill>
            <a:schemeClr val="bg2"/>
          </a:solidFill>
        </p:spPr>
        <p:txBody>
          <a:bodyPr/>
          <a:p/>
        </p:txBody>
      </p:sp>
      <p:sp>
        <p:nvSpPr>
          <p:cNvPr id="14" name="Shape 331"/>
          <p:cNvSpPr/>
          <p:nvPr/>
        </p:nvSpPr>
        <p:spPr>
          <a:xfrm>
            <a:off x="4565904" y="1828800"/>
            <a:ext cx="731520" cy="731520"/>
          </a:xfrm>
          <a:prstGeom prst="ellipse">
            <a:avLst/>
          </a:prstGeom>
          <a:solidFill>
            <a:schemeClr val="accent3"/>
          </a:solidFill>
        </p:spPr>
        <p:txBody>
          <a:bodyPr/>
          <a:p/>
        </p:txBody>
      </p:sp>
      <p:pic>
        <p:nvPicPr>
          <p:cNvPr id="15" name="Icon 332" descr="SyncAlt"/>
          <p:cNvPicPr>
            <a:picLocks noChangeAspect="1"/>
          </p:cNvPicPr>
          <p:nvPr/>
        </p:nvPicPr>
        <p:blipFill>
          <a:blip r:embed="rId2"/>
          <a:stretch>
            <a:fillRect/>
          </a:stretch>
        </p:blipFill>
        <p:spPr>
          <a:xfrm>
            <a:off x="4748784" y="2011680"/>
            <a:ext cx="365760" cy="365760"/>
          </a:xfrm>
          <a:prstGeom prst="rect">
            <a:avLst/>
          </a:prstGeom>
        </p:spPr>
      </p:pic>
      <p:sp>
        <p:nvSpPr>
          <p:cNvPr id="16" name="Pill 333"/>
          <p:cNvSpPr/>
          <p:nvPr/>
        </p:nvSpPr>
        <p:spPr>
          <a:xfrm>
            <a:off x="5526024" y="1847088"/>
            <a:ext cx="566928" cy="292608"/>
          </a:xfrm>
          <a:prstGeom prst="roundRect">
            <a:avLst>
              <a:gd name="adj" fmla="val 53125"/>
            </a:avLst>
          </a:prstGeom>
          <a:solidFill>
            <a:schemeClr val="accent3"/>
          </a:solidFill>
        </p:spPr>
        <p:txBody>
          <a:bodyPr wrap="square" lIns="0" tIns="0" rIns="0" bIns="0" rtlCol="0" anchor="ctr"/>
          <a:lstStyle/>
          <a:p>
            <a:pPr marL="0" indent="0" algn="ctr">
              <a:buNone/>
            </a:pPr>
            <a:r>
              <a:rPr lang="en-US" sz="1400" b="1" dirty="0">
                <a:solidFill>
                  <a:schemeClr val="bg1"/>
                </a:solidFill>
              </a:rPr>
              <a:t>3.2</a:t>
            </a:r>
            <a:endParaRPr lang="en-US" sz="1400" dirty="0"/>
          </a:p>
        </p:txBody>
      </p:sp>
      <p:sp>
        <p:nvSpPr>
          <p:cNvPr id="17" name="Text 334"/>
          <p:cNvSpPr txBox="1"/>
          <p:nvPr/>
        </p:nvSpPr>
        <p:spPr>
          <a:xfrm>
            <a:off x="5526024"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Two-way Inventory Sync</a:t>
            </a:r>
            <a:endParaRPr lang="en-US" sz="1600" dirty="0"/>
          </a:p>
        </p:txBody>
      </p:sp>
      <p:sp>
        <p:nvSpPr>
          <p:cNvPr id="18" name="Text 335"/>
          <p:cNvSpPr txBox="1"/>
          <p:nvPr/>
        </p:nvSpPr>
        <p:spPr>
          <a:xfrm>
            <a:off x="4565904" y="2880360"/>
            <a:ext cx="3057144" cy="164388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Once a Brand order is delivered, it is automatically added to the Distributor's Available Inventory.</a:t>
            </a:r>
            <a:endParaRPr lang="en-US" sz="1400" dirty="0"/>
          </a:p>
          <a:p>
            <a:pPr marL="177800" indent="-177800">
              <a:spcAft>
                <a:spcPts val="600"/>
              </a:spcAft>
              <a:buSzPct val="100000"/>
              <a:buChar char="•"/>
            </a:pPr>
            <a:r>
              <a:rPr lang="en-US" sz="1400" dirty="0">
                <a:solidFill>
                  <a:schemeClr val="tx1"/>
                </a:solidFill>
              </a:rPr>
              <a:t>Stock is immediately visible to Merchants in the region (instant secondary sales).</a:t>
            </a:r>
            <a:endParaRPr lang="en-US" sz="1400" dirty="0"/>
          </a:p>
          <a:p>
            <a:pPr marL="177800" indent="-177800">
              <a:spcAft>
                <a:spcPts val="600"/>
              </a:spcAft>
              <a:buSzPct val="100000"/>
              <a:buChar char="•"/>
            </a:pPr>
            <a:r>
              <a:rPr lang="en-US" sz="1400" dirty="0">
                <a:solidFill>
                  <a:schemeClr val="tx1"/>
                </a:solidFill>
              </a:rPr>
              <a:t>When a Merchant orders and delivery succeeds, stock is automatically deducted.</a:t>
            </a:r>
            <a:endParaRPr lang="en-US" sz="1400" dirty="0"/>
          </a:p>
        </p:txBody>
      </p:sp>
      <p:sp>
        <p:nvSpPr>
          <p:cNvPr id="19" name="Shape 336"/>
          <p:cNvSpPr/>
          <p:nvPr/>
        </p:nvSpPr>
        <p:spPr>
          <a:xfrm>
            <a:off x="4565904" y="4615688"/>
            <a:ext cx="3057144" cy="1419352"/>
          </a:xfrm>
          <a:prstGeom prst="roundRect">
            <a:avLst>
              <a:gd name="adj" fmla="val 5154"/>
            </a:avLst>
          </a:prstGeom>
          <a:solidFill>
            <a:schemeClr val="bg1"/>
          </a:solidFill>
        </p:spPr>
        <p:txBody>
          <a:bodyPr/>
          <a:p/>
        </p:txBody>
      </p:sp>
      <p:sp>
        <p:nvSpPr>
          <p:cNvPr id="20" name="Text 337"/>
          <p:cNvSpPr txBox="1"/>
          <p:nvPr/>
        </p:nvSpPr>
        <p:spPr>
          <a:xfrm>
            <a:off x="4748784" y="4725416"/>
            <a:ext cx="2691384" cy="201168"/>
          </a:xfrm>
          <a:prstGeom prst="rect">
            <a:avLst/>
          </a:prstGeom>
          <a:noFill/>
        </p:spPr>
        <p:txBody>
          <a:bodyPr wrap="square" lIns="0" tIns="0" rIns="0" bIns="0" rtlCol="0" anchor="t"/>
          <a:lstStyle/>
          <a:p>
            <a:pPr marL="0" indent="0">
              <a:buNone/>
            </a:pPr>
            <a:r>
              <a:rPr lang="en-US" sz="1200" b="1" dirty="0">
                <a:solidFill>
                  <a:schemeClr val="accent3"/>
                </a:solidFill>
              </a:rPr>
              <a:t>VALUE</a:t>
            </a:r>
            <a:endParaRPr lang="en-US" sz="1200" dirty="0"/>
          </a:p>
        </p:txBody>
      </p:sp>
      <p:sp>
        <p:nvSpPr>
          <p:cNvPr id="21" name="Text 338"/>
          <p:cNvSpPr txBox="1"/>
          <p:nvPr/>
        </p:nvSpPr>
        <p:spPr>
          <a:xfrm>
            <a:off x="4748784" y="4963160"/>
            <a:ext cx="2691384" cy="980440"/>
          </a:xfrm>
          <a:prstGeom prst="rect">
            <a:avLst/>
          </a:prstGeom>
          <a:noFill/>
        </p:spPr>
        <p:txBody>
          <a:bodyPr wrap="square" lIns="0" tIns="0" rIns="0" bIns="0" rtlCol="0" anchor="t"/>
          <a:lstStyle/>
          <a:p>
            <a:pPr marL="0" indent="0">
              <a:buNone/>
            </a:pPr>
            <a:r>
              <a:rPr lang="en-US" sz="1400" dirty="0">
                <a:solidFill>
                  <a:schemeClr val="tx1"/>
                </a:solidFill>
              </a:rPr>
              <a:t>Real-time Visibility: compare Sell-out with Sell-in to optimize inventory turnover.</a:t>
            </a:r>
            <a:endParaRPr lang="en-US" sz="1400" dirty="0"/>
          </a:p>
        </p:txBody>
      </p:sp>
      <p:sp>
        <p:nvSpPr>
          <p:cNvPr id="22" name="Shape 339"/>
          <p:cNvSpPr/>
          <p:nvPr/>
        </p:nvSpPr>
        <p:spPr>
          <a:xfrm>
            <a:off x="8125968" y="1554480"/>
            <a:ext cx="3514344" cy="4709160"/>
          </a:xfrm>
          <a:prstGeom prst="roundRect">
            <a:avLst>
              <a:gd name="adj" fmla="val 2082"/>
            </a:avLst>
          </a:prstGeom>
          <a:solidFill>
            <a:schemeClr val="bg2"/>
          </a:solidFill>
        </p:spPr>
        <p:txBody>
          <a:bodyPr/>
          <a:p/>
        </p:txBody>
      </p:sp>
      <p:sp>
        <p:nvSpPr>
          <p:cNvPr id="23" name="Shape 340"/>
          <p:cNvSpPr/>
          <p:nvPr/>
        </p:nvSpPr>
        <p:spPr>
          <a:xfrm>
            <a:off x="8354568" y="1828800"/>
            <a:ext cx="731520" cy="731520"/>
          </a:xfrm>
          <a:prstGeom prst="ellipse">
            <a:avLst/>
          </a:prstGeom>
          <a:solidFill>
            <a:schemeClr val="accent3"/>
          </a:solidFill>
        </p:spPr>
        <p:txBody>
          <a:bodyPr/>
          <a:p/>
        </p:txBody>
      </p:sp>
      <p:pic>
        <p:nvPicPr>
          <p:cNvPr id="24" name="Icon 341" descr="Percent"/>
          <p:cNvPicPr>
            <a:picLocks noChangeAspect="1"/>
          </p:cNvPicPr>
          <p:nvPr/>
        </p:nvPicPr>
        <p:blipFill>
          <a:blip r:embed="rId3"/>
          <a:stretch>
            <a:fillRect/>
          </a:stretch>
        </p:blipFill>
        <p:spPr>
          <a:xfrm>
            <a:off x="8537448" y="2011680"/>
            <a:ext cx="365760" cy="365760"/>
          </a:xfrm>
          <a:prstGeom prst="rect">
            <a:avLst/>
          </a:prstGeom>
        </p:spPr>
      </p:pic>
      <p:sp>
        <p:nvSpPr>
          <p:cNvPr id="25" name="Pill 342"/>
          <p:cNvSpPr/>
          <p:nvPr/>
        </p:nvSpPr>
        <p:spPr>
          <a:xfrm>
            <a:off x="9314688" y="1847088"/>
            <a:ext cx="566928" cy="292608"/>
          </a:xfrm>
          <a:prstGeom prst="roundRect">
            <a:avLst>
              <a:gd name="adj" fmla="val 53125"/>
            </a:avLst>
          </a:prstGeom>
          <a:solidFill>
            <a:schemeClr val="accent3"/>
          </a:solidFill>
        </p:spPr>
        <p:txBody>
          <a:bodyPr wrap="square" lIns="0" tIns="0" rIns="0" bIns="0" rtlCol="0" anchor="ctr"/>
          <a:lstStyle/>
          <a:p>
            <a:pPr marL="0" indent="0" algn="ctr">
              <a:buNone/>
            </a:pPr>
            <a:r>
              <a:rPr lang="en-US" sz="1400" b="1" dirty="0">
                <a:solidFill>
                  <a:schemeClr val="bg1"/>
                </a:solidFill>
              </a:rPr>
              <a:t>3.3</a:t>
            </a:r>
            <a:endParaRPr lang="en-US" sz="1400" dirty="0"/>
          </a:p>
        </p:txBody>
      </p:sp>
      <p:sp>
        <p:nvSpPr>
          <p:cNvPr id="26" name="Text 343"/>
          <p:cNvSpPr txBox="1"/>
          <p:nvPr/>
        </p:nvSpPr>
        <p:spPr>
          <a:xfrm>
            <a:off x="9314688"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Target &amp; Rebate Tracking</a:t>
            </a:r>
            <a:endParaRPr lang="en-US" sz="1600" dirty="0"/>
          </a:p>
        </p:txBody>
      </p:sp>
      <p:sp>
        <p:nvSpPr>
          <p:cNvPr id="27" name="Text 344"/>
          <p:cNvSpPr txBox="1"/>
          <p:nvPr/>
        </p:nvSpPr>
        <p:spPr>
          <a:xfrm>
            <a:off x="8354568" y="2880360"/>
            <a:ext cx="3057144" cy="164388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Track the remaining credit limit and payment terms with the Brand.</a:t>
            </a:r>
            <a:endParaRPr lang="en-US" sz="1400" dirty="0"/>
          </a:p>
          <a:p>
            <a:pPr marL="177800" indent="-177800">
              <a:spcAft>
                <a:spcPts val="600"/>
              </a:spcAft>
              <a:buSzPct val="100000"/>
              <a:buChar char="•"/>
            </a:pPr>
            <a:r>
              <a:rPr lang="en-US" sz="1400" dirty="0">
                <a:solidFill>
                  <a:schemeClr val="tx1"/>
                </a:solidFill>
              </a:rPr>
              <a:t>Sales progress bar against monthly or quarterly targets to earn Rebates / Kickbacks.</a:t>
            </a:r>
            <a:endParaRPr lang="en-US" sz="1400" dirty="0"/>
          </a:p>
        </p:txBody>
      </p:sp>
      <p:sp>
        <p:nvSpPr>
          <p:cNvPr id="28" name="Shape 345"/>
          <p:cNvSpPr/>
          <p:nvPr/>
        </p:nvSpPr>
        <p:spPr>
          <a:xfrm>
            <a:off x="8354568" y="4615688"/>
            <a:ext cx="3057144" cy="1419352"/>
          </a:xfrm>
          <a:prstGeom prst="roundRect">
            <a:avLst>
              <a:gd name="adj" fmla="val 5154"/>
            </a:avLst>
          </a:prstGeom>
          <a:solidFill>
            <a:schemeClr val="bg1"/>
          </a:solidFill>
        </p:spPr>
        <p:txBody>
          <a:bodyPr/>
          <a:p/>
        </p:txBody>
      </p:sp>
      <p:sp>
        <p:nvSpPr>
          <p:cNvPr id="29" name="Text 346"/>
          <p:cNvSpPr txBox="1"/>
          <p:nvPr/>
        </p:nvSpPr>
        <p:spPr>
          <a:xfrm>
            <a:off x="8537448" y="4725416"/>
            <a:ext cx="2691384" cy="201168"/>
          </a:xfrm>
          <a:prstGeom prst="rect">
            <a:avLst/>
          </a:prstGeom>
          <a:noFill/>
        </p:spPr>
        <p:txBody>
          <a:bodyPr wrap="square" lIns="0" tIns="0" rIns="0" bIns="0" rtlCol="0" anchor="t"/>
          <a:lstStyle/>
          <a:p>
            <a:pPr marL="0" indent="0">
              <a:buNone/>
            </a:pPr>
            <a:r>
              <a:rPr lang="en-US" sz="1200" b="1" dirty="0">
                <a:solidFill>
                  <a:schemeClr val="accent3"/>
                </a:solidFill>
              </a:rPr>
              <a:t>RESULT</a:t>
            </a:r>
            <a:endParaRPr lang="en-US" sz="1200" dirty="0"/>
          </a:p>
        </p:txBody>
      </p:sp>
      <p:sp>
        <p:nvSpPr>
          <p:cNvPr id="30" name="Text 347"/>
          <p:cNvSpPr txBox="1"/>
          <p:nvPr/>
        </p:nvSpPr>
        <p:spPr>
          <a:xfrm>
            <a:off x="8537448" y="4963160"/>
            <a:ext cx="2691384" cy="980440"/>
          </a:xfrm>
          <a:prstGeom prst="rect">
            <a:avLst/>
          </a:prstGeom>
          <a:noFill/>
        </p:spPr>
        <p:txBody>
          <a:bodyPr wrap="square" lIns="0" tIns="0" rIns="0" bIns="0" rtlCol="0" anchor="t"/>
          <a:lstStyle/>
          <a:p>
            <a:pPr marL="0" indent="0">
              <a:buNone/>
            </a:pPr>
            <a:r>
              <a:rPr lang="en-US" sz="1400" dirty="0">
                <a:solidFill>
                  <a:schemeClr val="tx1"/>
                </a:solidFill>
              </a:rPr>
              <a:t>Ends end-of-period reconciliation disputes. Distributors can clearly see how much more is needed to reach the bonus milestone.</a:t>
            </a:r>
            <a:endParaRPr lang="en-US" sz="1400" dirty="0"/>
          </a:p>
        </p:txBody>
      </p:sp>
      <p:sp>
        <p:nvSpPr>
          <p:cNvPr id="31"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6"/>
                </a:solidFill>
              </a:rPr>
              <a:t>PILLAR 4  ·  LOYALTY</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6"/>
                </a:solidFill>
              </a:rPr>
              <a:t>Voice/Visual Search &amp; AI Chatbot</a:t>
            </a:r>
            <a:endParaRPr lang="en-US" sz="3200" dirty="0"/>
          </a:p>
        </p:txBody>
      </p:sp>
      <p:sp>
        <p:nvSpPr>
          <p:cNvPr id="4" name="Shape 348"/>
          <p:cNvSpPr/>
          <p:nvPr/>
        </p:nvSpPr>
        <p:spPr>
          <a:xfrm>
            <a:off x="548640" y="1554480"/>
            <a:ext cx="5408676" cy="4709160"/>
          </a:xfrm>
          <a:prstGeom prst="roundRect">
            <a:avLst>
              <a:gd name="adj" fmla="val 1553"/>
            </a:avLst>
          </a:prstGeom>
          <a:solidFill>
            <a:schemeClr val="bg2"/>
          </a:solidFill>
        </p:spPr>
        <p:txBody>
          <a:bodyPr/>
          <a:p/>
        </p:txBody>
      </p:sp>
      <p:sp>
        <p:nvSpPr>
          <p:cNvPr id="5" name="Pill 349"/>
          <p:cNvSpPr/>
          <p:nvPr/>
        </p:nvSpPr>
        <p:spPr>
          <a:xfrm>
            <a:off x="777240" y="1828800"/>
            <a:ext cx="566928" cy="329184"/>
          </a:xfrm>
          <a:prstGeom prst="roundRect">
            <a:avLst>
              <a:gd name="adj" fmla="val 47222"/>
            </a:avLst>
          </a:prstGeom>
          <a:solidFill>
            <a:schemeClr val="accent6"/>
          </a:solidFill>
        </p:spPr>
        <p:txBody>
          <a:bodyPr wrap="square" lIns="0" tIns="0" rIns="0" bIns="0" rtlCol="0" anchor="ctr"/>
          <a:lstStyle/>
          <a:p>
            <a:pPr marL="0" indent="0" algn="ctr">
              <a:buNone/>
            </a:pPr>
            <a:r>
              <a:rPr lang="en-US" sz="1400" b="1" dirty="0">
                <a:solidFill>
                  <a:schemeClr val="bg1"/>
                </a:solidFill>
              </a:rPr>
              <a:t>4.1</a:t>
            </a:r>
            <a:endParaRPr lang="en-US" sz="1400" dirty="0"/>
          </a:p>
        </p:txBody>
      </p:sp>
      <p:sp>
        <p:nvSpPr>
          <p:cNvPr id="6" name="Text 350"/>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Voice &amp; Visual Search</a:t>
            </a:r>
            <a:endParaRPr lang="en-US" sz="1800" dirty="0"/>
          </a:p>
        </p:txBody>
      </p:sp>
      <p:sp>
        <p:nvSpPr>
          <p:cNvPr id="7" name="Shape 351"/>
          <p:cNvSpPr/>
          <p:nvPr/>
        </p:nvSpPr>
        <p:spPr>
          <a:xfrm>
            <a:off x="777240" y="2331720"/>
            <a:ext cx="4951476" cy="1280160"/>
          </a:xfrm>
          <a:prstGeom prst="roundRect">
            <a:avLst>
              <a:gd name="adj" fmla="val 5714"/>
            </a:avLst>
          </a:prstGeom>
          <a:solidFill>
            <a:schemeClr val="bg1"/>
          </a:solidFill>
        </p:spPr>
        <p:txBody>
          <a:bodyPr/>
          <a:p/>
        </p:txBody>
      </p:sp>
      <p:sp>
        <p:nvSpPr>
          <p:cNvPr id="8" name="Shape 352"/>
          <p:cNvSpPr/>
          <p:nvPr/>
        </p:nvSpPr>
        <p:spPr>
          <a:xfrm>
            <a:off x="1333652" y="2474366"/>
            <a:ext cx="537667" cy="537667"/>
          </a:xfrm>
          <a:prstGeom prst="ellipse">
            <a:avLst/>
          </a:prstGeom>
          <a:solidFill>
            <a:schemeClr val="accent6"/>
          </a:solidFill>
        </p:spPr>
        <p:txBody>
          <a:bodyPr/>
          <a:p/>
        </p:txBody>
      </p:sp>
      <p:pic>
        <p:nvPicPr>
          <p:cNvPr id="9" name="Icon 353" descr="Microphone"/>
          <p:cNvPicPr>
            <a:picLocks noChangeAspect="1"/>
          </p:cNvPicPr>
          <p:nvPr/>
        </p:nvPicPr>
        <p:blipFill>
          <a:blip r:embed="rId1"/>
          <a:stretch>
            <a:fillRect/>
          </a:stretch>
        </p:blipFill>
        <p:spPr>
          <a:xfrm>
            <a:off x="1468069" y="2608783"/>
            <a:ext cx="268834" cy="268834"/>
          </a:xfrm>
          <a:prstGeom prst="rect">
            <a:avLst/>
          </a:prstGeom>
        </p:spPr>
      </p:pic>
      <p:sp>
        <p:nvSpPr>
          <p:cNvPr id="10" name="Text 354"/>
          <p:cNvSpPr txBox="1"/>
          <p:nvPr/>
        </p:nvSpPr>
        <p:spPr>
          <a:xfrm>
            <a:off x="85039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Voice search</a:t>
            </a:r>
            <a:endParaRPr lang="en-US" sz="1200" dirty="0"/>
          </a:p>
        </p:txBody>
      </p:sp>
      <p:pic>
        <p:nvPicPr>
          <p:cNvPr id="11" name="Icon 355" descr="ChevronRight"/>
          <p:cNvPicPr>
            <a:picLocks noChangeAspect="1"/>
          </p:cNvPicPr>
          <p:nvPr/>
        </p:nvPicPr>
        <p:blipFill>
          <a:blip r:embed="rId2"/>
          <a:stretch>
            <a:fillRect/>
          </a:stretch>
        </p:blipFill>
        <p:spPr>
          <a:xfrm>
            <a:off x="2318004" y="2633472"/>
            <a:ext cx="219456" cy="219456"/>
          </a:xfrm>
          <a:prstGeom prst="rect">
            <a:avLst/>
          </a:prstGeom>
        </p:spPr>
      </p:pic>
      <p:sp>
        <p:nvSpPr>
          <p:cNvPr id="12" name="Shape 356"/>
          <p:cNvSpPr/>
          <p:nvPr/>
        </p:nvSpPr>
        <p:spPr>
          <a:xfrm>
            <a:off x="2984144" y="2474366"/>
            <a:ext cx="537667" cy="537667"/>
          </a:xfrm>
          <a:prstGeom prst="ellipse">
            <a:avLst/>
          </a:prstGeom>
          <a:solidFill>
            <a:schemeClr val="accent6"/>
          </a:solidFill>
        </p:spPr>
        <p:txBody>
          <a:bodyPr/>
          <a:p/>
        </p:txBody>
      </p:sp>
      <p:pic>
        <p:nvPicPr>
          <p:cNvPr id="13" name="Icon 357" descr="Camera"/>
          <p:cNvPicPr>
            <a:picLocks noChangeAspect="1"/>
          </p:cNvPicPr>
          <p:nvPr/>
        </p:nvPicPr>
        <p:blipFill>
          <a:blip r:embed="rId3"/>
          <a:stretch>
            <a:fillRect/>
          </a:stretch>
        </p:blipFill>
        <p:spPr>
          <a:xfrm>
            <a:off x="3118561" y="2608783"/>
            <a:ext cx="268834" cy="268834"/>
          </a:xfrm>
          <a:prstGeom prst="rect">
            <a:avLst/>
          </a:prstGeom>
        </p:spPr>
      </p:pic>
      <p:sp>
        <p:nvSpPr>
          <p:cNvPr id="14" name="Text 358"/>
          <p:cNvSpPr txBox="1"/>
          <p:nvPr/>
        </p:nvSpPr>
        <p:spPr>
          <a:xfrm>
            <a:off x="2500884"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Visual search (torn packaging)</a:t>
            </a:r>
            <a:endParaRPr lang="en-US" sz="1200" dirty="0"/>
          </a:p>
        </p:txBody>
      </p:sp>
      <p:pic>
        <p:nvPicPr>
          <p:cNvPr id="15" name="Icon 359" descr="ChevronRight"/>
          <p:cNvPicPr>
            <a:picLocks noChangeAspect="1"/>
          </p:cNvPicPr>
          <p:nvPr/>
        </p:nvPicPr>
        <p:blipFill>
          <a:blip r:embed="rId2"/>
          <a:stretch>
            <a:fillRect/>
          </a:stretch>
        </p:blipFill>
        <p:spPr>
          <a:xfrm>
            <a:off x="3968496" y="2633472"/>
            <a:ext cx="219456" cy="219456"/>
          </a:xfrm>
          <a:prstGeom prst="rect">
            <a:avLst/>
          </a:prstGeom>
        </p:spPr>
      </p:pic>
      <p:sp>
        <p:nvSpPr>
          <p:cNvPr id="16" name="Shape 360"/>
          <p:cNvSpPr/>
          <p:nvPr/>
        </p:nvSpPr>
        <p:spPr>
          <a:xfrm>
            <a:off x="4634636" y="2474366"/>
            <a:ext cx="537667" cy="537667"/>
          </a:xfrm>
          <a:prstGeom prst="ellipse">
            <a:avLst/>
          </a:prstGeom>
          <a:solidFill>
            <a:schemeClr val="accent6"/>
          </a:solidFill>
        </p:spPr>
        <p:txBody>
          <a:bodyPr/>
          <a:p/>
        </p:txBody>
      </p:sp>
      <p:pic>
        <p:nvPicPr>
          <p:cNvPr id="17" name="Icon 361" descr="Search"/>
          <p:cNvPicPr>
            <a:picLocks noChangeAspect="1"/>
          </p:cNvPicPr>
          <p:nvPr/>
        </p:nvPicPr>
        <p:blipFill>
          <a:blip r:embed="rId4"/>
          <a:stretch>
            <a:fillRect/>
          </a:stretch>
        </p:blipFill>
        <p:spPr>
          <a:xfrm>
            <a:off x="4769053" y="2608783"/>
            <a:ext cx="268834" cy="268834"/>
          </a:xfrm>
          <a:prstGeom prst="rect">
            <a:avLst/>
          </a:prstGeom>
        </p:spPr>
      </p:pic>
      <p:sp>
        <p:nvSpPr>
          <p:cNvPr id="18" name="Text 362"/>
          <p:cNvSpPr txBox="1"/>
          <p:nvPr/>
        </p:nvSpPr>
        <p:spPr>
          <a:xfrm>
            <a:off x="4151376"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Results in 2 seconds</a:t>
            </a:r>
            <a:endParaRPr lang="en-US" sz="1200" dirty="0"/>
          </a:p>
        </p:txBody>
      </p:sp>
      <p:sp>
        <p:nvSpPr>
          <p:cNvPr id="19" name="Text 363"/>
          <p:cNvSpPr txBox="1"/>
          <p:nvPr/>
        </p:nvSpPr>
        <p:spPr>
          <a:xfrm>
            <a:off x="777240"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Voice Search: large mic button, understands Vietnamese across regional accents and trade slang.</a:t>
            </a:r>
            <a:endParaRPr lang="en-US" sz="1400" dirty="0"/>
          </a:p>
          <a:p>
            <a:pPr marL="177800" indent="-177800">
              <a:spcAft>
                <a:spcPts val="600"/>
              </a:spcAft>
              <a:buSzPct val="100000"/>
              <a:buChar char="•"/>
            </a:pPr>
            <a:r>
              <a:rPr lang="en-US" sz="1400" dirty="0">
                <a:solidFill>
                  <a:schemeClr val="tx1"/>
                </a:solidFill>
              </a:rPr>
              <a:t>Visual Search: photograph boxes, cans and packaging (even with a torn barcode); AI identifies the exact SKU and shows wholesale prices.</a:t>
            </a:r>
            <a:endParaRPr lang="en-US" sz="1400" dirty="0"/>
          </a:p>
        </p:txBody>
      </p:sp>
      <p:sp>
        <p:nvSpPr>
          <p:cNvPr id="20" name="Shape 364"/>
          <p:cNvSpPr/>
          <p:nvPr/>
        </p:nvSpPr>
        <p:spPr>
          <a:xfrm>
            <a:off x="777240" y="5060188"/>
            <a:ext cx="4951476" cy="974852"/>
          </a:xfrm>
          <a:prstGeom prst="roundRect">
            <a:avLst>
              <a:gd name="adj" fmla="val 7504"/>
            </a:avLst>
          </a:prstGeom>
          <a:solidFill>
            <a:schemeClr val="bg1"/>
          </a:solidFill>
        </p:spPr>
        <p:txBody>
          <a:bodyPr/>
          <a:p/>
        </p:txBody>
      </p:sp>
      <p:sp>
        <p:nvSpPr>
          <p:cNvPr id="21" name="Text 365"/>
          <p:cNvSpPr txBox="1"/>
          <p:nvPr/>
        </p:nvSpPr>
        <p:spPr>
          <a:xfrm>
            <a:off x="960120" y="5169916"/>
            <a:ext cx="4585716" cy="201168"/>
          </a:xfrm>
          <a:prstGeom prst="rect">
            <a:avLst/>
          </a:prstGeom>
          <a:noFill/>
        </p:spPr>
        <p:txBody>
          <a:bodyPr wrap="square" lIns="0" tIns="0" rIns="0" bIns="0" rtlCol="0" anchor="t"/>
          <a:lstStyle/>
          <a:p>
            <a:pPr marL="0" indent="0">
              <a:buNone/>
            </a:pPr>
            <a:r>
              <a:rPr lang="en-US" sz="1200" b="1" dirty="0">
                <a:solidFill>
                  <a:schemeClr val="accent6"/>
                </a:solidFill>
              </a:rPr>
              <a:t>EXAMPLE</a:t>
            </a:r>
            <a:endParaRPr lang="en-US" sz="1200" dirty="0"/>
          </a:p>
        </p:txBody>
      </p:sp>
      <p:sp>
        <p:nvSpPr>
          <p:cNvPr id="22" name="Text 366"/>
          <p:cNvSpPr txBox="1"/>
          <p:nvPr/>
        </p:nvSpPr>
        <p:spPr>
          <a:xfrm>
            <a:off x="960120"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"Two cases of Tiger Bac beer" · "find sour &amp; spicy instant noodles". Store owners aged 40–60 don't need to type.</a:t>
            </a:r>
            <a:endParaRPr lang="en-US" sz="1400" dirty="0"/>
          </a:p>
        </p:txBody>
      </p:sp>
      <p:sp>
        <p:nvSpPr>
          <p:cNvPr id="23" name="Shape 367"/>
          <p:cNvSpPr/>
          <p:nvPr/>
        </p:nvSpPr>
        <p:spPr>
          <a:xfrm>
            <a:off x="6231636" y="1554480"/>
            <a:ext cx="5408676" cy="4709160"/>
          </a:xfrm>
          <a:prstGeom prst="roundRect">
            <a:avLst>
              <a:gd name="adj" fmla="val 1553"/>
            </a:avLst>
          </a:prstGeom>
          <a:solidFill>
            <a:schemeClr val="bg2"/>
          </a:solidFill>
        </p:spPr>
        <p:txBody>
          <a:bodyPr/>
          <a:p/>
        </p:txBody>
      </p:sp>
      <p:sp>
        <p:nvSpPr>
          <p:cNvPr id="24" name="Pill 368"/>
          <p:cNvSpPr/>
          <p:nvPr/>
        </p:nvSpPr>
        <p:spPr>
          <a:xfrm>
            <a:off x="6460236" y="1828800"/>
            <a:ext cx="566928" cy="329184"/>
          </a:xfrm>
          <a:prstGeom prst="roundRect">
            <a:avLst>
              <a:gd name="adj" fmla="val 47222"/>
            </a:avLst>
          </a:prstGeom>
          <a:solidFill>
            <a:schemeClr val="accent6"/>
          </a:solidFill>
        </p:spPr>
        <p:txBody>
          <a:bodyPr wrap="square" lIns="0" tIns="0" rIns="0" bIns="0" rtlCol="0" anchor="ctr"/>
          <a:lstStyle/>
          <a:p>
            <a:pPr marL="0" indent="0" algn="ctr">
              <a:buNone/>
            </a:pPr>
            <a:r>
              <a:rPr lang="en-US" sz="1400" b="1" dirty="0">
                <a:solidFill>
                  <a:schemeClr val="bg1"/>
                </a:solidFill>
              </a:rPr>
              <a:t>4.2</a:t>
            </a:r>
            <a:endParaRPr lang="en-US" sz="1400" dirty="0"/>
          </a:p>
        </p:txBody>
      </p:sp>
      <p:sp>
        <p:nvSpPr>
          <p:cNvPr id="25" name="Text 369"/>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AI Chatbot: Push Sale &amp; Chat-to-Order</a:t>
            </a:r>
            <a:endParaRPr lang="en-US" sz="1800" dirty="0"/>
          </a:p>
        </p:txBody>
      </p:sp>
      <p:sp>
        <p:nvSpPr>
          <p:cNvPr id="26" name="Shape 370"/>
          <p:cNvSpPr/>
          <p:nvPr/>
        </p:nvSpPr>
        <p:spPr>
          <a:xfrm>
            <a:off x="6460236" y="2331720"/>
            <a:ext cx="4951476" cy="1280160"/>
          </a:xfrm>
          <a:prstGeom prst="roundRect">
            <a:avLst>
              <a:gd name="adj" fmla="val 5714"/>
            </a:avLst>
          </a:prstGeom>
          <a:solidFill>
            <a:schemeClr val="bg1"/>
          </a:solidFill>
        </p:spPr>
        <p:txBody>
          <a:bodyPr/>
          <a:p/>
        </p:txBody>
      </p:sp>
      <p:sp>
        <p:nvSpPr>
          <p:cNvPr id="27" name="Shape 371"/>
          <p:cNvSpPr/>
          <p:nvPr/>
        </p:nvSpPr>
        <p:spPr>
          <a:xfrm>
            <a:off x="6597396" y="2468880"/>
            <a:ext cx="411480" cy="411480"/>
          </a:xfrm>
          <a:prstGeom prst="ellipse">
            <a:avLst/>
          </a:prstGeom>
          <a:solidFill>
            <a:schemeClr val="accent6"/>
          </a:solidFill>
        </p:spPr>
        <p:txBody>
          <a:bodyPr/>
          <a:p/>
        </p:txBody>
      </p:sp>
      <p:pic>
        <p:nvPicPr>
          <p:cNvPr id="28" name="Icon 372" descr="Robot"/>
          <p:cNvPicPr>
            <a:picLocks noChangeAspect="1"/>
          </p:cNvPicPr>
          <p:nvPr/>
        </p:nvPicPr>
        <p:blipFill>
          <a:blip r:embed="rId5"/>
          <a:stretch>
            <a:fillRect/>
          </a:stretch>
        </p:blipFill>
        <p:spPr>
          <a:xfrm>
            <a:off x="6700266" y="2571750"/>
            <a:ext cx="205740" cy="205740"/>
          </a:xfrm>
          <a:prstGeom prst="rect">
            <a:avLst/>
          </a:prstGeom>
        </p:spPr>
      </p:pic>
      <p:sp>
        <p:nvSpPr>
          <p:cNvPr id="29" name="Bubble 373"/>
          <p:cNvSpPr/>
          <p:nvPr/>
        </p:nvSpPr>
        <p:spPr>
          <a:xfrm>
            <a:off x="7100316" y="2423160"/>
            <a:ext cx="4174236" cy="594360"/>
          </a:xfrm>
          <a:prstGeom prst="roundRect">
            <a:avLst>
              <a:gd name="adj" fmla="val 12308"/>
            </a:avLst>
          </a:prstGeom>
          <a:solidFill>
            <a:schemeClr val="bg2"/>
          </a:solidFill>
        </p:spPr>
        <p:txBody>
          <a:bodyPr wrap="square" lIns="101600" tIns="0" rIns="101600" bIns="0" rtlCol="0" anchor="ctr"/>
          <a:lstStyle/>
          <a:p>
            <a:pPr marL="0" indent="0">
              <a:buNone/>
            </a:pPr>
            <a:r>
              <a:rPr lang="en-US" sz="1200" dirty="0">
                <a:solidFill>
                  <a:schemeClr val="tx1"/>
                </a:solidFill>
              </a:rPr>
              <a:t>"Hi Ms. Lan, Heineken has a buy-10-get-1 deal ending in 2 hours. Want to order now?"</a:t>
            </a:r>
            <a:endParaRPr lang="en-US" sz="1200" dirty="0"/>
          </a:p>
        </p:txBody>
      </p:sp>
      <p:sp>
        <p:nvSpPr>
          <p:cNvPr id="30" name="Bubble 374"/>
          <p:cNvSpPr/>
          <p:nvPr/>
        </p:nvSpPr>
        <p:spPr>
          <a:xfrm>
            <a:off x="7945679" y="3154680"/>
            <a:ext cx="3328873" cy="457200"/>
          </a:xfrm>
          <a:prstGeom prst="roundRect">
            <a:avLst>
              <a:gd name="adj" fmla="val 16000"/>
            </a:avLst>
          </a:prstGeom>
          <a:solidFill>
            <a:schemeClr val="accent6"/>
          </a:solidFill>
        </p:spPr>
        <p:txBody>
          <a:bodyPr wrap="square" lIns="101600" tIns="0" rIns="101600" bIns="0" rtlCol="0" anchor="ctr"/>
          <a:lstStyle/>
          <a:p>
            <a:pPr marL="0" indent="0">
              <a:buNone/>
            </a:pPr>
            <a:r>
              <a:rPr lang="en-US" sz="1200" dirty="0">
                <a:solidFill>
                  <a:schemeClr val="bg1"/>
                </a:solidFill>
              </a:rPr>
              <a:t>"Order 2 cartons of Nam Ngu fish sauce for delivery tomorrow afternoon."</a:t>
            </a:r>
            <a:endParaRPr lang="en-US" sz="1200" dirty="0"/>
          </a:p>
        </p:txBody>
      </p:sp>
      <p:sp>
        <p:nvSpPr>
          <p:cNvPr id="31" name="Text 375"/>
          <p:cNvSpPr txBox="1"/>
          <p:nvPr/>
        </p:nvSpPr>
        <p:spPr>
          <a:xfrm>
            <a:off x="6460236"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The FinViet virtual assistant proactively pushes sales: personalized deals timed to when the store is about to run out.</a:t>
            </a:r>
            <a:endParaRPr lang="en-US" sz="1400" dirty="0"/>
          </a:p>
          <a:p>
            <a:pPr marL="177800" indent="-177800">
              <a:spcAft>
                <a:spcPts val="600"/>
              </a:spcAft>
              <a:buSzPct val="100000"/>
              <a:buChar char="•"/>
            </a:pPr>
            <a:r>
              <a:rPr lang="en-US" sz="1400" dirty="0">
                <a:solidFill>
                  <a:schemeClr val="tx1"/>
                </a:solidFill>
              </a:rPr>
              <a:t>Chat-to-Order: send a text or voice message, and the cart is created automatically with the best discount code applied, followed by a "Tap to confirm order" button.</a:t>
            </a:r>
            <a:endParaRPr lang="en-US" sz="1400" dirty="0"/>
          </a:p>
        </p:txBody>
      </p:sp>
      <p:sp>
        <p:nvSpPr>
          <p:cNvPr id="32" name="Shape 376"/>
          <p:cNvSpPr/>
          <p:nvPr/>
        </p:nvSpPr>
        <p:spPr>
          <a:xfrm>
            <a:off x="6460236" y="5060188"/>
            <a:ext cx="4951476" cy="974852"/>
          </a:xfrm>
          <a:prstGeom prst="roundRect">
            <a:avLst>
              <a:gd name="adj" fmla="val 7504"/>
            </a:avLst>
          </a:prstGeom>
          <a:solidFill>
            <a:schemeClr val="bg1"/>
          </a:solidFill>
        </p:spPr>
        <p:txBody>
          <a:bodyPr/>
          <a:p/>
        </p:txBody>
      </p:sp>
      <p:sp>
        <p:nvSpPr>
          <p:cNvPr id="33" name="Text 377"/>
          <p:cNvSpPr txBox="1"/>
          <p:nvPr/>
        </p:nvSpPr>
        <p:spPr>
          <a:xfrm>
            <a:off x="6643116" y="5169916"/>
            <a:ext cx="4585716" cy="201168"/>
          </a:xfrm>
          <a:prstGeom prst="rect">
            <a:avLst/>
          </a:prstGeom>
          <a:noFill/>
        </p:spPr>
        <p:txBody>
          <a:bodyPr wrap="square" lIns="0" tIns="0" rIns="0" bIns="0" rtlCol="0" anchor="t"/>
          <a:lstStyle/>
          <a:p>
            <a:pPr marL="0" indent="0">
              <a:buNone/>
            </a:pPr>
            <a:r>
              <a:rPr lang="en-US" sz="1200" b="1" dirty="0">
                <a:solidFill>
                  <a:schemeClr val="accent6"/>
                </a:solidFill>
              </a:rPr>
              <a:t>RESULT</a:t>
            </a:r>
            <a:endParaRPr lang="en-US" sz="1200" dirty="0"/>
          </a:p>
        </p:txBody>
      </p:sp>
      <p:sp>
        <p:nvSpPr>
          <p:cNvPr id="34" name="Text 378"/>
          <p:cNvSpPr txBox="1"/>
          <p:nvPr/>
        </p:nvSpPr>
        <p:spPr>
          <a:xfrm>
            <a:off x="6643116"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Mirrors the habit of ordering via Zalo chat, shifting the platform from passive to proactive selling.</a:t>
            </a:r>
            <a:endParaRPr lang="en-US" sz="1400" dirty="0"/>
          </a:p>
        </p:txBody>
      </p:sp>
      <p:sp>
        <p:nvSpPr>
          <p:cNvPr id="3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6"/>
                </a:solidFill>
              </a:rPr>
              <a:t>PILLAR 4  ·  LOYALTY</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6"/>
                </a:solidFill>
              </a:rPr>
              <a:t>Loyalty Club &amp; Dual Points Wallet</a:t>
            </a:r>
            <a:endParaRPr lang="en-US" sz="3200" dirty="0"/>
          </a:p>
        </p:txBody>
      </p:sp>
      <p:sp>
        <p:nvSpPr>
          <p:cNvPr id="4" name="Shape 379"/>
          <p:cNvSpPr/>
          <p:nvPr/>
        </p:nvSpPr>
        <p:spPr>
          <a:xfrm>
            <a:off x="548640" y="1554480"/>
            <a:ext cx="5394960" cy="4709160"/>
          </a:xfrm>
          <a:prstGeom prst="roundRect">
            <a:avLst>
              <a:gd name="adj" fmla="val 1553"/>
            </a:avLst>
          </a:prstGeom>
          <a:solidFill>
            <a:schemeClr val="bg2"/>
          </a:solidFill>
        </p:spPr>
        <p:txBody>
          <a:bodyPr/>
          <a:p/>
        </p:txBody>
      </p:sp>
      <p:sp>
        <p:nvSpPr>
          <p:cNvPr id="5" name="Shape 380"/>
          <p:cNvSpPr/>
          <p:nvPr/>
        </p:nvSpPr>
        <p:spPr>
          <a:xfrm>
            <a:off x="777240" y="1783080"/>
            <a:ext cx="4937760" cy="4251960"/>
          </a:xfrm>
          <a:prstGeom prst="roundRect">
            <a:avLst>
              <a:gd name="adj" fmla="val 1720"/>
            </a:avLst>
          </a:prstGeom>
          <a:solidFill>
            <a:schemeClr val="bg1"/>
          </a:solidFill>
        </p:spPr>
        <p:txBody>
          <a:bodyPr/>
          <a:p/>
        </p:txBody>
      </p:sp>
      <p:sp>
        <p:nvSpPr>
          <p:cNvPr id="6" name="Chip 381"/>
          <p:cNvSpPr/>
          <p:nvPr/>
        </p:nvSpPr>
        <p:spPr>
          <a:xfrm>
            <a:off x="960120" y="2331720"/>
            <a:ext cx="1005840" cy="502920"/>
          </a:xfrm>
          <a:prstGeom prst="roundRect">
            <a:avLst>
              <a:gd name="adj" fmla="val 10909"/>
            </a:avLst>
          </a:prstGeom>
          <a:solidFill>
            <a:schemeClr val="bg2"/>
          </a:solidFill>
        </p:spPr>
        <p:txBody>
          <a:bodyPr wrap="square" lIns="0" tIns="0" rIns="0" bIns="0" rtlCol="0" anchor="ctr"/>
          <a:lstStyle/>
          <a:p>
            <a:pPr marL="0" indent="0" algn="ctr">
              <a:buNone/>
            </a:pPr>
            <a:r>
              <a:rPr lang="en-US" sz="1400" b="1" dirty="0">
                <a:solidFill>
                  <a:schemeClr val="tx1"/>
                </a:solidFill>
              </a:rPr>
              <a:t>Brands</a:t>
            </a:r>
            <a:endParaRPr lang="en-US" sz="1400" dirty="0"/>
          </a:p>
        </p:txBody>
      </p:sp>
      <p:sp>
        <p:nvSpPr>
          <p:cNvPr id="7" name="Chip 382"/>
          <p:cNvSpPr/>
          <p:nvPr/>
        </p:nvSpPr>
        <p:spPr>
          <a:xfrm>
            <a:off x="960120" y="3291840"/>
            <a:ext cx="1005840" cy="502920"/>
          </a:xfrm>
          <a:prstGeom prst="roundRect">
            <a:avLst>
              <a:gd name="adj" fmla="val 10909"/>
            </a:avLst>
          </a:prstGeom>
          <a:solidFill>
            <a:schemeClr val="bg2"/>
          </a:solidFill>
        </p:spPr>
        <p:txBody>
          <a:bodyPr wrap="square" lIns="0" tIns="0" rIns="0" bIns="0" rtlCol="0" anchor="ctr"/>
          <a:lstStyle/>
          <a:p>
            <a:pPr marL="0" indent="0" algn="ctr">
              <a:buNone/>
            </a:pPr>
            <a:r>
              <a:rPr lang="en-US" sz="1400" b="1" dirty="0">
                <a:solidFill>
                  <a:schemeClr val="tx1"/>
                </a:solidFill>
              </a:rPr>
              <a:t>Platform</a:t>
            </a:r>
            <a:endParaRPr lang="en-US" sz="1400" dirty="0"/>
          </a:p>
        </p:txBody>
      </p:sp>
      <p:sp>
        <p:nvSpPr>
          <p:cNvPr id="8" name="Shape 383"/>
          <p:cNvSpPr/>
          <p:nvPr/>
        </p:nvSpPr>
        <p:spPr>
          <a:xfrm>
            <a:off x="2011680" y="2606040"/>
            <a:ext cx="320040" cy="274320"/>
          </a:xfrm>
          <a:prstGeom prst="line">
            <a:avLst/>
          </a:prstGeom>
          <a:noFill/>
          <a:ln w="25400">
            <a:solidFill>
              <a:schemeClr val="accent4"/>
            </a:solidFill>
            <a:prstDash val="solid"/>
            <a:tailEnd type="triangle"/>
          </a:ln>
        </p:spPr>
        <p:txBody>
          <a:bodyPr/>
          <a:p/>
        </p:txBody>
      </p:sp>
      <p:sp>
        <p:nvSpPr>
          <p:cNvPr id="9" name="Shape 384"/>
          <p:cNvSpPr/>
          <p:nvPr/>
        </p:nvSpPr>
        <p:spPr>
          <a:xfrm flipV="1">
            <a:off x="2011680" y="3291840"/>
            <a:ext cx="320040" cy="274320"/>
          </a:xfrm>
          <a:prstGeom prst="line">
            <a:avLst/>
          </a:prstGeom>
          <a:noFill/>
          <a:ln w="25400">
            <a:solidFill>
              <a:schemeClr val="accent4"/>
            </a:solidFill>
            <a:prstDash val="solid"/>
            <a:tailEnd type="triangle"/>
          </a:ln>
        </p:spPr>
        <p:txBody>
          <a:bodyPr/>
          <a:p/>
        </p:txBody>
      </p:sp>
      <p:sp>
        <p:nvSpPr>
          <p:cNvPr id="10" name="Shape 385"/>
          <p:cNvSpPr/>
          <p:nvPr/>
        </p:nvSpPr>
        <p:spPr>
          <a:xfrm>
            <a:off x="2377440" y="2148840"/>
            <a:ext cx="1828800" cy="1828800"/>
          </a:xfrm>
          <a:prstGeom prst="roundRect">
            <a:avLst>
              <a:gd name="adj" fmla="val 4000"/>
            </a:avLst>
          </a:prstGeom>
          <a:solidFill>
            <a:schemeClr val="accent6"/>
          </a:solidFill>
        </p:spPr>
        <p:txBody>
          <a:bodyPr/>
          <a:p/>
        </p:txBody>
      </p:sp>
      <p:sp>
        <p:nvSpPr>
          <p:cNvPr id="11" name="Text 386"/>
          <p:cNvSpPr txBox="1"/>
          <p:nvPr/>
        </p:nvSpPr>
        <p:spPr>
          <a:xfrm>
            <a:off x="2377440" y="2240280"/>
            <a:ext cx="1828800" cy="274320"/>
          </a:xfrm>
          <a:prstGeom prst="rect">
            <a:avLst/>
          </a:prstGeom>
          <a:noFill/>
        </p:spPr>
        <p:txBody>
          <a:bodyPr wrap="square" lIns="0" tIns="0" rIns="0" bIns="0" rtlCol="0" anchor="t"/>
          <a:lstStyle/>
          <a:p>
            <a:pPr marL="0" indent="0" algn="ctr">
              <a:buNone/>
            </a:pPr>
            <a:r>
              <a:rPr lang="en-US" sz="1400" b="1" dirty="0">
                <a:solidFill>
                  <a:schemeClr val="bg1"/>
                </a:solidFill>
              </a:rPr>
              <a:t>Dual Point Wallet</a:t>
            </a:r>
            <a:endParaRPr lang="en-US" sz="1400" dirty="0"/>
          </a:p>
        </p:txBody>
      </p:sp>
      <p:sp>
        <p:nvSpPr>
          <p:cNvPr id="12" name="Chip 387"/>
          <p:cNvSpPr/>
          <p:nvPr/>
        </p:nvSpPr>
        <p:spPr>
          <a:xfrm>
            <a:off x="2468880" y="2697480"/>
            <a:ext cx="777240" cy="1097280"/>
          </a:xfrm>
          <a:prstGeom prst="roundRect">
            <a:avLst>
              <a:gd name="adj" fmla="val 7059"/>
            </a:avLst>
          </a:prstGeom>
          <a:solidFill>
            <a:schemeClr val="bg1"/>
          </a:solidFill>
        </p:spPr>
        <p:txBody>
          <a:bodyPr wrap="square" lIns="0" tIns="0" rIns="0" bIns="0" rtlCol="0" anchor="ctr"/>
          <a:lstStyle/>
          <a:p>
            <a:pPr marL="0" indent="0" algn="ctr">
              <a:buNone/>
            </a:pPr>
            <a:r>
              <a:rPr lang="en-US" sz="1200" dirty="0">
                <a:solidFill>
                  <a:schemeClr val="tx1"/>
                </a:solidFill>
              </a:rPr>
              <a:t>Brand Points</a:t>
            </a:r>
            <a:endParaRPr lang="en-US" sz="1200" dirty="0"/>
          </a:p>
        </p:txBody>
      </p:sp>
      <p:sp>
        <p:nvSpPr>
          <p:cNvPr id="13" name="Chip 388"/>
          <p:cNvSpPr/>
          <p:nvPr/>
        </p:nvSpPr>
        <p:spPr>
          <a:xfrm>
            <a:off x="3337560" y="2697480"/>
            <a:ext cx="777240" cy="1097280"/>
          </a:xfrm>
          <a:prstGeom prst="roundRect">
            <a:avLst>
              <a:gd name="adj" fmla="val 7059"/>
            </a:avLst>
          </a:prstGeom>
          <a:solidFill>
            <a:schemeClr val="bg1"/>
          </a:solidFill>
        </p:spPr>
        <p:txBody>
          <a:bodyPr wrap="square" lIns="0" tIns="0" rIns="0" bIns="0" rtlCol="0" anchor="ctr"/>
          <a:lstStyle/>
          <a:p>
            <a:pPr marL="0" indent="0" algn="ctr">
              <a:buNone/>
            </a:pPr>
            <a:r>
              <a:rPr lang="en-US" sz="1200" dirty="0">
                <a:solidFill>
                  <a:schemeClr val="tx1"/>
                </a:solidFill>
              </a:rPr>
              <a:t>FinViet Points</a:t>
            </a:r>
            <a:endParaRPr lang="en-US" sz="1200" dirty="0"/>
          </a:p>
        </p:txBody>
      </p:sp>
      <p:sp>
        <p:nvSpPr>
          <p:cNvPr id="14" name="Shape 389"/>
          <p:cNvSpPr/>
          <p:nvPr/>
        </p:nvSpPr>
        <p:spPr>
          <a:xfrm>
            <a:off x="4251960" y="3063240"/>
            <a:ext cx="274320" cy="0"/>
          </a:xfrm>
          <a:prstGeom prst="line">
            <a:avLst/>
          </a:prstGeom>
          <a:noFill/>
          <a:ln w="25400">
            <a:solidFill>
              <a:schemeClr val="accent4"/>
            </a:solidFill>
            <a:prstDash val="solid"/>
            <a:tailEnd type="triangle"/>
          </a:ln>
        </p:spPr>
        <p:txBody>
          <a:bodyPr/>
          <a:p/>
        </p:txBody>
      </p:sp>
      <p:sp>
        <p:nvSpPr>
          <p:cNvPr id="15" name="Chip 390"/>
          <p:cNvSpPr/>
          <p:nvPr/>
        </p:nvSpPr>
        <p:spPr>
          <a:xfrm>
            <a:off x="4572000" y="2514600"/>
            <a:ext cx="960120" cy="1097280"/>
          </a:xfrm>
          <a:prstGeom prst="roundRect">
            <a:avLst>
              <a:gd name="adj" fmla="val 5714"/>
            </a:avLst>
          </a:prstGeom>
          <a:solidFill>
            <a:schemeClr val="bg2"/>
          </a:solidFill>
        </p:spPr>
        <p:txBody>
          <a:bodyPr wrap="square" lIns="0" tIns="0" rIns="0" bIns="0" rtlCol="0" anchor="ctr"/>
          <a:lstStyle/>
          <a:p>
            <a:pPr marL="0" indent="0" algn="ctr">
              <a:buNone/>
            </a:pPr>
            <a:r>
              <a:rPr lang="en-US" sz="1200" b="1" dirty="0">
                <a:solidFill>
                  <a:schemeClr val="tx1"/>
                </a:solidFill>
              </a:rPr>
              <a:t>Direct cash discount</a:t>
            </a:r>
            <a:endParaRPr lang="en-US" sz="1200" dirty="0"/>
          </a:p>
        </p:txBody>
      </p:sp>
      <p:pic>
        <p:nvPicPr>
          <p:cNvPr id="16" name="Icon 391" descr="ExchangeAlt"/>
          <p:cNvPicPr>
            <a:picLocks noChangeAspect="1"/>
          </p:cNvPicPr>
          <p:nvPr/>
        </p:nvPicPr>
        <p:blipFill>
          <a:blip r:embed="rId1"/>
          <a:stretch>
            <a:fillRect/>
          </a:stretch>
        </p:blipFill>
        <p:spPr>
          <a:xfrm>
            <a:off x="3063240" y="4160520"/>
            <a:ext cx="365760" cy="365760"/>
          </a:xfrm>
          <a:prstGeom prst="rect">
            <a:avLst/>
          </a:prstGeom>
        </p:spPr>
      </p:pic>
      <p:sp>
        <p:nvSpPr>
          <p:cNvPr id="17" name="Chip 392"/>
          <p:cNvSpPr/>
          <p:nvPr/>
        </p:nvSpPr>
        <p:spPr>
          <a:xfrm>
            <a:off x="1143000" y="4663440"/>
            <a:ext cx="4206240" cy="502920"/>
          </a:xfrm>
          <a:prstGeom prst="roundRect">
            <a:avLst>
              <a:gd name="adj" fmla="val 10909"/>
            </a:avLst>
          </a:prstGeom>
          <a:solidFill>
            <a:schemeClr val="bg2"/>
          </a:solidFill>
        </p:spPr>
        <p:txBody>
          <a:bodyPr wrap="square" lIns="0" tIns="0" rIns="0" bIns="0" rtlCol="0" anchor="ctr"/>
          <a:lstStyle/>
          <a:p>
            <a:pPr marL="0" indent="0" algn="ctr">
              <a:buNone/>
            </a:pPr>
            <a:r>
              <a:rPr lang="en-US" sz="1300" b="1" dirty="0">
                <a:solidFill>
                  <a:schemeClr val="accent6"/>
                </a:solidFill>
              </a:rPr>
              <a:t>Exchange Gateway: Brand Points ↔ FinViet Points</a:t>
            </a:r>
            <a:endParaRPr lang="en-US" sz="1300" dirty="0"/>
          </a:p>
        </p:txBody>
      </p:sp>
      <p:sp>
        <p:nvSpPr>
          <p:cNvPr id="18" name="Text 393"/>
          <p:cNvSpPr txBox="1"/>
          <p:nvPr/>
        </p:nvSpPr>
        <p:spPr>
          <a:xfrm>
            <a:off x="1143000" y="5303520"/>
            <a:ext cx="4206240" cy="640080"/>
          </a:xfrm>
          <a:prstGeom prst="rect">
            <a:avLst/>
          </a:prstGeom>
          <a:noFill/>
        </p:spPr>
        <p:txBody>
          <a:bodyPr wrap="square" lIns="0" tIns="0" rIns="0" bIns="0" rtlCol="0" anchor="ctr"/>
          <a:lstStyle/>
          <a:p>
            <a:pPr marL="0" indent="0" algn="ctr">
              <a:buNone/>
            </a:pPr>
            <a:r>
              <a:rPr lang="en-US" sz="1300" dirty="0">
                <a:solidFill>
                  <a:schemeClr val="tx1"/>
                </a:solidFill>
              </a:rPr>
              <a:t>Burn Points for Discount: use Brand X points to deduct directly from Brand X orders.</a:t>
            </a:r>
            <a:endParaRPr lang="en-US" sz="1300" dirty="0"/>
          </a:p>
        </p:txBody>
      </p:sp>
      <p:sp>
        <p:nvSpPr>
          <p:cNvPr id="19" name="Shape 394"/>
          <p:cNvSpPr/>
          <p:nvPr/>
        </p:nvSpPr>
        <p:spPr>
          <a:xfrm>
            <a:off x="6217920" y="1554480"/>
            <a:ext cx="5422392" cy="4709160"/>
          </a:xfrm>
          <a:prstGeom prst="roundRect">
            <a:avLst>
              <a:gd name="adj" fmla="val 1553"/>
            </a:avLst>
          </a:prstGeom>
          <a:solidFill>
            <a:schemeClr val="bg2"/>
          </a:solidFill>
        </p:spPr>
        <p:txBody>
          <a:bodyPr/>
          <a:p/>
        </p:txBody>
      </p:sp>
      <p:sp>
        <p:nvSpPr>
          <p:cNvPr id="20" name="Pill 395"/>
          <p:cNvSpPr/>
          <p:nvPr/>
        </p:nvSpPr>
        <p:spPr>
          <a:xfrm>
            <a:off x="6492240" y="1828800"/>
            <a:ext cx="566928" cy="329184"/>
          </a:xfrm>
          <a:prstGeom prst="roundRect">
            <a:avLst>
              <a:gd name="adj" fmla="val 47222"/>
            </a:avLst>
          </a:prstGeom>
          <a:solidFill>
            <a:schemeClr val="accent6"/>
          </a:solidFill>
        </p:spPr>
        <p:txBody>
          <a:bodyPr wrap="square" lIns="0" tIns="0" rIns="0" bIns="0" rtlCol="0" anchor="ctr"/>
          <a:lstStyle/>
          <a:p>
            <a:pPr marL="0" indent="0" algn="ctr">
              <a:buNone/>
            </a:pPr>
            <a:r>
              <a:rPr lang="en-US" sz="1400" b="1" dirty="0">
                <a:solidFill>
                  <a:schemeClr val="bg1"/>
                </a:solidFill>
              </a:rPr>
              <a:t>4.3</a:t>
            </a:r>
            <a:endParaRPr lang="en-US" sz="1400" dirty="0"/>
          </a:p>
        </p:txBody>
      </p:sp>
      <p:sp>
        <p:nvSpPr>
          <p:cNvPr id="21" name="Text 396"/>
          <p:cNvSpPr txBox="1"/>
          <p:nvPr/>
        </p:nvSpPr>
        <p:spPr>
          <a:xfrm>
            <a:off x="7196328" y="1737360"/>
            <a:ext cx="4169664" cy="512064"/>
          </a:xfrm>
          <a:prstGeom prst="rect">
            <a:avLst/>
          </a:prstGeom>
          <a:noFill/>
        </p:spPr>
        <p:txBody>
          <a:bodyPr wrap="square" lIns="0" tIns="0" rIns="0" bIns="0" rtlCol="0" anchor="ctr"/>
          <a:lstStyle/>
          <a:p>
            <a:pPr marL="0" indent="0">
              <a:buNone/>
            </a:pPr>
            <a:r>
              <a:rPr lang="en-US" sz="1800" b="1" dirty="0">
                <a:solidFill>
                  <a:schemeClr val="tx1"/>
                </a:solidFill>
              </a:rPr>
              <a:t>Earn, spend &amp; exchange points</a:t>
            </a:r>
            <a:endParaRPr lang="en-US" sz="1800" dirty="0"/>
          </a:p>
        </p:txBody>
      </p:sp>
      <p:sp>
        <p:nvSpPr>
          <p:cNvPr id="22" name="Text 397"/>
          <p:cNvSpPr txBox="1"/>
          <p:nvPr/>
        </p:nvSpPr>
        <p:spPr>
          <a:xfrm>
            <a:off x="6492240" y="2468880"/>
            <a:ext cx="4873752" cy="2186178"/>
          </a:xfrm>
          <a:prstGeom prst="rect">
            <a:avLst/>
          </a:prstGeom>
          <a:noFill/>
        </p:spPr>
        <p:txBody>
          <a:bodyPr wrap="square" lIns="0" tIns="0" rIns="0" bIns="0" rtlCol="0" anchor="t"/>
          <a:lstStyle/>
          <a:p>
            <a:pPr marL="177800" indent="-177800">
              <a:spcAft>
                <a:spcPts val="800"/>
              </a:spcAft>
              <a:buSzPct val="100000"/>
              <a:buChar char="•"/>
            </a:pPr>
            <a:r>
              <a:rPr lang="en-US" sz="1400" dirty="0">
                <a:solidFill>
                  <a:schemeClr val="tx1"/>
                </a:solidFill>
              </a:rPr>
              <a:t>FinViet Points: earned from wholesale purchases, POS retail sales, daily check-ins and games; redeemed for platform-wide vouchers or store supplies (umbrellas, raincoats, signboards).</a:t>
            </a:r>
            <a:endParaRPr lang="en-US" sz="1400" dirty="0"/>
          </a:p>
          <a:p>
            <a:pPr marL="177800" indent="-177800">
              <a:spcAft>
                <a:spcPts val="800"/>
              </a:spcAft>
              <a:buSzPct val="100000"/>
              <a:buChar char="•"/>
            </a:pPr>
            <a:r>
              <a:rPr lang="en-US" sz="1400" dirty="0">
                <a:solidFill>
                  <a:schemeClr val="tx1"/>
                </a:solidFill>
              </a:rPr>
              <a:t>Brand Points: earned separately for each Brand; Burn Points deduct directly from that Brand's orders.</a:t>
            </a:r>
            <a:endParaRPr lang="en-US" sz="1400" dirty="0"/>
          </a:p>
          <a:p>
            <a:pPr marL="177800" indent="-177800">
              <a:spcAft>
                <a:spcPts val="800"/>
              </a:spcAft>
              <a:buSzPct val="100000"/>
              <a:buChar char="•"/>
            </a:pPr>
            <a:r>
              <a:rPr lang="en-US" sz="1400" dirty="0">
                <a:solidFill>
                  <a:schemeClr val="tx1"/>
                </a:solidFill>
              </a:rPr>
              <a:t>Point Exchange Gateway: converts Brand ↔ FinViet at a preset rate, releasing "frozen" points.</a:t>
            </a:r>
            <a:endParaRPr lang="en-US" sz="1400" dirty="0"/>
          </a:p>
        </p:txBody>
      </p:sp>
      <p:sp>
        <p:nvSpPr>
          <p:cNvPr id="23" name="Shape 398"/>
          <p:cNvSpPr/>
          <p:nvPr/>
        </p:nvSpPr>
        <p:spPr>
          <a:xfrm>
            <a:off x="6492240" y="4792218"/>
            <a:ext cx="4873752" cy="1197102"/>
          </a:xfrm>
          <a:prstGeom prst="roundRect">
            <a:avLst>
              <a:gd name="adj" fmla="val 6111"/>
            </a:avLst>
          </a:prstGeom>
          <a:solidFill>
            <a:schemeClr val="bg1"/>
          </a:solidFill>
        </p:spPr>
        <p:txBody>
          <a:bodyPr/>
          <a:p/>
        </p:txBody>
      </p:sp>
      <p:sp>
        <p:nvSpPr>
          <p:cNvPr id="24" name="Text 399"/>
          <p:cNvSpPr txBox="1"/>
          <p:nvPr/>
        </p:nvSpPr>
        <p:spPr>
          <a:xfrm>
            <a:off x="6675120" y="4901946"/>
            <a:ext cx="4507992" cy="201168"/>
          </a:xfrm>
          <a:prstGeom prst="rect">
            <a:avLst/>
          </a:prstGeom>
          <a:noFill/>
        </p:spPr>
        <p:txBody>
          <a:bodyPr wrap="square" lIns="0" tIns="0" rIns="0" bIns="0" rtlCol="0" anchor="t"/>
          <a:lstStyle/>
          <a:p>
            <a:pPr marL="0" indent="0">
              <a:buNone/>
            </a:pPr>
            <a:r>
              <a:rPr lang="en-US" sz="1200" b="1" dirty="0">
                <a:solidFill>
                  <a:schemeClr val="accent6"/>
                </a:solidFill>
              </a:rPr>
              <a:t>EXAMPLE</a:t>
            </a:r>
            <a:endParaRPr lang="en-US" sz="1200" dirty="0"/>
          </a:p>
        </p:txBody>
      </p:sp>
      <p:sp>
        <p:nvSpPr>
          <p:cNvPr id="25" name="Text 400"/>
          <p:cNvSpPr txBox="1"/>
          <p:nvPr/>
        </p:nvSpPr>
        <p:spPr>
          <a:xfrm>
            <a:off x="6675120" y="5139690"/>
            <a:ext cx="4507992" cy="758190"/>
          </a:xfrm>
          <a:prstGeom prst="rect">
            <a:avLst/>
          </a:prstGeom>
          <a:noFill/>
        </p:spPr>
        <p:txBody>
          <a:bodyPr wrap="square" lIns="0" tIns="0" rIns="0" bIns="0" rtlCol="0" anchor="t"/>
          <a:lstStyle/>
          <a:p>
            <a:pPr marL="0" indent="0">
              <a:buNone/>
            </a:pPr>
            <a:r>
              <a:rPr lang="en-US" sz="1400" dirty="0">
                <a:solidFill>
                  <a:schemeClr val="tx1"/>
                </a:solidFill>
              </a:rPr>
              <a:t>VND 100,000 spent = 10 Unilever Points. 100 Unilever Points = VND 10,000 off OMO / Knorr purchases, or ↔ 80 FinViet Points.</a:t>
            </a:r>
            <a:endParaRPr lang="en-US" sz="1400" dirty="0"/>
          </a:p>
        </p:txBody>
      </p:sp>
      <p:sp>
        <p:nvSpPr>
          <p:cNvPr id="26"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6"/>
                </a:solidFill>
              </a:rPr>
              <a:t>PILLAR 4  ·  LOYALTY</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6"/>
                </a:solidFill>
              </a:rPr>
              <a:t>Daily Gamification</a:t>
            </a:r>
            <a:endParaRPr lang="en-US" sz="3200" dirty="0"/>
          </a:p>
        </p:txBody>
      </p:sp>
      <p:sp>
        <p:nvSpPr>
          <p:cNvPr id="4" name="Shape 401"/>
          <p:cNvSpPr/>
          <p:nvPr/>
        </p:nvSpPr>
        <p:spPr>
          <a:xfrm>
            <a:off x="548640" y="1554480"/>
            <a:ext cx="3514344" cy="4709160"/>
          </a:xfrm>
          <a:prstGeom prst="roundRect">
            <a:avLst>
              <a:gd name="adj" fmla="val 2082"/>
            </a:avLst>
          </a:prstGeom>
          <a:solidFill>
            <a:schemeClr val="bg2"/>
          </a:solidFill>
        </p:spPr>
        <p:txBody>
          <a:bodyPr/>
          <a:p/>
        </p:txBody>
      </p:sp>
      <p:sp>
        <p:nvSpPr>
          <p:cNvPr id="5" name="Shape 402"/>
          <p:cNvSpPr/>
          <p:nvPr/>
        </p:nvSpPr>
        <p:spPr>
          <a:xfrm>
            <a:off x="777240" y="1828800"/>
            <a:ext cx="731520" cy="731520"/>
          </a:xfrm>
          <a:prstGeom prst="ellipse">
            <a:avLst/>
          </a:prstGeom>
          <a:solidFill>
            <a:schemeClr val="accent6"/>
          </a:solidFill>
        </p:spPr>
        <p:txBody>
          <a:bodyPr/>
          <a:p/>
        </p:txBody>
      </p:sp>
      <p:pic>
        <p:nvPicPr>
          <p:cNvPr id="6" name="Icon 403" descr="Tasks"/>
          <p:cNvPicPr>
            <a:picLocks noChangeAspect="1"/>
          </p:cNvPicPr>
          <p:nvPr/>
        </p:nvPicPr>
        <p:blipFill>
          <a:blip r:embed="rId1"/>
          <a:stretch>
            <a:fillRect/>
          </a:stretch>
        </p:blipFill>
        <p:spPr>
          <a:xfrm>
            <a:off x="960120" y="2011680"/>
            <a:ext cx="365760" cy="365760"/>
          </a:xfrm>
          <a:prstGeom prst="rect">
            <a:avLst/>
          </a:prstGeom>
        </p:spPr>
      </p:pic>
      <p:sp>
        <p:nvSpPr>
          <p:cNvPr id="7" name="Pill 404"/>
          <p:cNvSpPr/>
          <p:nvPr/>
        </p:nvSpPr>
        <p:spPr>
          <a:xfrm>
            <a:off x="1737360" y="1847088"/>
            <a:ext cx="749808" cy="292608"/>
          </a:xfrm>
          <a:prstGeom prst="roundRect">
            <a:avLst>
              <a:gd name="adj" fmla="val 53125"/>
            </a:avLst>
          </a:prstGeom>
          <a:solidFill>
            <a:schemeClr val="accent6"/>
          </a:solidFill>
        </p:spPr>
        <p:txBody>
          <a:bodyPr wrap="square" lIns="0" tIns="0" rIns="0" bIns="0" rtlCol="0" anchor="ctr"/>
          <a:lstStyle/>
          <a:p>
            <a:pPr marL="0" indent="0" algn="ctr">
              <a:buNone/>
            </a:pPr>
            <a:r>
              <a:rPr lang="en-US" sz="1400" b="1" dirty="0">
                <a:solidFill>
                  <a:schemeClr val="bg1"/>
                </a:solidFill>
              </a:rPr>
              <a:t>4.4.1</a:t>
            </a:r>
            <a:endParaRPr lang="en-US" sz="1400" dirty="0"/>
          </a:p>
        </p:txBody>
      </p:sp>
      <p:sp>
        <p:nvSpPr>
          <p:cNvPr id="8" name="Text 405"/>
          <p:cNvSpPr txBox="1"/>
          <p:nvPr/>
        </p:nvSpPr>
        <p:spPr>
          <a:xfrm>
            <a:off x="1737360"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Daily Missions</a:t>
            </a:r>
            <a:endParaRPr lang="en-US" sz="1600" dirty="0"/>
          </a:p>
        </p:txBody>
      </p:sp>
      <p:sp>
        <p:nvSpPr>
          <p:cNvPr id="9" name="Text 406"/>
          <p:cNvSpPr txBox="1"/>
          <p:nvPr/>
        </p:nvSpPr>
        <p:spPr>
          <a:xfrm>
            <a:off x="777240" y="2880360"/>
            <a:ext cx="3057144" cy="1580388"/>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rPr>
              <a:t>Daily check-in.</a:t>
            </a:r>
            <a:endParaRPr lang="en-US" sz="1500" dirty="0"/>
          </a:p>
          <a:p>
            <a:pPr marL="177800" indent="-177800">
              <a:spcAft>
                <a:spcPts val="600"/>
              </a:spcAft>
              <a:buSzPct val="100000"/>
              <a:buChar char="•"/>
            </a:pPr>
            <a:r>
              <a:rPr lang="en-US" sz="1500" dirty="0">
                <a:solidFill>
                  <a:schemeClr val="tx1"/>
                </a:solidFill>
              </a:rPr>
              <a:t>Complete 3 retail orders early in the day.</a:t>
            </a:r>
            <a:endParaRPr lang="en-US" sz="1500" dirty="0"/>
          </a:p>
          <a:p>
            <a:pPr marL="177800" indent="-177800">
              <a:spcAft>
                <a:spcPts val="600"/>
              </a:spcAft>
              <a:buSzPct val="100000"/>
              <a:buChar char="•"/>
            </a:pPr>
            <a:r>
              <a:rPr lang="en-US" sz="1500" dirty="0">
                <a:solidFill>
                  <a:schemeClr val="tx1"/>
                </a:solidFill>
              </a:rPr>
              <a:t>Place 1 wholesale order over VND 500,000.</a:t>
            </a:r>
            <a:endParaRPr lang="en-US" sz="1500" dirty="0"/>
          </a:p>
          <a:p>
            <a:pPr marL="177800" indent="-177800">
              <a:spcAft>
                <a:spcPts val="600"/>
              </a:spcAft>
              <a:buSzPct val="100000"/>
              <a:buChar char="•"/>
            </a:pPr>
            <a:r>
              <a:rPr lang="en-US" sz="1500" dirty="0">
                <a:solidFill>
                  <a:schemeClr val="tx1"/>
                </a:solidFill>
              </a:rPr>
              <a:t>Receive FinViet Coins or a spin ticket.</a:t>
            </a:r>
            <a:endParaRPr lang="en-US" sz="1500" dirty="0"/>
          </a:p>
        </p:txBody>
      </p:sp>
      <p:sp>
        <p:nvSpPr>
          <p:cNvPr id="10" name="Shape 407"/>
          <p:cNvSpPr/>
          <p:nvPr/>
        </p:nvSpPr>
        <p:spPr>
          <a:xfrm>
            <a:off x="777240" y="4552188"/>
            <a:ext cx="3057144" cy="1482852"/>
          </a:xfrm>
          <a:prstGeom prst="roundRect">
            <a:avLst>
              <a:gd name="adj" fmla="val 4933"/>
            </a:avLst>
          </a:prstGeom>
          <a:solidFill>
            <a:schemeClr val="bg1"/>
          </a:solidFill>
        </p:spPr>
        <p:txBody>
          <a:bodyPr/>
          <a:p/>
        </p:txBody>
      </p:sp>
      <p:sp>
        <p:nvSpPr>
          <p:cNvPr id="11" name="Text 408"/>
          <p:cNvSpPr txBox="1"/>
          <p:nvPr/>
        </p:nvSpPr>
        <p:spPr>
          <a:xfrm>
            <a:off x="960120" y="4661916"/>
            <a:ext cx="2691384" cy="201168"/>
          </a:xfrm>
          <a:prstGeom prst="rect">
            <a:avLst/>
          </a:prstGeom>
          <a:noFill/>
        </p:spPr>
        <p:txBody>
          <a:bodyPr wrap="square" lIns="0" tIns="0" rIns="0" bIns="0" rtlCol="0" anchor="t"/>
          <a:lstStyle/>
          <a:p>
            <a:pPr marL="0" indent="0">
              <a:buNone/>
            </a:pPr>
            <a:r>
              <a:rPr lang="en-US" sz="1200" b="1" dirty="0">
                <a:solidFill>
                  <a:schemeClr val="accent6"/>
                </a:solidFill>
              </a:rPr>
              <a:t>GOAL</a:t>
            </a:r>
            <a:endParaRPr lang="en-US" sz="1200" dirty="0"/>
          </a:p>
        </p:txBody>
      </p:sp>
      <p:sp>
        <p:nvSpPr>
          <p:cNvPr id="12" name="Text 409"/>
          <p:cNvSpPr txBox="1"/>
          <p:nvPr/>
        </p:nvSpPr>
        <p:spPr>
          <a:xfrm>
            <a:off x="960120" y="4899660"/>
            <a:ext cx="2691384" cy="1043940"/>
          </a:xfrm>
          <a:prstGeom prst="rect">
            <a:avLst/>
          </a:prstGeom>
          <a:noFill/>
        </p:spPr>
        <p:txBody>
          <a:bodyPr wrap="square" lIns="0" tIns="0" rIns="0" bIns="0" rtlCol="0" anchor="t"/>
          <a:lstStyle/>
          <a:p>
            <a:pPr marL="0" indent="0">
              <a:buNone/>
            </a:pPr>
            <a:r>
              <a:rPr lang="en-US" sz="1500" dirty="0">
                <a:solidFill>
                  <a:schemeClr val="tx1"/>
                </a:solidFill>
              </a:rPr>
              <a:t>Habit Formation: open the app every day, not just 1–2 times a week when restocking, for sustainable DAU / MAU growth.</a:t>
            </a:r>
            <a:endParaRPr lang="en-US" sz="1500" dirty="0"/>
          </a:p>
        </p:txBody>
      </p:sp>
      <p:sp>
        <p:nvSpPr>
          <p:cNvPr id="13" name="Shape 410"/>
          <p:cNvSpPr/>
          <p:nvPr/>
        </p:nvSpPr>
        <p:spPr>
          <a:xfrm>
            <a:off x="4337304" y="1554480"/>
            <a:ext cx="3514344" cy="4709160"/>
          </a:xfrm>
          <a:prstGeom prst="roundRect">
            <a:avLst>
              <a:gd name="adj" fmla="val 2082"/>
            </a:avLst>
          </a:prstGeom>
          <a:solidFill>
            <a:schemeClr val="bg2"/>
          </a:solidFill>
        </p:spPr>
        <p:txBody>
          <a:bodyPr/>
          <a:p/>
        </p:txBody>
      </p:sp>
      <p:sp>
        <p:nvSpPr>
          <p:cNvPr id="14" name="Shape 411"/>
          <p:cNvSpPr/>
          <p:nvPr/>
        </p:nvSpPr>
        <p:spPr>
          <a:xfrm>
            <a:off x="4565904" y="1828800"/>
            <a:ext cx="731520" cy="731520"/>
          </a:xfrm>
          <a:prstGeom prst="ellipse">
            <a:avLst/>
          </a:prstGeom>
          <a:solidFill>
            <a:schemeClr val="accent6"/>
          </a:solidFill>
        </p:spPr>
        <p:txBody>
          <a:bodyPr/>
          <a:p/>
        </p:txBody>
      </p:sp>
      <p:pic>
        <p:nvPicPr>
          <p:cNvPr id="15" name="Icon 412" descr="Seedling"/>
          <p:cNvPicPr>
            <a:picLocks noChangeAspect="1"/>
          </p:cNvPicPr>
          <p:nvPr/>
        </p:nvPicPr>
        <p:blipFill>
          <a:blip r:embed="rId2"/>
          <a:stretch>
            <a:fillRect/>
          </a:stretch>
        </p:blipFill>
        <p:spPr>
          <a:xfrm>
            <a:off x="4748784" y="2011680"/>
            <a:ext cx="365760" cy="365760"/>
          </a:xfrm>
          <a:prstGeom prst="rect">
            <a:avLst/>
          </a:prstGeom>
        </p:spPr>
      </p:pic>
      <p:sp>
        <p:nvSpPr>
          <p:cNvPr id="16" name="Pill 413"/>
          <p:cNvSpPr/>
          <p:nvPr/>
        </p:nvSpPr>
        <p:spPr>
          <a:xfrm>
            <a:off x="5526024" y="1847088"/>
            <a:ext cx="749808" cy="292608"/>
          </a:xfrm>
          <a:prstGeom prst="roundRect">
            <a:avLst>
              <a:gd name="adj" fmla="val 53125"/>
            </a:avLst>
          </a:prstGeom>
          <a:solidFill>
            <a:schemeClr val="accent6"/>
          </a:solidFill>
        </p:spPr>
        <p:txBody>
          <a:bodyPr wrap="square" lIns="0" tIns="0" rIns="0" bIns="0" rtlCol="0" anchor="ctr"/>
          <a:lstStyle/>
          <a:p>
            <a:pPr marL="0" indent="0" algn="ctr">
              <a:buNone/>
            </a:pPr>
            <a:r>
              <a:rPr lang="en-US" sz="1400" b="1" dirty="0">
                <a:solidFill>
                  <a:schemeClr val="bg1"/>
                </a:solidFill>
              </a:rPr>
              <a:t>4.4.2</a:t>
            </a:r>
            <a:endParaRPr lang="en-US" sz="1400" dirty="0"/>
          </a:p>
        </p:txBody>
      </p:sp>
      <p:sp>
        <p:nvSpPr>
          <p:cNvPr id="17" name="Text 414"/>
          <p:cNvSpPr txBox="1"/>
          <p:nvPr/>
        </p:nvSpPr>
        <p:spPr>
          <a:xfrm>
            <a:off x="5526024"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Grow a tree / Piggy bank</a:t>
            </a:r>
            <a:endParaRPr lang="en-US" sz="1600" dirty="0"/>
          </a:p>
        </p:txBody>
      </p:sp>
      <p:sp>
        <p:nvSpPr>
          <p:cNvPr id="18" name="Text 415"/>
          <p:cNvSpPr txBox="1"/>
          <p:nvPr/>
        </p:nvSpPr>
        <p:spPr>
          <a:xfrm>
            <a:off x="4565904" y="2880360"/>
            <a:ext cx="3057144" cy="1580388"/>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rPr>
              <a:t>Light mini-game: water the tree or feed the piggy bank each day.</a:t>
            </a:r>
            <a:endParaRPr lang="en-US" sz="1500" dirty="0"/>
          </a:p>
          <a:p>
            <a:pPr marL="177800" indent="-177800">
              <a:spcAft>
                <a:spcPts val="600"/>
              </a:spcAft>
              <a:buSzPct val="100000"/>
              <a:buChar char="•"/>
            </a:pPr>
            <a:r>
              <a:rPr lang="en-US" sz="1500" dirty="0">
                <a:solidFill>
                  <a:schemeClr val="tx1"/>
                </a:solidFill>
              </a:rPr>
              <a:t>A fully grown tree yields VND 50k or 100k discount vouchers when wholesale stock is ordered.</a:t>
            </a:r>
            <a:endParaRPr lang="en-US" sz="1500" dirty="0"/>
          </a:p>
        </p:txBody>
      </p:sp>
      <p:sp>
        <p:nvSpPr>
          <p:cNvPr id="19" name="Shape 416"/>
          <p:cNvSpPr/>
          <p:nvPr/>
        </p:nvSpPr>
        <p:spPr>
          <a:xfrm>
            <a:off x="4565904" y="4552188"/>
            <a:ext cx="3057144" cy="1482852"/>
          </a:xfrm>
          <a:prstGeom prst="roundRect">
            <a:avLst>
              <a:gd name="adj" fmla="val 4933"/>
            </a:avLst>
          </a:prstGeom>
          <a:solidFill>
            <a:schemeClr val="bg1"/>
          </a:solidFill>
        </p:spPr>
        <p:txBody>
          <a:bodyPr/>
          <a:p/>
        </p:txBody>
      </p:sp>
      <p:sp>
        <p:nvSpPr>
          <p:cNvPr id="20" name="Text 417"/>
          <p:cNvSpPr txBox="1"/>
          <p:nvPr/>
        </p:nvSpPr>
        <p:spPr>
          <a:xfrm>
            <a:off x="4748784" y="4661916"/>
            <a:ext cx="2691384" cy="201168"/>
          </a:xfrm>
          <a:prstGeom prst="rect">
            <a:avLst/>
          </a:prstGeom>
          <a:noFill/>
        </p:spPr>
        <p:txBody>
          <a:bodyPr wrap="square" lIns="0" tIns="0" rIns="0" bIns="0" rtlCol="0" anchor="t"/>
          <a:lstStyle/>
          <a:p>
            <a:pPr marL="0" indent="0">
              <a:buNone/>
            </a:pPr>
            <a:r>
              <a:rPr lang="en-US" sz="1200" b="1" dirty="0">
                <a:solidFill>
                  <a:schemeClr val="accent6"/>
                </a:solidFill>
              </a:rPr>
              <a:t>MECHANIC</a:t>
            </a:r>
            <a:endParaRPr lang="en-US" sz="1200" dirty="0"/>
          </a:p>
        </p:txBody>
      </p:sp>
      <p:sp>
        <p:nvSpPr>
          <p:cNvPr id="21" name="Text 418"/>
          <p:cNvSpPr txBox="1"/>
          <p:nvPr/>
        </p:nvSpPr>
        <p:spPr>
          <a:xfrm>
            <a:off x="4748784" y="4899660"/>
            <a:ext cx="2691384" cy="1043940"/>
          </a:xfrm>
          <a:prstGeom prst="rect">
            <a:avLst/>
          </a:prstGeom>
          <a:noFill/>
        </p:spPr>
        <p:txBody>
          <a:bodyPr wrap="square" lIns="0" tIns="0" rIns="0" bIns="0" rtlCol="0" anchor="t"/>
          <a:lstStyle/>
          <a:p>
            <a:pPr marL="0" indent="0">
              <a:buNone/>
            </a:pPr>
            <a:r>
              <a:rPr lang="en-US" sz="1500" dirty="0">
                <a:solidFill>
                  <a:schemeClr val="tx1"/>
                </a:solidFill>
              </a:rPr>
              <a:t>Dopamine Loop: small, instant rewards create moments of joy during quiet time at the counter.</a:t>
            </a:r>
            <a:endParaRPr lang="en-US" sz="1500" dirty="0"/>
          </a:p>
        </p:txBody>
      </p:sp>
      <p:sp>
        <p:nvSpPr>
          <p:cNvPr id="22" name="Shape 419"/>
          <p:cNvSpPr/>
          <p:nvPr/>
        </p:nvSpPr>
        <p:spPr>
          <a:xfrm>
            <a:off x="8125968" y="1554480"/>
            <a:ext cx="3514344" cy="4709160"/>
          </a:xfrm>
          <a:prstGeom prst="roundRect">
            <a:avLst>
              <a:gd name="adj" fmla="val 2082"/>
            </a:avLst>
          </a:prstGeom>
          <a:solidFill>
            <a:schemeClr val="bg2"/>
          </a:solidFill>
        </p:spPr>
        <p:txBody>
          <a:bodyPr/>
          <a:p/>
        </p:txBody>
      </p:sp>
      <p:sp>
        <p:nvSpPr>
          <p:cNvPr id="23" name="Shape 420"/>
          <p:cNvSpPr/>
          <p:nvPr/>
        </p:nvSpPr>
        <p:spPr>
          <a:xfrm>
            <a:off x="8354568" y="1828800"/>
            <a:ext cx="731520" cy="731520"/>
          </a:xfrm>
          <a:prstGeom prst="ellipse">
            <a:avLst/>
          </a:prstGeom>
          <a:solidFill>
            <a:schemeClr val="accent6"/>
          </a:solidFill>
        </p:spPr>
        <p:txBody>
          <a:bodyPr/>
          <a:p/>
        </p:txBody>
      </p:sp>
      <p:pic>
        <p:nvPicPr>
          <p:cNvPr id="24" name="Icon 421" descr="Dharmachakra"/>
          <p:cNvPicPr>
            <a:picLocks noChangeAspect="1"/>
          </p:cNvPicPr>
          <p:nvPr/>
        </p:nvPicPr>
        <p:blipFill>
          <a:blip r:embed="rId3"/>
          <a:stretch>
            <a:fillRect/>
          </a:stretch>
        </p:blipFill>
        <p:spPr>
          <a:xfrm>
            <a:off x="8537448" y="2011680"/>
            <a:ext cx="365760" cy="365760"/>
          </a:xfrm>
          <a:prstGeom prst="rect">
            <a:avLst/>
          </a:prstGeom>
        </p:spPr>
      </p:pic>
      <p:sp>
        <p:nvSpPr>
          <p:cNvPr id="25" name="Pill 422"/>
          <p:cNvSpPr/>
          <p:nvPr/>
        </p:nvSpPr>
        <p:spPr>
          <a:xfrm>
            <a:off x="9314688" y="1847088"/>
            <a:ext cx="749808" cy="292608"/>
          </a:xfrm>
          <a:prstGeom prst="roundRect">
            <a:avLst>
              <a:gd name="adj" fmla="val 53125"/>
            </a:avLst>
          </a:prstGeom>
          <a:solidFill>
            <a:schemeClr val="accent6"/>
          </a:solidFill>
        </p:spPr>
        <p:txBody>
          <a:bodyPr wrap="square" lIns="0" tIns="0" rIns="0" bIns="0" rtlCol="0" anchor="ctr"/>
          <a:lstStyle/>
          <a:p>
            <a:pPr marL="0" indent="0" algn="ctr">
              <a:buNone/>
            </a:pPr>
            <a:r>
              <a:rPr lang="en-US" sz="1400" b="1" dirty="0">
                <a:solidFill>
                  <a:schemeClr val="bg1"/>
                </a:solidFill>
              </a:rPr>
              <a:t>4.4.3</a:t>
            </a:r>
            <a:endParaRPr lang="en-US" sz="1400" dirty="0"/>
          </a:p>
        </p:txBody>
      </p:sp>
      <p:sp>
        <p:nvSpPr>
          <p:cNvPr id="26" name="Text 423"/>
          <p:cNvSpPr txBox="1"/>
          <p:nvPr/>
        </p:nvSpPr>
        <p:spPr>
          <a:xfrm>
            <a:off x="9314688" y="2194560"/>
            <a:ext cx="2097024" cy="548640"/>
          </a:xfrm>
          <a:prstGeom prst="rect">
            <a:avLst/>
          </a:prstGeom>
          <a:noFill/>
        </p:spPr>
        <p:txBody>
          <a:bodyPr wrap="square" lIns="0" tIns="0" rIns="0" bIns="0" rtlCol="0" anchor="t"/>
          <a:lstStyle/>
          <a:p>
            <a:pPr marL="0" indent="0">
              <a:buNone/>
            </a:pPr>
            <a:r>
              <a:rPr lang="en-US" sz="1600" b="1" dirty="0">
                <a:solidFill>
                  <a:schemeClr val="tx1"/>
                </a:solidFill>
              </a:rPr>
              <a:t>Lucky wheel / Shake for coins</a:t>
            </a:r>
            <a:endParaRPr lang="en-US" sz="1600" dirty="0"/>
          </a:p>
        </p:txBody>
      </p:sp>
      <p:sp>
        <p:nvSpPr>
          <p:cNvPr id="27" name="Text 424"/>
          <p:cNvSpPr txBox="1"/>
          <p:nvPr/>
        </p:nvSpPr>
        <p:spPr>
          <a:xfrm>
            <a:off x="8354568" y="2880360"/>
            <a:ext cx="3057144" cy="1580388"/>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rPr>
              <a:t>Spin during the lunch break (12–1 p.m.) or after completing a successful order.</a:t>
            </a:r>
            <a:endParaRPr lang="en-US" sz="1500" dirty="0"/>
          </a:p>
          <a:p>
            <a:pPr marL="177800" indent="-177800">
              <a:spcAft>
                <a:spcPts val="600"/>
              </a:spcAft>
              <a:buSzPct val="100000"/>
              <a:buChar char="•"/>
            </a:pPr>
            <a:r>
              <a:rPr lang="en-US" sz="1500" dirty="0">
                <a:solidFill>
                  <a:schemeClr val="tx1"/>
                </a:solidFill>
              </a:rPr>
              <a:t>Win phone top-up scratch cards, free-shipping vouchers or FinViet Points.</a:t>
            </a:r>
            <a:endParaRPr lang="en-US" sz="1500" dirty="0"/>
          </a:p>
        </p:txBody>
      </p:sp>
      <p:sp>
        <p:nvSpPr>
          <p:cNvPr id="28" name="Shape 425"/>
          <p:cNvSpPr/>
          <p:nvPr/>
        </p:nvSpPr>
        <p:spPr>
          <a:xfrm>
            <a:off x="8354568" y="4552188"/>
            <a:ext cx="3057144" cy="1482852"/>
          </a:xfrm>
          <a:prstGeom prst="roundRect">
            <a:avLst>
              <a:gd name="adj" fmla="val 4933"/>
            </a:avLst>
          </a:prstGeom>
          <a:solidFill>
            <a:schemeClr val="bg1"/>
          </a:solidFill>
        </p:spPr>
        <p:txBody>
          <a:bodyPr/>
          <a:p/>
        </p:txBody>
      </p:sp>
      <p:sp>
        <p:nvSpPr>
          <p:cNvPr id="29" name="Text 426"/>
          <p:cNvSpPr txBox="1"/>
          <p:nvPr/>
        </p:nvSpPr>
        <p:spPr>
          <a:xfrm>
            <a:off x="8537448" y="4661916"/>
            <a:ext cx="2691384" cy="201168"/>
          </a:xfrm>
          <a:prstGeom prst="rect">
            <a:avLst/>
          </a:prstGeom>
          <a:noFill/>
        </p:spPr>
        <p:txBody>
          <a:bodyPr wrap="square" lIns="0" tIns="0" rIns="0" bIns="0" rtlCol="0" anchor="t"/>
          <a:lstStyle/>
          <a:p>
            <a:pPr marL="0" indent="0">
              <a:buNone/>
            </a:pPr>
            <a:r>
              <a:rPr lang="en-US" sz="1200" b="1" dirty="0">
                <a:solidFill>
                  <a:schemeClr val="accent6"/>
                </a:solidFill>
              </a:rPr>
              <a:t>REWARDS</a:t>
            </a:r>
            <a:endParaRPr lang="en-US" sz="1200" dirty="0"/>
          </a:p>
        </p:txBody>
      </p:sp>
      <p:sp>
        <p:nvSpPr>
          <p:cNvPr id="30" name="Text 427"/>
          <p:cNvSpPr txBox="1"/>
          <p:nvPr/>
        </p:nvSpPr>
        <p:spPr>
          <a:xfrm>
            <a:off x="8537448" y="4899660"/>
            <a:ext cx="2691384" cy="1043940"/>
          </a:xfrm>
          <a:prstGeom prst="rect">
            <a:avLst/>
          </a:prstGeom>
          <a:noFill/>
        </p:spPr>
        <p:txBody>
          <a:bodyPr wrap="square" lIns="0" tIns="0" rIns="0" bIns="0" rtlCol="0" anchor="t"/>
          <a:lstStyle/>
          <a:p>
            <a:pPr marL="0" indent="0">
              <a:buNone/>
            </a:pPr>
            <a:r>
              <a:rPr lang="en-US" sz="1500" dirty="0">
                <a:solidFill>
                  <a:schemeClr val="tx1"/>
                </a:solidFill>
              </a:rPr>
              <a:t>Makes the app a close companion in the store owner's daily routine.</a:t>
            </a:r>
            <a:endParaRPr lang="en-US" sz="1500" dirty="0"/>
          </a:p>
        </p:txBody>
      </p:sp>
      <p:sp>
        <p:nvSpPr>
          <p:cNvPr id="31"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5"/>
                </a:solidFill>
              </a:rPr>
              <a:t>PILLAR 5  ·  REDUCE SALES TASKS</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5"/>
                </a:solidFill>
              </a:rPr>
              <a:t>AI Vision Audit (Shelf Display)</a:t>
            </a:r>
            <a:endParaRPr lang="en-US" sz="3200" dirty="0"/>
          </a:p>
        </p:txBody>
      </p:sp>
      <p:sp>
        <p:nvSpPr>
          <p:cNvPr id="4" name="Pill 428"/>
          <p:cNvSpPr/>
          <p:nvPr/>
        </p:nvSpPr>
        <p:spPr>
          <a:xfrm>
            <a:off x="548640" y="1481328"/>
            <a:ext cx="566928" cy="329184"/>
          </a:xfrm>
          <a:prstGeom prst="roundRect">
            <a:avLst>
              <a:gd name="adj" fmla="val 47222"/>
            </a:avLst>
          </a:prstGeom>
          <a:solidFill>
            <a:schemeClr val="accent5"/>
          </a:solidFill>
        </p:spPr>
        <p:txBody>
          <a:bodyPr wrap="square" lIns="0" tIns="0" rIns="0" bIns="0" rtlCol="0" anchor="ctr"/>
          <a:lstStyle/>
          <a:p>
            <a:pPr marL="0" indent="0" algn="ctr">
              <a:buNone/>
            </a:pPr>
            <a:r>
              <a:rPr lang="en-US" sz="1400" b="1" dirty="0">
                <a:solidFill>
                  <a:schemeClr val="bg1"/>
                </a:solidFill>
              </a:rPr>
              <a:t>5.1</a:t>
            </a:r>
            <a:endParaRPr lang="en-US" sz="1400" dirty="0"/>
          </a:p>
        </p:txBody>
      </p:sp>
      <p:sp>
        <p:nvSpPr>
          <p:cNvPr id="5" name="Text 429"/>
          <p:cNvSpPr txBox="1"/>
          <p:nvPr/>
        </p:nvSpPr>
        <p:spPr>
          <a:xfrm>
            <a:off x="1252728" y="1417320"/>
            <a:ext cx="9144000" cy="457200"/>
          </a:xfrm>
          <a:prstGeom prst="rect">
            <a:avLst/>
          </a:prstGeom>
          <a:noFill/>
        </p:spPr>
        <p:txBody>
          <a:bodyPr wrap="square" lIns="0" tIns="0" rIns="0" bIns="0" rtlCol="0" anchor="ctr"/>
          <a:lstStyle/>
          <a:p>
            <a:pPr marL="0" indent="0">
              <a:buNone/>
            </a:pPr>
            <a:r>
              <a:rPr lang="en-US" sz="2000" b="1" dirty="0">
                <a:solidFill>
                  <a:schemeClr val="tx1"/>
                </a:solidFill>
              </a:rPr>
              <a:t>Self-register &amp; AI-scored shelf display</a:t>
            </a:r>
            <a:endParaRPr lang="en-US" sz="2000" dirty="0"/>
          </a:p>
        </p:txBody>
      </p:sp>
      <p:sp>
        <p:nvSpPr>
          <p:cNvPr id="6" name="Text 430"/>
          <p:cNvSpPr txBox="1"/>
          <p:nvPr/>
        </p:nvSpPr>
        <p:spPr>
          <a:xfrm>
            <a:off x="548640" y="1920240"/>
            <a:ext cx="11091672" cy="365760"/>
          </a:xfrm>
          <a:prstGeom prst="rect">
            <a:avLst/>
          </a:prstGeom>
          <a:noFill/>
        </p:spPr>
        <p:txBody>
          <a:bodyPr wrap="square" lIns="0" tIns="0" rIns="0" bIns="0" rtlCol="0" anchor="ctr"/>
          <a:lstStyle/>
          <a:p>
            <a:pPr marL="0" indent="0">
              <a:buNone/>
            </a:pPr>
            <a:r>
              <a:rPr lang="en-US" sz="1400" b="1" dirty="0">
                <a:solidFill>
                  <a:schemeClr val="accent5"/>
                </a:solidFill>
              </a:rPr>
              <a:t>Core principle: every task that previously required a Sales rep on site is now handled 100% by the Merchant in the app.</a:t>
            </a:r>
            <a:endParaRPr lang="en-US" sz="1400" dirty="0"/>
          </a:p>
        </p:txBody>
      </p:sp>
      <p:sp>
        <p:nvSpPr>
          <p:cNvPr id="7" name="Header 431"/>
          <p:cNvSpPr/>
          <p:nvPr/>
        </p:nvSpPr>
        <p:spPr>
          <a:xfrm>
            <a:off x="548640" y="2377440"/>
            <a:ext cx="5408676" cy="365760"/>
          </a:xfrm>
          <a:prstGeom prst="roundRect">
            <a:avLst>
              <a:gd name="adj" fmla="val 15000"/>
            </a:avLst>
          </a:prstGeom>
          <a:solidFill>
            <a:schemeClr val="accent4"/>
          </a:solidFill>
        </p:spPr>
        <p:txBody>
          <a:bodyPr wrap="square" lIns="0" tIns="0" rIns="0" bIns="0" rtlCol="0" anchor="ctr"/>
          <a:lstStyle/>
          <a:p>
            <a:pPr marL="0" indent="0" algn="ctr">
              <a:buNone/>
            </a:pPr>
            <a:r>
              <a:rPr lang="en-US" sz="1400" b="1" dirty="0">
                <a:solidFill>
                  <a:schemeClr val="bg1"/>
                </a:solidFill>
              </a:rPr>
              <a:t>BEFORE (Manual)</a:t>
            </a:r>
            <a:endParaRPr lang="en-US" sz="1400" dirty="0"/>
          </a:p>
        </p:txBody>
      </p:sp>
      <p:sp>
        <p:nvSpPr>
          <p:cNvPr id="8" name="Header 432"/>
          <p:cNvSpPr/>
          <p:nvPr/>
        </p:nvSpPr>
        <p:spPr>
          <a:xfrm>
            <a:off x="6231636" y="2377440"/>
            <a:ext cx="5408676" cy="365760"/>
          </a:xfrm>
          <a:prstGeom prst="roundRect">
            <a:avLst>
              <a:gd name="adj" fmla="val 15000"/>
            </a:avLst>
          </a:prstGeom>
          <a:solidFill>
            <a:schemeClr val="accent5"/>
          </a:solidFill>
        </p:spPr>
        <p:txBody>
          <a:bodyPr wrap="square" lIns="0" tIns="0" rIns="0" bIns="0" rtlCol="0" anchor="ctr"/>
          <a:lstStyle/>
          <a:p>
            <a:pPr marL="0" indent="0" algn="ctr">
              <a:buNone/>
            </a:pPr>
            <a:r>
              <a:rPr lang="en-US" sz="1400" b="1" dirty="0">
                <a:solidFill>
                  <a:schemeClr val="bg1"/>
                </a:solidFill>
              </a:rPr>
              <a:t>AFTER (Self-service)</a:t>
            </a:r>
            <a:endParaRPr lang="en-US" sz="1400" dirty="0"/>
          </a:p>
        </p:txBody>
      </p:sp>
      <p:sp>
        <p:nvSpPr>
          <p:cNvPr id="9" name="Shape 433"/>
          <p:cNvSpPr/>
          <p:nvPr/>
        </p:nvSpPr>
        <p:spPr>
          <a:xfrm>
            <a:off x="548640" y="2834640"/>
            <a:ext cx="5408676" cy="1280160"/>
          </a:xfrm>
          <a:prstGeom prst="roundRect">
            <a:avLst>
              <a:gd name="adj" fmla="val 5714"/>
            </a:avLst>
          </a:prstGeom>
          <a:solidFill>
            <a:schemeClr val="bg2"/>
          </a:solidFill>
        </p:spPr>
        <p:txBody>
          <a:bodyPr/>
          <a:p/>
        </p:txBody>
      </p:sp>
      <p:sp>
        <p:nvSpPr>
          <p:cNvPr id="10" name="Shape 434"/>
          <p:cNvSpPr/>
          <p:nvPr/>
        </p:nvSpPr>
        <p:spPr>
          <a:xfrm>
            <a:off x="777240" y="3063240"/>
            <a:ext cx="640080" cy="640080"/>
          </a:xfrm>
          <a:prstGeom prst="ellipse">
            <a:avLst/>
          </a:prstGeom>
          <a:solidFill>
            <a:schemeClr val="accent4"/>
          </a:solidFill>
        </p:spPr>
        <p:txBody>
          <a:bodyPr/>
          <a:p/>
        </p:txBody>
      </p:sp>
      <p:pic>
        <p:nvPicPr>
          <p:cNvPr id="11" name="Icon 435" descr="Camera"/>
          <p:cNvPicPr>
            <a:picLocks noChangeAspect="1"/>
          </p:cNvPicPr>
          <p:nvPr/>
        </p:nvPicPr>
        <p:blipFill>
          <a:blip r:embed="rId1"/>
          <a:stretch>
            <a:fillRect/>
          </a:stretch>
        </p:blipFill>
        <p:spPr>
          <a:xfrm>
            <a:off x="937260" y="3223260"/>
            <a:ext cx="320040" cy="320040"/>
          </a:xfrm>
          <a:prstGeom prst="rect">
            <a:avLst/>
          </a:prstGeom>
        </p:spPr>
      </p:pic>
      <p:sp>
        <p:nvSpPr>
          <p:cNvPr id="12" name="Text 436"/>
          <p:cNvSpPr txBox="1"/>
          <p:nvPr/>
        </p:nvSpPr>
        <p:spPr>
          <a:xfrm>
            <a:off x="1600200" y="2971800"/>
            <a:ext cx="4128516" cy="1005840"/>
          </a:xfrm>
          <a:prstGeom prst="rect">
            <a:avLst/>
          </a:prstGeom>
          <a:noFill/>
        </p:spPr>
        <p:txBody>
          <a:bodyPr wrap="square" lIns="0" tIns="0" rIns="0" bIns="0" rtlCol="0" anchor="ctr"/>
          <a:lstStyle/>
          <a:p>
            <a:pPr marL="0" indent="0">
              <a:buNone/>
            </a:pPr>
            <a:r>
              <a:rPr lang="en-US" sz="1400" dirty="0">
                <a:solidFill>
                  <a:schemeClr val="tx1"/>
                </a:solidFill>
              </a:rPr>
              <a:t>Sales reps carry contracts to persuade store owners to sign display packages, then visit periodically to photograph shelves with the DMS app for manual scoring by Trade Marketing. Taking photos eats up 25–30% of each visit.</a:t>
            </a:r>
            <a:endParaRPr lang="en-US" sz="1400" dirty="0"/>
          </a:p>
        </p:txBody>
      </p:sp>
      <p:sp>
        <p:nvSpPr>
          <p:cNvPr id="13" name="Shape 437"/>
          <p:cNvSpPr/>
          <p:nvPr/>
        </p:nvSpPr>
        <p:spPr>
          <a:xfrm>
            <a:off x="6231636" y="2834640"/>
            <a:ext cx="5408676" cy="1280160"/>
          </a:xfrm>
          <a:prstGeom prst="roundRect">
            <a:avLst>
              <a:gd name="adj" fmla="val 5714"/>
            </a:avLst>
          </a:prstGeom>
          <a:solidFill>
            <a:schemeClr val="bg1"/>
          </a:solidFill>
          <a:ln w="19050">
            <a:solidFill>
              <a:schemeClr val="accent5"/>
            </a:solidFill>
            <a:prstDash val="solid"/>
          </a:ln>
        </p:spPr>
        <p:txBody>
          <a:bodyPr/>
          <a:p/>
        </p:txBody>
      </p:sp>
      <p:sp>
        <p:nvSpPr>
          <p:cNvPr id="14" name="Shape 438"/>
          <p:cNvSpPr/>
          <p:nvPr/>
        </p:nvSpPr>
        <p:spPr>
          <a:xfrm>
            <a:off x="6460236" y="3063240"/>
            <a:ext cx="640080" cy="640080"/>
          </a:xfrm>
          <a:prstGeom prst="ellipse">
            <a:avLst/>
          </a:prstGeom>
          <a:solidFill>
            <a:schemeClr val="accent5"/>
          </a:solidFill>
        </p:spPr>
        <p:txBody>
          <a:bodyPr/>
          <a:p/>
        </p:txBody>
      </p:sp>
      <p:pic>
        <p:nvPicPr>
          <p:cNvPr id="15" name="Icon 439" descr="Brain"/>
          <p:cNvPicPr>
            <a:picLocks noChangeAspect="1"/>
          </p:cNvPicPr>
          <p:nvPr/>
        </p:nvPicPr>
        <p:blipFill>
          <a:blip r:embed="rId2"/>
          <a:stretch>
            <a:fillRect/>
          </a:stretch>
        </p:blipFill>
        <p:spPr>
          <a:xfrm>
            <a:off x="6620256" y="3223260"/>
            <a:ext cx="320040" cy="320040"/>
          </a:xfrm>
          <a:prstGeom prst="rect">
            <a:avLst/>
          </a:prstGeom>
        </p:spPr>
      </p:pic>
      <p:sp>
        <p:nvSpPr>
          <p:cNvPr id="16" name="Text 440"/>
          <p:cNvSpPr txBox="1"/>
          <p:nvPr/>
        </p:nvSpPr>
        <p:spPr>
          <a:xfrm>
            <a:off x="7283196" y="2944368"/>
            <a:ext cx="4128516" cy="1060704"/>
          </a:xfrm>
          <a:prstGeom prst="rect">
            <a:avLst/>
          </a:prstGeom>
          <a:noFill/>
        </p:spPr>
        <p:txBody>
          <a:bodyPr wrap="square" lIns="0" tIns="0" rIns="0" bIns="0" rtlCol="0" anchor="ctr"/>
          <a:lstStyle/>
          <a:p>
            <a:pPr marL="0" indent="0">
              <a:buNone/>
            </a:pPr>
            <a:r>
              <a:rPr lang="en-US" sz="1400" dirty="0">
                <a:solidFill>
                  <a:schemeClr val="tx1"/>
                </a:solidFill>
              </a:rPr>
              <a:t>Merchants self-register for a package and photograph shelves using the standard frame. AI scores them, and rewards go straight into the Wallet within 24 hours. Transparent, with no worry about Sales forgetting to take photos.</a:t>
            </a:r>
            <a:endParaRPr lang="en-US" sz="1400" dirty="0"/>
          </a:p>
        </p:txBody>
      </p:sp>
      <p:sp>
        <p:nvSpPr>
          <p:cNvPr id="17" name="Shape 441"/>
          <p:cNvSpPr/>
          <p:nvPr/>
        </p:nvSpPr>
        <p:spPr>
          <a:xfrm>
            <a:off x="548640" y="4297680"/>
            <a:ext cx="11091672" cy="1965960"/>
          </a:xfrm>
          <a:prstGeom prst="roundRect">
            <a:avLst>
              <a:gd name="adj" fmla="val 3721"/>
            </a:avLst>
          </a:prstGeom>
          <a:solidFill>
            <a:schemeClr val="bg2"/>
          </a:solidFill>
        </p:spPr>
        <p:txBody>
          <a:bodyPr/>
          <a:p/>
        </p:txBody>
      </p:sp>
      <p:sp>
        <p:nvSpPr>
          <p:cNvPr id="18" name="Text 442"/>
          <p:cNvSpPr txBox="1"/>
          <p:nvPr/>
        </p:nvSpPr>
        <p:spPr>
          <a:xfrm>
            <a:off x="822960" y="4480560"/>
            <a:ext cx="6062472" cy="164592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Merchants choose each Brand's display package (Gold / Silver / Bronze; facade, end-cap, etc.), view sample photos and reward levels, then tap "Register to join".</a:t>
            </a:r>
            <a:endParaRPr lang="en-US" sz="1400" dirty="0"/>
          </a:p>
          <a:p>
            <a:pPr marL="177800" indent="-177800">
              <a:spcAft>
                <a:spcPts val="600"/>
              </a:spcAft>
              <a:buSzPct val="100000"/>
              <a:buChar char="•"/>
            </a:pPr>
            <a:r>
              <a:rPr lang="en-US" sz="1400" dirty="0">
                <a:solidFill>
                  <a:schemeClr val="tx1"/>
                </a:solidFill>
              </a:rPr>
              <a:t>Take photos using the standard corner-frame overlay (Planogram Guide Overlay). AI Image Recognition scores Facings, Share of Shelf and SKU order.</a:t>
            </a:r>
            <a:endParaRPr lang="en-US" sz="1400" dirty="0"/>
          </a:p>
          <a:p>
            <a:pPr marL="177800" indent="-177800">
              <a:spcAft>
                <a:spcPts val="600"/>
              </a:spcAft>
              <a:buSzPct val="100000"/>
              <a:buChar char="•"/>
            </a:pPr>
            <a:r>
              <a:rPr lang="en-US" sz="1400" dirty="0">
                <a:solidFill>
                  <a:schemeClr val="tx1"/>
                </a:solidFill>
              </a:rPr>
              <a:t>Anti-fraud: blocks uploading photos from the gallery, requires store GPS, and adds a date-time watermark.</a:t>
            </a:r>
            <a:endParaRPr lang="en-US" sz="1400" dirty="0"/>
          </a:p>
        </p:txBody>
      </p:sp>
      <p:sp>
        <p:nvSpPr>
          <p:cNvPr id="19" name="Shape 443"/>
          <p:cNvSpPr/>
          <p:nvPr/>
        </p:nvSpPr>
        <p:spPr>
          <a:xfrm>
            <a:off x="7479792" y="4480560"/>
            <a:ext cx="3931920" cy="1600200"/>
          </a:xfrm>
          <a:prstGeom prst="roundRect">
            <a:avLst>
              <a:gd name="adj" fmla="val 4571"/>
            </a:avLst>
          </a:prstGeom>
          <a:solidFill>
            <a:schemeClr val="bg1"/>
          </a:solidFill>
        </p:spPr>
        <p:txBody>
          <a:bodyPr/>
          <a:p/>
        </p:txBody>
      </p:sp>
      <p:sp>
        <p:nvSpPr>
          <p:cNvPr id="20" name="Text 444"/>
          <p:cNvSpPr txBox="1"/>
          <p:nvPr/>
        </p:nvSpPr>
        <p:spPr>
          <a:xfrm>
            <a:off x="7662672" y="4590288"/>
            <a:ext cx="3566160" cy="201168"/>
          </a:xfrm>
          <a:prstGeom prst="rect">
            <a:avLst/>
          </a:prstGeom>
          <a:noFill/>
        </p:spPr>
        <p:txBody>
          <a:bodyPr wrap="square" lIns="0" tIns="0" rIns="0" bIns="0" rtlCol="0" anchor="t"/>
          <a:lstStyle/>
          <a:p>
            <a:pPr marL="0" indent="0">
              <a:buNone/>
            </a:pPr>
            <a:r>
              <a:rPr lang="en-US" sz="1200" b="1" dirty="0">
                <a:solidFill>
                  <a:schemeClr val="accent5"/>
                </a:solidFill>
              </a:rPr>
              <a:t>RESULT</a:t>
            </a:r>
            <a:endParaRPr lang="en-US" sz="1200" dirty="0"/>
          </a:p>
        </p:txBody>
      </p:sp>
      <p:sp>
        <p:nvSpPr>
          <p:cNvPr id="21" name="Text 445"/>
          <p:cNvSpPr txBox="1"/>
          <p:nvPr/>
        </p:nvSpPr>
        <p:spPr>
          <a:xfrm>
            <a:off x="7662672" y="4828032"/>
            <a:ext cx="3566160" cy="1161288"/>
          </a:xfrm>
          <a:prstGeom prst="rect">
            <a:avLst/>
          </a:prstGeom>
          <a:noFill/>
        </p:spPr>
        <p:txBody>
          <a:bodyPr wrap="square" lIns="0" tIns="0" rIns="0" bIns="0" rtlCol="0" anchor="t"/>
          <a:lstStyle/>
          <a:p>
            <a:pPr marL="0" indent="0">
              <a:buNone/>
            </a:pPr>
            <a:r>
              <a:rPr lang="en-US" sz="1400" dirty="0">
                <a:solidFill>
                  <a:schemeClr val="tx1"/>
                </a:solidFill>
              </a:rPr>
              <a:t>Once the standard is met, rewards go into the Merchant Wallet within 24 hours, with no intermediary approval.</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5"/>
                </a:solidFill>
              </a:rPr>
              <a:t>PILLAR 5  ·  REDUCE SALES TASKS</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5"/>
                </a:solidFill>
              </a:rPr>
              <a:t>Trade Promotion Tracking</a:t>
            </a:r>
            <a:endParaRPr lang="en-US" sz="3200" dirty="0"/>
          </a:p>
        </p:txBody>
      </p:sp>
      <p:sp>
        <p:nvSpPr>
          <p:cNvPr id="4" name="Pill 446"/>
          <p:cNvSpPr/>
          <p:nvPr/>
        </p:nvSpPr>
        <p:spPr>
          <a:xfrm>
            <a:off x="548640" y="1481328"/>
            <a:ext cx="566928" cy="329184"/>
          </a:xfrm>
          <a:prstGeom prst="roundRect">
            <a:avLst>
              <a:gd name="adj" fmla="val 47222"/>
            </a:avLst>
          </a:prstGeom>
          <a:solidFill>
            <a:schemeClr val="accent5"/>
          </a:solidFill>
        </p:spPr>
        <p:txBody>
          <a:bodyPr wrap="square" lIns="0" tIns="0" rIns="0" bIns="0" rtlCol="0" anchor="ctr"/>
          <a:lstStyle/>
          <a:p>
            <a:pPr marL="0" indent="0" algn="ctr">
              <a:buNone/>
            </a:pPr>
            <a:r>
              <a:rPr lang="en-US" sz="1400" b="1" dirty="0">
                <a:solidFill>
                  <a:schemeClr val="bg1"/>
                </a:solidFill>
              </a:rPr>
              <a:t>5.2</a:t>
            </a:r>
            <a:endParaRPr lang="en-US" sz="1400" dirty="0"/>
          </a:p>
        </p:txBody>
      </p:sp>
      <p:sp>
        <p:nvSpPr>
          <p:cNvPr id="5" name="Text 447"/>
          <p:cNvSpPr txBox="1"/>
          <p:nvPr/>
        </p:nvSpPr>
        <p:spPr>
          <a:xfrm>
            <a:off x="1252728" y="1417320"/>
            <a:ext cx="9144000" cy="457200"/>
          </a:xfrm>
          <a:prstGeom prst="rect">
            <a:avLst/>
          </a:prstGeom>
          <a:noFill/>
        </p:spPr>
        <p:txBody>
          <a:bodyPr wrap="square" lIns="0" tIns="0" rIns="0" bIns="0" rtlCol="0" anchor="ctr"/>
          <a:lstStyle/>
          <a:p>
            <a:pPr marL="0" indent="0">
              <a:buNone/>
            </a:pPr>
            <a:r>
              <a:rPr lang="en-US" sz="2000" b="1" dirty="0">
                <a:solidFill>
                  <a:schemeClr val="tx1"/>
                </a:solidFill>
              </a:rPr>
              <a:t>Self-register &amp; track accumulation programs</a:t>
            </a:r>
            <a:endParaRPr lang="en-US" sz="2000" dirty="0"/>
          </a:p>
        </p:txBody>
      </p:sp>
      <p:sp>
        <p:nvSpPr>
          <p:cNvPr id="6" name="Header 448"/>
          <p:cNvSpPr/>
          <p:nvPr/>
        </p:nvSpPr>
        <p:spPr>
          <a:xfrm>
            <a:off x="548640" y="2011680"/>
            <a:ext cx="5408676" cy="365760"/>
          </a:xfrm>
          <a:prstGeom prst="roundRect">
            <a:avLst>
              <a:gd name="adj" fmla="val 15000"/>
            </a:avLst>
          </a:prstGeom>
          <a:solidFill>
            <a:schemeClr val="accent4"/>
          </a:solidFill>
        </p:spPr>
        <p:txBody>
          <a:bodyPr wrap="square" lIns="0" tIns="0" rIns="0" bIns="0" rtlCol="0" anchor="ctr"/>
          <a:lstStyle/>
          <a:p>
            <a:pPr marL="0" indent="0" algn="ctr">
              <a:buNone/>
            </a:pPr>
            <a:r>
              <a:rPr lang="en-US" sz="1400" b="1" dirty="0">
                <a:solidFill>
                  <a:schemeClr val="bg1"/>
                </a:solidFill>
              </a:rPr>
              <a:t>BEFORE (Manual)</a:t>
            </a:r>
            <a:endParaRPr lang="en-US" sz="1400" dirty="0"/>
          </a:p>
        </p:txBody>
      </p:sp>
      <p:sp>
        <p:nvSpPr>
          <p:cNvPr id="7" name="Header 449"/>
          <p:cNvSpPr/>
          <p:nvPr/>
        </p:nvSpPr>
        <p:spPr>
          <a:xfrm>
            <a:off x="6231636" y="2011680"/>
            <a:ext cx="5408676" cy="365760"/>
          </a:xfrm>
          <a:prstGeom prst="roundRect">
            <a:avLst>
              <a:gd name="adj" fmla="val 15000"/>
            </a:avLst>
          </a:prstGeom>
          <a:solidFill>
            <a:schemeClr val="accent5"/>
          </a:solidFill>
        </p:spPr>
        <p:txBody>
          <a:bodyPr wrap="square" lIns="0" tIns="0" rIns="0" bIns="0" rtlCol="0" anchor="ctr"/>
          <a:lstStyle/>
          <a:p>
            <a:pPr marL="0" indent="0" algn="ctr">
              <a:buNone/>
            </a:pPr>
            <a:r>
              <a:rPr lang="en-US" sz="1400" b="1" dirty="0">
                <a:solidFill>
                  <a:schemeClr val="bg1"/>
                </a:solidFill>
              </a:rPr>
              <a:t>AFTER (Self-service)</a:t>
            </a:r>
            <a:endParaRPr lang="en-US" sz="1400" dirty="0"/>
          </a:p>
        </p:txBody>
      </p:sp>
      <p:sp>
        <p:nvSpPr>
          <p:cNvPr id="8" name="Shape 450"/>
          <p:cNvSpPr/>
          <p:nvPr/>
        </p:nvSpPr>
        <p:spPr>
          <a:xfrm>
            <a:off x="548640" y="2468880"/>
            <a:ext cx="5408676" cy="1463040"/>
          </a:xfrm>
          <a:prstGeom prst="roundRect">
            <a:avLst>
              <a:gd name="adj" fmla="val 5000"/>
            </a:avLst>
          </a:prstGeom>
          <a:solidFill>
            <a:schemeClr val="bg2"/>
          </a:solidFill>
        </p:spPr>
        <p:txBody>
          <a:bodyPr/>
          <a:p/>
        </p:txBody>
      </p:sp>
      <p:sp>
        <p:nvSpPr>
          <p:cNvPr id="9" name="Shape 451"/>
          <p:cNvSpPr/>
          <p:nvPr/>
        </p:nvSpPr>
        <p:spPr>
          <a:xfrm>
            <a:off x="777240" y="2697480"/>
            <a:ext cx="640080" cy="640080"/>
          </a:xfrm>
          <a:prstGeom prst="ellipse">
            <a:avLst/>
          </a:prstGeom>
          <a:solidFill>
            <a:schemeClr val="accent4"/>
          </a:solidFill>
        </p:spPr>
        <p:txBody>
          <a:bodyPr/>
          <a:p/>
        </p:txBody>
      </p:sp>
      <p:pic>
        <p:nvPicPr>
          <p:cNvPr id="10" name="Icon 452" descr="ClipboardList"/>
          <p:cNvPicPr>
            <a:picLocks noChangeAspect="1"/>
          </p:cNvPicPr>
          <p:nvPr/>
        </p:nvPicPr>
        <p:blipFill>
          <a:blip r:embed="rId1"/>
          <a:stretch>
            <a:fillRect/>
          </a:stretch>
        </p:blipFill>
        <p:spPr>
          <a:xfrm>
            <a:off x="937260" y="2857500"/>
            <a:ext cx="320040" cy="320040"/>
          </a:xfrm>
          <a:prstGeom prst="rect">
            <a:avLst/>
          </a:prstGeom>
        </p:spPr>
      </p:pic>
      <p:sp>
        <p:nvSpPr>
          <p:cNvPr id="11" name="Text 453"/>
          <p:cNvSpPr txBox="1"/>
          <p:nvPr/>
        </p:nvSpPr>
        <p:spPr>
          <a:xfrm>
            <a:off x="1600200" y="2606040"/>
            <a:ext cx="4128516" cy="1188720"/>
          </a:xfrm>
          <a:prstGeom prst="rect">
            <a:avLst/>
          </a:prstGeom>
          <a:noFill/>
        </p:spPr>
        <p:txBody>
          <a:bodyPr wrap="square" lIns="0" tIns="0" rIns="0" bIns="0" rtlCol="0" anchor="ctr"/>
          <a:lstStyle/>
          <a:p>
            <a:pPr marL="0" indent="0">
              <a:buNone/>
            </a:pPr>
            <a:r>
              <a:rPr lang="en-US" sz="1400" dirty="0">
                <a:solidFill>
                  <a:schemeClr val="tx1"/>
                </a:solidFill>
              </a:rPr>
              <a:t>Sales reps explain the rules, verbally note "this month only 40 cases collected, 60 still to go", then bring a form to collect a signature when paying out the reward.</a:t>
            </a:r>
            <a:endParaRPr lang="en-US" sz="1400" dirty="0"/>
          </a:p>
        </p:txBody>
      </p:sp>
      <p:sp>
        <p:nvSpPr>
          <p:cNvPr id="12" name="Shape 454"/>
          <p:cNvSpPr/>
          <p:nvPr/>
        </p:nvSpPr>
        <p:spPr>
          <a:xfrm>
            <a:off x="6231636" y="2468880"/>
            <a:ext cx="5408676" cy="1463040"/>
          </a:xfrm>
          <a:prstGeom prst="roundRect">
            <a:avLst>
              <a:gd name="adj" fmla="val 5000"/>
            </a:avLst>
          </a:prstGeom>
          <a:solidFill>
            <a:schemeClr val="bg1"/>
          </a:solidFill>
          <a:ln w="19050">
            <a:solidFill>
              <a:schemeClr val="accent5"/>
            </a:solidFill>
            <a:prstDash val="solid"/>
          </a:ln>
        </p:spPr>
        <p:txBody>
          <a:bodyPr/>
          <a:p/>
        </p:txBody>
      </p:sp>
      <p:sp>
        <p:nvSpPr>
          <p:cNvPr id="13" name="Shape 455"/>
          <p:cNvSpPr/>
          <p:nvPr/>
        </p:nvSpPr>
        <p:spPr>
          <a:xfrm>
            <a:off x="6460236" y="2697480"/>
            <a:ext cx="640080" cy="640080"/>
          </a:xfrm>
          <a:prstGeom prst="ellipse">
            <a:avLst/>
          </a:prstGeom>
          <a:solidFill>
            <a:schemeClr val="accent5"/>
          </a:solidFill>
        </p:spPr>
        <p:txBody>
          <a:bodyPr/>
          <a:p/>
        </p:txBody>
      </p:sp>
      <p:pic>
        <p:nvPicPr>
          <p:cNvPr id="14" name="Icon 456" descr="Trophy"/>
          <p:cNvPicPr>
            <a:picLocks noChangeAspect="1"/>
          </p:cNvPicPr>
          <p:nvPr/>
        </p:nvPicPr>
        <p:blipFill>
          <a:blip r:embed="rId2"/>
          <a:stretch>
            <a:fillRect/>
          </a:stretch>
        </p:blipFill>
        <p:spPr>
          <a:xfrm>
            <a:off x="6620256" y="2857500"/>
            <a:ext cx="320040" cy="320040"/>
          </a:xfrm>
          <a:prstGeom prst="rect">
            <a:avLst/>
          </a:prstGeom>
        </p:spPr>
      </p:pic>
      <p:sp>
        <p:nvSpPr>
          <p:cNvPr id="15" name="Text 457"/>
          <p:cNvSpPr txBox="1"/>
          <p:nvPr/>
        </p:nvSpPr>
        <p:spPr>
          <a:xfrm>
            <a:off x="7283196" y="2578608"/>
            <a:ext cx="4128516" cy="777240"/>
          </a:xfrm>
          <a:prstGeom prst="rect">
            <a:avLst/>
          </a:prstGeom>
          <a:noFill/>
        </p:spPr>
        <p:txBody>
          <a:bodyPr wrap="square" lIns="0" tIns="0" rIns="0" bIns="0" rtlCol="0" anchor="t"/>
          <a:lstStyle/>
          <a:p>
            <a:pPr marL="0" indent="0">
              <a:buNone/>
            </a:pPr>
            <a:r>
              <a:rPr lang="en-US" sz="1400" dirty="0">
                <a:solidFill>
                  <a:schemeClr val="tx1"/>
                </a:solidFill>
              </a:rPr>
              <a:t>Merchants join on their own, track progress on the Progress Tracker and receive rewards automatically when they reach a milestone.</a:t>
            </a:r>
            <a:endParaRPr lang="en-US" sz="1400" dirty="0"/>
          </a:p>
        </p:txBody>
      </p:sp>
      <p:sp>
        <p:nvSpPr>
          <p:cNvPr id="16" name="Shape 458"/>
          <p:cNvSpPr/>
          <p:nvPr/>
        </p:nvSpPr>
        <p:spPr>
          <a:xfrm>
            <a:off x="7283196" y="3429000"/>
            <a:ext cx="4128516" cy="164592"/>
          </a:xfrm>
          <a:prstGeom prst="roundRect">
            <a:avLst>
              <a:gd name="adj" fmla="val 50000"/>
            </a:avLst>
          </a:prstGeom>
          <a:solidFill>
            <a:schemeClr val="bg2"/>
          </a:solidFill>
          <a:ln w="9525">
            <a:solidFill>
              <a:schemeClr val="accent4"/>
            </a:solidFill>
            <a:prstDash val="solid"/>
          </a:ln>
        </p:spPr>
        <p:txBody>
          <a:bodyPr/>
          <a:p/>
        </p:txBody>
      </p:sp>
      <p:sp>
        <p:nvSpPr>
          <p:cNvPr id="17" name="Shape 459"/>
          <p:cNvSpPr/>
          <p:nvPr/>
        </p:nvSpPr>
        <p:spPr>
          <a:xfrm>
            <a:off x="7283196" y="3429000"/>
            <a:ext cx="3509239" cy="164592"/>
          </a:xfrm>
          <a:prstGeom prst="roundRect">
            <a:avLst>
              <a:gd name="adj" fmla="val 50000"/>
            </a:avLst>
          </a:prstGeom>
          <a:solidFill>
            <a:schemeClr val="accent2"/>
          </a:solidFill>
        </p:spPr>
        <p:txBody>
          <a:bodyPr/>
          <a:p/>
        </p:txBody>
      </p:sp>
      <p:sp>
        <p:nvSpPr>
          <p:cNvPr id="18" name="Text 460"/>
          <p:cNvSpPr txBox="1"/>
          <p:nvPr/>
        </p:nvSpPr>
        <p:spPr>
          <a:xfrm>
            <a:off x="7283196" y="3639312"/>
            <a:ext cx="4128516" cy="201168"/>
          </a:xfrm>
          <a:prstGeom prst="rect">
            <a:avLst/>
          </a:prstGeom>
          <a:noFill/>
        </p:spPr>
        <p:txBody>
          <a:bodyPr wrap="square" lIns="0" tIns="0" rIns="0" bIns="0" rtlCol="0" anchor="t"/>
          <a:lstStyle/>
          <a:p>
            <a:pPr marL="0" indent="0">
              <a:buNone/>
            </a:pPr>
            <a:r>
              <a:rPr lang="en-US" sz="1200" dirty="0">
                <a:solidFill>
                  <a:schemeClr val="accent4"/>
                </a:solidFill>
              </a:rPr>
              <a:t>"15 cases remaining · 5 days left"</a:t>
            </a:r>
            <a:endParaRPr lang="en-US" sz="1200" dirty="0"/>
          </a:p>
        </p:txBody>
      </p:sp>
      <p:sp>
        <p:nvSpPr>
          <p:cNvPr id="19" name="Shape 461"/>
          <p:cNvSpPr/>
          <p:nvPr/>
        </p:nvSpPr>
        <p:spPr>
          <a:xfrm>
            <a:off x="548640" y="4114800"/>
            <a:ext cx="11091672" cy="2148840"/>
          </a:xfrm>
          <a:prstGeom prst="roundRect">
            <a:avLst>
              <a:gd name="adj" fmla="val 3404"/>
            </a:avLst>
          </a:prstGeom>
          <a:solidFill>
            <a:schemeClr val="bg2"/>
          </a:solidFill>
        </p:spPr>
        <p:txBody>
          <a:bodyPr/>
          <a:p/>
        </p:txBody>
      </p:sp>
      <p:sp>
        <p:nvSpPr>
          <p:cNvPr id="20" name="Text 462"/>
          <p:cNvSpPr txBox="1"/>
          <p:nvPr/>
        </p:nvSpPr>
        <p:spPr>
          <a:xfrm>
            <a:off x="822960" y="4297680"/>
            <a:ext cx="6062472" cy="182880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Self-Enrollment Hub: accumulation programs from Brands (volume targets, timeframes, reward structure) → "Join now".</a:t>
            </a:r>
            <a:endParaRPr lang="en-US" sz="1400" dirty="0"/>
          </a:p>
          <a:p>
            <a:pPr marL="177800" indent="-177800">
              <a:spcAft>
                <a:spcPts val="600"/>
              </a:spcAft>
              <a:buSzPct val="100000"/>
              <a:buChar char="•"/>
            </a:pPr>
            <a:r>
              <a:rPr lang="en-US" sz="1400" dirty="0">
                <a:solidFill>
                  <a:schemeClr val="tx1"/>
                </a:solidFill>
              </a:rPr>
              <a:t>Real-time Progress Tracker: purchased / committed target / days left, automatically calculating the remaining gap.</a:t>
            </a:r>
            <a:endParaRPr lang="en-US" sz="1400" dirty="0"/>
          </a:p>
          <a:p>
            <a:pPr marL="177800" indent="-177800">
              <a:spcAft>
                <a:spcPts val="600"/>
              </a:spcAft>
              <a:buSzPct val="100000"/>
              <a:buChar char="•"/>
            </a:pPr>
            <a:r>
              <a:rPr lang="en-US" sz="1400" dirty="0">
                <a:solidFill>
                  <a:schemeClr val="tx1"/>
                </a:solidFill>
              </a:rPr>
              <a:t>Automatic payout at milestones: discount vouchers, money into the wallet or bank, or promotional goods bundled with the next wholesale order.</a:t>
            </a:r>
            <a:endParaRPr lang="en-US" sz="1400" dirty="0"/>
          </a:p>
        </p:txBody>
      </p:sp>
      <p:sp>
        <p:nvSpPr>
          <p:cNvPr id="21" name="Shape 463"/>
          <p:cNvSpPr/>
          <p:nvPr/>
        </p:nvSpPr>
        <p:spPr>
          <a:xfrm>
            <a:off x="7479792" y="4297680"/>
            <a:ext cx="3931920" cy="1783080"/>
          </a:xfrm>
          <a:prstGeom prst="roundRect">
            <a:avLst>
              <a:gd name="adj" fmla="val 4103"/>
            </a:avLst>
          </a:prstGeom>
          <a:solidFill>
            <a:schemeClr val="bg1"/>
          </a:solidFill>
        </p:spPr>
        <p:txBody>
          <a:bodyPr/>
          <a:p/>
        </p:txBody>
      </p:sp>
      <p:sp>
        <p:nvSpPr>
          <p:cNvPr id="22" name="Text 464"/>
          <p:cNvSpPr txBox="1"/>
          <p:nvPr/>
        </p:nvSpPr>
        <p:spPr>
          <a:xfrm>
            <a:off x="7662672" y="4407408"/>
            <a:ext cx="3566160" cy="201168"/>
          </a:xfrm>
          <a:prstGeom prst="rect">
            <a:avLst/>
          </a:prstGeom>
          <a:noFill/>
        </p:spPr>
        <p:txBody>
          <a:bodyPr wrap="square" lIns="0" tIns="0" rIns="0" bIns="0" rtlCol="0" anchor="t"/>
          <a:lstStyle/>
          <a:p>
            <a:pPr marL="0" indent="0">
              <a:buNone/>
            </a:pPr>
            <a:r>
              <a:rPr lang="en-US" sz="1200" b="1" dirty="0">
                <a:solidFill>
                  <a:schemeClr val="accent5"/>
                </a:solidFill>
              </a:rPr>
              <a:t>EXAMPLE</a:t>
            </a:r>
            <a:endParaRPr lang="en-US" sz="1200" dirty="0"/>
          </a:p>
        </p:txBody>
      </p:sp>
      <p:sp>
        <p:nvSpPr>
          <p:cNvPr id="23" name="Text 465"/>
          <p:cNvSpPr txBox="1"/>
          <p:nvPr/>
        </p:nvSpPr>
        <p:spPr>
          <a:xfrm>
            <a:off x="7662672" y="4645152"/>
            <a:ext cx="3566160" cy="1344168"/>
          </a:xfrm>
          <a:prstGeom prst="rect">
            <a:avLst/>
          </a:prstGeom>
          <a:noFill/>
        </p:spPr>
        <p:txBody>
          <a:bodyPr wrap="square" lIns="0" tIns="0" rIns="0" bIns="0" rtlCol="0" anchor="t"/>
          <a:lstStyle/>
          <a:p>
            <a:pPr marL="0" indent="0">
              <a:buNone/>
            </a:pPr>
            <a:r>
              <a:rPr lang="en-US" sz="1400" dirty="0">
                <a:solidFill>
                  <a:schemeClr val="tx1"/>
                </a:solidFill>
              </a:rPr>
              <a:t>"You are only 15 cases away from the VND 1,000,000 milestone reward, with 5 days left." The progress bar updates after every order, encouraging the Merchant to order again.</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5"/>
                </a:solidFill>
              </a:rPr>
              <a:t>PILLAR 5  ·  REDUCE SALES TASKS</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accent5"/>
                </a:solidFill>
              </a:rPr>
              <a:t>POSM Request &amp; Self-service RMA</a:t>
            </a:r>
            <a:endParaRPr lang="en-US" sz="3200" dirty="0"/>
          </a:p>
        </p:txBody>
      </p:sp>
      <p:sp>
        <p:nvSpPr>
          <p:cNvPr id="4" name="Shape 466"/>
          <p:cNvSpPr/>
          <p:nvPr/>
        </p:nvSpPr>
        <p:spPr>
          <a:xfrm>
            <a:off x="548640" y="1554480"/>
            <a:ext cx="5408676" cy="4709160"/>
          </a:xfrm>
          <a:prstGeom prst="roundRect">
            <a:avLst>
              <a:gd name="adj" fmla="val 1553"/>
            </a:avLst>
          </a:prstGeom>
          <a:solidFill>
            <a:schemeClr val="bg2"/>
          </a:solidFill>
        </p:spPr>
        <p:txBody>
          <a:bodyPr/>
          <a:p/>
        </p:txBody>
      </p:sp>
      <p:sp>
        <p:nvSpPr>
          <p:cNvPr id="5" name="Pill 467"/>
          <p:cNvSpPr/>
          <p:nvPr/>
        </p:nvSpPr>
        <p:spPr>
          <a:xfrm>
            <a:off x="777240" y="1828800"/>
            <a:ext cx="566928" cy="329184"/>
          </a:xfrm>
          <a:prstGeom prst="roundRect">
            <a:avLst>
              <a:gd name="adj" fmla="val 47222"/>
            </a:avLst>
          </a:prstGeom>
          <a:solidFill>
            <a:schemeClr val="accent5"/>
          </a:solidFill>
        </p:spPr>
        <p:txBody>
          <a:bodyPr wrap="square" lIns="0" tIns="0" rIns="0" bIns="0" rtlCol="0" anchor="ctr"/>
          <a:lstStyle/>
          <a:p>
            <a:pPr marL="0" indent="0" algn="ctr">
              <a:buNone/>
            </a:pPr>
            <a:r>
              <a:rPr lang="en-US" sz="1400" b="1" dirty="0">
                <a:solidFill>
                  <a:schemeClr val="bg1"/>
                </a:solidFill>
              </a:rPr>
              <a:t>5.3</a:t>
            </a:r>
            <a:endParaRPr lang="en-US" sz="1400" dirty="0"/>
          </a:p>
        </p:txBody>
      </p:sp>
      <p:sp>
        <p:nvSpPr>
          <p:cNvPr id="6" name="Text 468"/>
          <p:cNvSpPr txBox="1"/>
          <p:nvPr/>
        </p:nvSpPr>
        <p:spPr>
          <a:xfrm>
            <a:off x="1481328"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Self-registration POSM &amp; Assets</a:t>
            </a:r>
            <a:endParaRPr lang="en-US" sz="1800" dirty="0"/>
          </a:p>
        </p:txBody>
      </p:sp>
      <p:sp>
        <p:nvSpPr>
          <p:cNvPr id="7" name="Shape 469"/>
          <p:cNvSpPr/>
          <p:nvPr/>
        </p:nvSpPr>
        <p:spPr>
          <a:xfrm>
            <a:off x="777240" y="2331720"/>
            <a:ext cx="4951476" cy="1280160"/>
          </a:xfrm>
          <a:prstGeom prst="roundRect">
            <a:avLst>
              <a:gd name="adj" fmla="val 5714"/>
            </a:avLst>
          </a:prstGeom>
          <a:solidFill>
            <a:schemeClr val="bg1"/>
          </a:solidFill>
        </p:spPr>
        <p:txBody>
          <a:bodyPr/>
          <a:p/>
        </p:txBody>
      </p:sp>
      <p:sp>
        <p:nvSpPr>
          <p:cNvPr id="8" name="Shape 470"/>
          <p:cNvSpPr/>
          <p:nvPr/>
        </p:nvSpPr>
        <p:spPr>
          <a:xfrm>
            <a:off x="1333652" y="2474366"/>
            <a:ext cx="537667" cy="537667"/>
          </a:xfrm>
          <a:prstGeom prst="ellipse">
            <a:avLst/>
          </a:prstGeom>
          <a:solidFill>
            <a:schemeClr val="accent5"/>
          </a:solidFill>
        </p:spPr>
        <p:txBody>
          <a:bodyPr/>
          <a:p/>
        </p:txBody>
      </p:sp>
      <p:pic>
        <p:nvPicPr>
          <p:cNvPr id="9" name="Icon 471" descr="ClipboardList"/>
          <p:cNvPicPr>
            <a:picLocks noChangeAspect="1"/>
          </p:cNvPicPr>
          <p:nvPr/>
        </p:nvPicPr>
        <p:blipFill>
          <a:blip r:embed="rId1"/>
          <a:stretch>
            <a:fillRect/>
          </a:stretch>
        </p:blipFill>
        <p:spPr>
          <a:xfrm>
            <a:off x="1468069" y="2608783"/>
            <a:ext cx="268834" cy="268834"/>
          </a:xfrm>
          <a:prstGeom prst="rect">
            <a:avLst/>
          </a:prstGeom>
        </p:spPr>
      </p:pic>
      <p:sp>
        <p:nvSpPr>
          <p:cNvPr id="10" name="Text 472"/>
          <p:cNvSpPr txBox="1"/>
          <p:nvPr/>
        </p:nvSpPr>
        <p:spPr>
          <a:xfrm>
            <a:off x="85039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Register equipment</a:t>
            </a:r>
            <a:endParaRPr lang="en-US" sz="1200" dirty="0"/>
          </a:p>
        </p:txBody>
      </p:sp>
      <p:pic>
        <p:nvPicPr>
          <p:cNvPr id="11" name="Icon 473" descr="ChevronRight"/>
          <p:cNvPicPr>
            <a:picLocks noChangeAspect="1"/>
          </p:cNvPicPr>
          <p:nvPr/>
        </p:nvPicPr>
        <p:blipFill>
          <a:blip r:embed="rId2"/>
          <a:stretch>
            <a:fillRect/>
          </a:stretch>
        </p:blipFill>
        <p:spPr>
          <a:xfrm>
            <a:off x="2318004" y="2633472"/>
            <a:ext cx="219456" cy="219456"/>
          </a:xfrm>
          <a:prstGeom prst="rect">
            <a:avLst/>
          </a:prstGeom>
        </p:spPr>
      </p:pic>
      <p:sp>
        <p:nvSpPr>
          <p:cNvPr id="12" name="Shape 474"/>
          <p:cNvSpPr/>
          <p:nvPr/>
        </p:nvSpPr>
        <p:spPr>
          <a:xfrm>
            <a:off x="2984144" y="2474366"/>
            <a:ext cx="537667" cy="537667"/>
          </a:xfrm>
          <a:prstGeom prst="ellipse">
            <a:avLst/>
          </a:prstGeom>
          <a:solidFill>
            <a:schemeClr val="accent5"/>
          </a:solidFill>
        </p:spPr>
        <p:txBody>
          <a:bodyPr/>
          <a:p/>
        </p:txBody>
      </p:sp>
      <p:pic>
        <p:nvPicPr>
          <p:cNvPr id="13" name="Icon 475" descr="Key"/>
          <p:cNvPicPr>
            <a:picLocks noChangeAspect="1"/>
          </p:cNvPicPr>
          <p:nvPr/>
        </p:nvPicPr>
        <p:blipFill>
          <a:blip r:embed="rId3"/>
          <a:stretch>
            <a:fillRect/>
          </a:stretch>
        </p:blipFill>
        <p:spPr>
          <a:xfrm>
            <a:off x="3118561" y="2608783"/>
            <a:ext cx="268834" cy="268834"/>
          </a:xfrm>
          <a:prstGeom prst="rect">
            <a:avLst/>
          </a:prstGeom>
        </p:spPr>
      </p:pic>
      <p:sp>
        <p:nvSpPr>
          <p:cNvPr id="14" name="Text 476"/>
          <p:cNvSpPr txBox="1"/>
          <p:nvPr/>
        </p:nvSpPr>
        <p:spPr>
          <a:xfrm>
            <a:off x="2500884"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Handover via OTP / e-signature</a:t>
            </a:r>
            <a:endParaRPr lang="en-US" sz="1200" dirty="0"/>
          </a:p>
        </p:txBody>
      </p:sp>
      <p:pic>
        <p:nvPicPr>
          <p:cNvPr id="15" name="Icon 477" descr="ChevronRight"/>
          <p:cNvPicPr>
            <a:picLocks noChangeAspect="1"/>
          </p:cNvPicPr>
          <p:nvPr/>
        </p:nvPicPr>
        <p:blipFill>
          <a:blip r:embed="rId2"/>
          <a:stretch>
            <a:fillRect/>
          </a:stretch>
        </p:blipFill>
        <p:spPr>
          <a:xfrm>
            <a:off x="3968496" y="2633472"/>
            <a:ext cx="219456" cy="219456"/>
          </a:xfrm>
          <a:prstGeom prst="rect">
            <a:avLst/>
          </a:prstGeom>
        </p:spPr>
      </p:pic>
      <p:sp>
        <p:nvSpPr>
          <p:cNvPr id="16" name="Shape 478"/>
          <p:cNvSpPr/>
          <p:nvPr/>
        </p:nvSpPr>
        <p:spPr>
          <a:xfrm>
            <a:off x="4634636" y="2474366"/>
            <a:ext cx="537667" cy="537667"/>
          </a:xfrm>
          <a:prstGeom prst="ellipse">
            <a:avLst/>
          </a:prstGeom>
          <a:solidFill>
            <a:schemeClr val="accent5"/>
          </a:solidFill>
        </p:spPr>
        <p:txBody>
          <a:bodyPr/>
          <a:p/>
        </p:txBody>
      </p:sp>
      <p:pic>
        <p:nvPicPr>
          <p:cNvPr id="17" name="Icon 479" descr="Snowflake"/>
          <p:cNvPicPr>
            <a:picLocks noChangeAspect="1"/>
          </p:cNvPicPr>
          <p:nvPr/>
        </p:nvPicPr>
        <p:blipFill>
          <a:blip r:embed="rId4"/>
          <a:stretch>
            <a:fillRect/>
          </a:stretch>
        </p:blipFill>
        <p:spPr>
          <a:xfrm>
            <a:off x="4769053" y="2608783"/>
            <a:ext cx="268834" cy="268834"/>
          </a:xfrm>
          <a:prstGeom prst="rect">
            <a:avLst/>
          </a:prstGeom>
        </p:spPr>
      </p:pic>
      <p:sp>
        <p:nvSpPr>
          <p:cNvPr id="18" name="Text 480"/>
          <p:cNvSpPr txBox="1"/>
          <p:nvPr/>
        </p:nvSpPr>
        <p:spPr>
          <a:xfrm>
            <a:off x="4151376"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Fridge &amp; POSM</a:t>
            </a:r>
            <a:endParaRPr lang="en-US" sz="1200" dirty="0"/>
          </a:p>
        </p:txBody>
      </p:sp>
      <p:sp>
        <p:nvSpPr>
          <p:cNvPr id="19" name="Text 481"/>
          <p:cNvSpPr txBox="1"/>
          <p:nvPr/>
        </p:nvSpPr>
        <p:spPr>
          <a:xfrm>
            <a:off x="777240"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View sponsored programs (Coca-Cola / Tho Phat fridges, Masan seasoning shelves, umbrellas), read the commitment terms, tap to register, and photograph the location.</a:t>
            </a:r>
            <a:endParaRPr lang="en-US" sz="1400" dirty="0"/>
          </a:p>
          <a:p>
            <a:pPr marL="177800" indent="-177800">
              <a:spcAft>
                <a:spcPts val="600"/>
              </a:spcAft>
              <a:buSzPct val="100000"/>
              <a:buChar char="•"/>
            </a:pPr>
            <a:r>
              <a:rPr lang="en-US" sz="1400" dirty="0">
                <a:solidFill>
                  <a:schemeClr val="tx1"/>
                </a:solidFill>
              </a:rPr>
              <a:t>Logistics dispatches the technical team for installation. The Merchant confirms the handover via OTP / e-signature.</a:t>
            </a:r>
            <a:endParaRPr lang="en-US" sz="1400" dirty="0"/>
          </a:p>
        </p:txBody>
      </p:sp>
      <p:sp>
        <p:nvSpPr>
          <p:cNvPr id="20" name="Shape 482"/>
          <p:cNvSpPr/>
          <p:nvPr/>
        </p:nvSpPr>
        <p:spPr>
          <a:xfrm>
            <a:off x="777240" y="5060188"/>
            <a:ext cx="4951476" cy="974852"/>
          </a:xfrm>
          <a:prstGeom prst="roundRect">
            <a:avLst>
              <a:gd name="adj" fmla="val 7504"/>
            </a:avLst>
          </a:prstGeom>
          <a:solidFill>
            <a:schemeClr val="bg1"/>
          </a:solidFill>
        </p:spPr>
        <p:txBody>
          <a:bodyPr/>
          <a:p/>
        </p:txBody>
      </p:sp>
      <p:sp>
        <p:nvSpPr>
          <p:cNvPr id="21" name="Text 483"/>
          <p:cNvSpPr txBox="1"/>
          <p:nvPr/>
        </p:nvSpPr>
        <p:spPr>
          <a:xfrm>
            <a:off x="960120" y="5169916"/>
            <a:ext cx="4585716" cy="201168"/>
          </a:xfrm>
          <a:prstGeom prst="rect">
            <a:avLst/>
          </a:prstGeom>
          <a:noFill/>
        </p:spPr>
        <p:txBody>
          <a:bodyPr wrap="square" lIns="0" tIns="0" rIns="0" bIns="0" rtlCol="0" anchor="t"/>
          <a:lstStyle/>
          <a:p>
            <a:pPr marL="0" indent="0">
              <a:buNone/>
            </a:pPr>
            <a:r>
              <a:rPr lang="en-US" sz="1200" b="1" dirty="0">
                <a:solidFill>
                  <a:schemeClr val="accent5"/>
                </a:solidFill>
              </a:rPr>
              <a:t>RESULT</a:t>
            </a:r>
            <a:endParaRPr lang="en-US" sz="1200" dirty="0"/>
          </a:p>
        </p:txBody>
      </p:sp>
      <p:sp>
        <p:nvSpPr>
          <p:cNvPr id="22" name="Text 484"/>
          <p:cNvSpPr txBox="1"/>
          <p:nvPr/>
        </p:nvSpPr>
        <p:spPr>
          <a:xfrm>
            <a:off x="960120"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From several weeks down to a few days. No more Sales reps holding up paperwork or favoring familiar stores.</a:t>
            </a:r>
            <a:endParaRPr lang="en-US" sz="1400" dirty="0"/>
          </a:p>
        </p:txBody>
      </p:sp>
      <p:sp>
        <p:nvSpPr>
          <p:cNvPr id="23" name="Shape 485"/>
          <p:cNvSpPr/>
          <p:nvPr/>
        </p:nvSpPr>
        <p:spPr>
          <a:xfrm>
            <a:off x="6231636" y="1554480"/>
            <a:ext cx="5408676" cy="4709160"/>
          </a:xfrm>
          <a:prstGeom prst="roundRect">
            <a:avLst>
              <a:gd name="adj" fmla="val 1553"/>
            </a:avLst>
          </a:prstGeom>
          <a:solidFill>
            <a:schemeClr val="bg2"/>
          </a:solidFill>
        </p:spPr>
        <p:txBody>
          <a:bodyPr/>
          <a:p/>
        </p:txBody>
      </p:sp>
      <p:sp>
        <p:nvSpPr>
          <p:cNvPr id="24" name="Pill 486"/>
          <p:cNvSpPr/>
          <p:nvPr/>
        </p:nvSpPr>
        <p:spPr>
          <a:xfrm>
            <a:off x="6460236" y="1828800"/>
            <a:ext cx="566928" cy="329184"/>
          </a:xfrm>
          <a:prstGeom prst="roundRect">
            <a:avLst>
              <a:gd name="adj" fmla="val 47222"/>
            </a:avLst>
          </a:prstGeom>
          <a:solidFill>
            <a:schemeClr val="accent5"/>
          </a:solidFill>
        </p:spPr>
        <p:txBody>
          <a:bodyPr wrap="square" lIns="0" tIns="0" rIns="0" bIns="0" rtlCol="0" anchor="ctr"/>
          <a:lstStyle/>
          <a:p>
            <a:pPr marL="0" indent="0" algn="ctr">
              <a:buNone/>
            </a:pPr>
            <a:r>
              <a:rPr lang="en-US" sz="1400" b="1" dirty="0">
                <a:solidFill>
                  <a:schemeClr val="bg1"/>
                </a:solidFill>
              </a:rPr>
              <a:t>5.4</a:t>
            </a:r>
            <a:endParaRPr lang="en-US" sz="1400" dirty="0"/>
          </a:p>
        </p:txBody>
      </p:sp>
      <p:sp>
        <p:nvSpPr>
          <p:cNvPr id="25" name="Text 487"/>
          <p:cNvSpPr txBox="1"/>
          <p:nvPr/>
        </p:nvSpPr>
        <p:spPr>
          <a:xfrm>
            <a:off x="7164324" y="1737360"/>
            <a:ext cx="4247388" cy="548640"/>
          </a:xfrm>
          <a:prstGeom prst="rect">
            <a:avLst/>
          </a:prstGeom>
          <a:noFill/>
        </p:spPr>
        <p:txBody>
          <a:bodyPr wrap="square" lIns="0" tIns="0" rIns="0" bIns="0" rtlCol="0" anchor="ctr"/>
          <a:lstStyle/>
          <a:p>
            <a:pPr marL="0" indent="0">
              <a:buNone/>
            </a:pPr>
            <a:r>
              <a:rPr lang="en-US" sz="1800" b="1" dirty="0">
                <a:solidFill>
                  <a:schemeClr val="tx1"/>
                </a:solidFill>
              </a:rPr>
              <a:t>Self-service RMA Ticket</a:t>
            </a:r>
            <a:endParaRPr lang="en-US" sz="1800" dirty="0"/>
          </a:p>
        </p:txBody>
      </p:sp>
      <p:sp>
        <p:nvSpPr>
          <p:cNvPr id="26" name="Shape 488"/>
          <p:cNvSpPr/>
          <p:nvPr/>
        </p:nvSpPr>
        <p:spPr>
          <a:xfrm>
            <a:off x="6460236" y="2331720"/>
            <a:ext cx="4951476" cy="1280160"/>
          </a:xfrm>
          <a:prstGeom prst="roundRect">
            <a:avLst>
              <a:gd name="adj" fmla="val 5714"/>
            </a:avLst>
          </a:prstGeom>
          <a:solidFill>
            <a:schemeClr val="bg1"/>
          </a:solidFill>
        </p:spPr>
        <p:txBody>
          <a:bodyPr/>
          <a:p/>
        </p:txBody>
      </p:sp>
      <p:sp>
        <p:nvSpPr>
          <p:cNvPr id="27" name="Shape 489"/>
          <p:cNvSpPr/>
          <p:nvPr/>
        </p:nvSpPr>
        <p:spPr>
          <a:xfrm>
            <a:off x="7016648" y="2474366"/>
            <a:ext cx="537667" cy="537667"/>
          </a:xfrm>
          <a:prstGeom prst="ellipse">
            <a:avLst/>
          </a:prstGeom>
          <a:solidFill>
            <a:schemeClr val="accent5"/>
          </a:solidFill>
        </p:spPr>
        <p:txBody>
          <a:bodyPr/>
          <a:p/>
        </p:txBody>
      </p:sp>
      <p:pic>
        <p:nvPicPr>
          <p:cNvPr id="28" name="Icon 490" descr="ExclamationTriangle"/>
          <p:cNvPicPr>
            <a:picLocks noChangeAspect="1"/>
          </p:cNvPicPr>
          <p:nvPr/>
        </p:nvPicPr>
        <p:blipFill>
          <a:blip r:embed="rId5"/>
          <a:stretch>
            <a:fillRect/>
          </a:stretch>
        </p:blipFill>
        <p:spPr>
          <a:xfrm>
            <a:off x="7151065" y="2608783"/>
            <a:ext cx="268834" cy="268834"/>
          </a:xfrm>
          <a:prstGeom prst="rect">
            <a:avLst/>
          </a:prstGeom>
        </p:spPr>
      </p:pic>
      <p:sp>
        <p:nvSpPr>
          <p:cNvPr id="29" name="Text 491"/>
          <p:cNvSpPr txBox="1"/>
          <p:nvPr/>
        </p:nvSpPr>
        <p:spPr>
          <a:xfrm>
            <a:off x="6533388"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Report issue on order</a:t>
            </a:r>
            <a:endParaRPr lang="en-US" sz="1200" dirty="0"/>
          </a:p>
        </p:txBody>
      </p:sp>
      <p:pic>
        <p:nvPicPr>
          <p:cNvPr id="30" name="Icon 492" descr="ChevronRight"/>
          <p:cNvPicPr>
            <a:picLocks noChangeAspect="1"/>
          </p:cNvPicPr>
          <p:nvPr/>
        </p:nvPicPr>
        <p:blipFill>
          <a:blip r:embed="rId2"/>
          <a:stretch>
            <a:fillRect/>
          </a:stretch>
        </p:blipFill>
        <p:spPr>
          <a:xfrm>
            <a:off x="8001000" y="2633472"/>
            <a:ext cx="219456" cy="219456"/>
          </a:xfrm>
          <a:prstGeom prst="rect">
            <a:avLst/>
          </a:prstGeom>
        </p:spPr>
      </p:pic>
      <p:sp>
        <p:nvSpPr>
          <p:cNvPr id="31" name="Shape 493"/>
          <p:cNvSpPr/>
          <p:nvPr/>
        </p:nvSpPr>
        <p:spPr>
          <a:xfrm>
            <a:off x="8667140" y="2474366"/>
            <a:ext cx="537667" cy="537667"/>
          </a:xfrm>
          <a:prstGeom prst="ellipse">
            <a:avLst/>
          </a:prstGeom>
          <a:solidFill>
            <a:schemeClr val="accent5"/>
          </a:solidFill>
        </p:spPr>
        <p:txBody>
          <a:bodyPr/>
          <a:p/>
        </p:txBody>
      </p:sp>
      <p:pic>
        <p:nvPicPr>
          <p:cNvPr id="32" name="Icon 494" descr="CheckCircle"/>
          <p:cNvPicPr>
            <a:picLocks noChangeAspect="1"/>
          </p:cNvPicPr>
          <p:nvPr/>
        </p:nvPicPr>
        <p:blipFill>
          <a:blip r:embed="rId6"/>
          <a:stretch>
            <a:fillRect/>
          </a:stretch>
        </p:blipFill>
        <p:spPr>
          <a:xfrm>
            <a:off x="8801557" y="2608783"/>
            <a:ext cx="268834" cy="268834"/>
          </a:xfrm>
          <a:prstGeom prst="rect">
            <a:avLst/>
          </a:prstGeom>
        </p:spPr>
      </p:pic>
      <p:sp>
        <p:nvSpPr>
          <p:cNvPr id="33" name="Text 495"/>
          <p:cNvSpPr txBox="1"/>
          <p:nvPr/>
        </p:nvSpPr>
        <p:spPr>
          <a:xfrm>
            <a:off x="8183880"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Warehouse auto-approves</a:t>
            </a:r>
            <a:endParaRPr lang="en-US" sz="1200" dirty="0"/>
          </a:p>
        </p:txBody>
      </p:sp>
      <p:pic>
        <p:nvPicPr>
          <p:cNvPr id="34" name="Icon 496" descr="ChevronRight"/>
          <p:cNvPicPr>
            <a:picLocks noChangeAspect="1"/>
          </p:cNvPicPr>
          <p:nvPr/>
        </p:nvPicPr>
        <p:blipFill>
          <a:blip r:embed="rId2"/>
          <a:stretch>
            <a:fillRect/>
          </a:stretch>
        </p:blipFill>
        <p:spPr>
          <a:xfrm>
            <a:off x="9651492" y="2633472"/>
            <a:ext cx="219456" cy="219456"/>
          </a:xfrm>
          <a:prstGeom prst="rect">
            <a:avLst/>
          </a:prstGeom>
        </p:spPr>
      </p:pic>
      <p:sp>
        <p:nvSpPr>
          <p:cNvPr id="35" name="Shape 497"/>
          <p:cNvSpPr/>
          <p:nvPr/>
        </p:nvSpPr>
        <p:spPr>
          <a:xfrm>
            <a:off x="10317632" y="2474366"/>
            <a:ext cx="537667" cy="537667"/>
          </a:xfrm>
          <a:prstGeom prst="ellipse">
            <a:avLst/>
          </a:prstGeom>
          <a:solidFill>
            <a:schemeClr val="accent5"/>
          </a:solidFill>
        </p:spPr>
        <p:txBody>
          <a:bodyPr/>
          <a:p/>
        </p:txBody>
      </p:sp>
      <p:pic>
        <p:nvPicPr>
          <p:cNvPr id="36" name="Icon 498" descr="Truck"/>
          <p:cNvPicPr>
            <a:picLocks noChangeAspect="1"/>
          </p:cNvPicPr>
          <p:nvPr/>
        </p:nvPicPr>
        <p:blipFill>
          <a:blip r:embed="rId7"/>
          <a:stretch>
            <a:fillRect/>
          </a:stretch>
        </p:blipFill>
        <p:spPr>
          <a:xfrm>
            <a:off x="10452049" y="2608783"/>
            <a:ext cx="268834" cy="268834"/>
          </a:xfrm>
          <a:prstGeom prst="rect">
            <a:avLst/>
          </a:prstGeom>
        </p:spPr>
      </p:pic>
      <p:sp>
        <p:nvSpPr>
          <p:cNvPr id="37" name="Text 499"/>
          <p:cNvSpPr txBox="1"/>
          <p:nvPr/>
        </p:nvSpPr>
        <p:spPr>
          <a:xfrm>
            <a:off x="9834372" y="3085186"/>
            <a:ext cx="1504188" cy="411480"/>
          </a:xfrm>
          <a:prstGeom prst="rect">
            <a:avLst/>
          </a:prstGeom>
          <a:noFill/>
        </p:spPr>
        <p:txBody>
          <a:bodyPr wrap="square" lIns="0" tIns="0" rIns="0" bIns="0" rtlCol="0" anchor="t"/>
          <a:lstStyle/>
          <a:p>
            <a:pPr marL="0" indent="0" algn="ctr">
              <a:buNone/>
            </a:pPr>
            <a:r>
              <a:rPr lang="en-US" sz="1200" dirty="0">
                <a:solidFill>
                  <a:schemeClr val="tx1"/>
                </a:solidFill>
              </a:rPr>
              <a:t>Replenished on the next delivery</a:t>
            </a:r>
            <a:endParaRPr lang="en-US" sz="1200" dirty="0"/>
          </a:p>
        </p:txBody>
      </p:sp>
      <p:sp>
        <p:nvSpPr>
          <p:cNvPr id="38" name="Text 500"/>
          <p:cNvSpPr txBox="1"/>
          <p:nvPr/>
        </p:nvSpPr>
        <p:spPr>
          <a:xfrm>
            <a:off x="6460236" y="3749040"/>
            <a:ext cx="4951476" cy="1219708"/>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rPr>
              <a:t>"Report product issue" on each order: select the faulty item and reason (broken, leaking can, near expiry), and attach a photo or video.</a:t>
            </a:r>
            <a:endParaRPr lang="en-US" sz="1400" dirty="0"/>
          </a:p>
          <a:p>
            <a:pPr marL="177800" indent="-177800">
              <a:spcAft>
                <a:spcPts val="600"/>
              </a:spcAft>
              <a:buSzPct val="100000"/>
              <a:buChar char="•"/>
            </a:pPr>
            <a:r>
              <a:rPr lang="en-US" sz="1400" dirty="0">
                <a:solidFill>
                  <a:schemeClr val="tx1"/>
                </a:solidFill>
              </a:rPr>
              <a:t>Tickets go straight to the Distributor's customer service / warehouse. The warehouse approves and replaces items on the next delivery.</a:t>
            </a:r>
            <a:endParaRPr lang="en-US" sz="1400" dirty="0"/>
          </a:p>
        </p:txBody>
      </p:sp>
      <p:sp>
        <p:nvSpPr>
          <p:cNvPr id="39" name="Shape 501"/>
          <p:cNvSpPr/>
          <p:nvPr/>
        </p:nvSpPr>
        <p:spPr>
          <a:xfrm>
            <a:off x="6460236" y="5060188"/>
            <a:ext cx="4951476" cy="974852"/>
          </a:xfrm>
          <a:prstGeom prst="roundRect">
            <a:avLst>
              <a:gd name="adj" fmla="val 7504"/>
            </a:avLst>
          </a:prstGeom>
          <a:solidFill>
            <a:schemeClr val="bg1"/>
          </a:solidFill>
        </p:spPr>
        <p:txBody>
          <a:bodyPr/>
          <a:p/>
        </p:txBody>
      </p:sp>
      <p:sp>
        <p:nvSpPr>
          <p:cNvPr id="40" name="Text 502"/>
          <p:cNvSpPr txBox="1"/>
          <p:nvPr/>
        </p:nvSpPr>
        <p:spPr>
          <a:xfrm>
            <a:off x="6643116" y="5169916"/>
            <a:ext cx="4585716" cy="201168"/>
          </a:xfrm>
          <a:prstGeom prst="rect">
            <a:avLst/>
          </a:prstGeom>
          <a:noFill/>
        </p:spPr>
        <p:txBody>
          <a:bodyPr wrap="square" lIns="0" tIns="0" rIns="0" bIns="0" rtlCol="0" anchor="t"/>
          <a:lstStyle/>
          <a:p>
            <a:pPr marL="0" indent="0">
              <a:buNone/>
            </a:pPr>
            <a:r>
              <a:rPr lang="en-US" sz="1200" b="1" dirty="0">
                <a:solidFill>
                  <a:schemeClr val="accent5"/>
                </a:solidFill>
              </a:rPr>
              <a:t>RESULT</a:t>
            </a:r>
            <a:endParaRPr lang="en-US" sz="1200" dirty="0"/>
          </a:p>
        </p:txBody>
      </p:sp>
      <p:sp>
        <p:nvSpPr>
          <p:cNvPr id="41" name="Text 503"/>
          <p:cNvSpPr txBox="1"/>
          <p:nvPr/>
        </p:nvSpPr>
        <p:spPr>
          <a:xfrm>
            <a:off x="6643116" y="5407660"/>
            <a:ext cx="4585716" cy="535940"/>
          </a:xfrm>
          <a:prstGeom prst="rect">
            <a:avLst/>
          </a:prstGeom>
          <a:noFill/>
        </p:spPr>
        <p:txBody>
          <a:bodyPr wrap="square" lIns="0" tIns="0" rIns="0" bIns="0" rtlCol="0" anchor="t"/>
          <a:lstStyle/>
          <a:p>
            <a:pPr marL="0" indent="0">
              <a:buNone/>
            </a:pPr>
            <a:r>
              <a:rPr lang="en-US" sz="1400" dirty="0">
                <a:solidFill>
                  <a:schemeClr val="tx1"/>
                </a:solidFill>
              </a:rPr>
              <a:t>Sales reps are no longer the ones handling returns. Issues are resolved quickly and transparently using system data.</a:t>
            </a:r>
            <a:endParaRPr lang="en-US" sz="1400" dirty="0"/>
          </a:p>
        </p:txBody>
      </p:sp>
      <p:sp>
        <p:nvSpPr>
          <p:cNvPr id="42"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p:nvPr>
            <p:ph type="body" idx="101" hasCustomPrompt="1"/>
          </p:nvPr>
        </p:nvSpPr>
        <p:spPr>
          <a:xfrm>
            <a:off x="548640" y="365760"/>
            <a:ext cx="11091672" cy="274320"/>
          </a:xfrm>
          <a:prstGeom prst="rect">
            <a:avLst/>
          </a:prstGeom>
          <a:noFill/>
        </p:spPr>
        <p:txBody>
          <a:bodyPr wrap="square" lIns="0" tIns="0" rIns="0" bIns="0" rtlCol="0" anchor="ctr"/>
          <a:lstStyle/>
          <a:p>
            <a:pPr marL="0" indent="0">
              <a:buNone/>
            </a:pPr>
            <a:r>
              <a:rPr lang="en-US" sz="1400" b="1" kern="0" spc="150" dirty="0">
                <a:solidFill>
                  <a:schemeClr val="accent1"/>
                </a:solidFill>
              </a:rPr>
              <a:t>CONVERSION POWER</a:t>
            </a:r>
            <a:endParaRPr lang="en-US" sz="1400" dirty="0"/>
          </a:p>
        </p:txBody>
      </p:sp>
      <p:sp>
        <p:nvSpPr>
          <p:cNvPr id="3" name="Text 1"/>
          <p:cNvSpPr/>
          <p:nvPr>
            <p:ph type="title" idx="102" hasCustomPrompt="1"/>
          </p:nvPr>
        </p:nvSpPr>
        <p:spPr>
          <a:xfrm>
            <a:off x="548640" y="676656"/>
            <a:ext cx="11091672" cy="658368"/>
          </a:xfrm>
          <a:prstGeom prst="rect">
            <a:avLst/>
          </a:prstGeom>
          <a:noFill/>
        </p:spPr>
        <p:txBody>
          <a:bodyPr wrap="square" lIns="0" tIns="0" rIns="0" bIns="0" rtlCol="0" anchor="ctr"/>
          <a:lstStyle/>
          <a:p>
            <a:pPr marL="0" indent="0" algn="l">
              <a:buNone/>
            </a:pPr>
            <a:r>
              <a:rPr lang="en-US" sz="3200" b="1" dirty="0">
                <a:solidFill>
                  <a:schemeClr val="tx1"/>
                </a:solidFill>
              </a:rPr>
              <a:t>B2B2C Closed Loop</a:t>
            </a:r>
            <a:endParaRPr lang="en-US" sz="3200" dirty="0"/>
          </a:p>
        </p:txBody>
      </p:sp>
      <p:sp>
        <p:nvSpPr>
          <p:cNvPr id="4" name="Shape 504"/>
          <p:cNvSpPr/>
          <p:nvPr/>
        </p:nvSpPr>
        <p:spPr>
          <a:xfrm>
            <a:off x="548640" y="1508760"/>
            <a:ext cx="11091672" cy="1280160"/>
          </a:xfrm>
          <a:prstGeom prst="roundRect">
            <a:avLst>
              <a:gd name="adj" fmla="val 5714"/>
            </a:avLst>
          </a:prstGeom>
          <a:solidFill>
            <a:schemeClr val="bg2"/>
          </a:solidFill>
        </p:spPr>
        <p:txBody>
          <a:bodyPr/>
          <a:p/>
        </p:txBody>
      </p:sp>
      <p:sp>
        <p:nvSpPr>
          <p:cNvPr id="5" name="Text 505"/>
          <p:cNvSpPr txBox="1"/>
          <p:nvPr/>
        </p:nvSpPr>
        <p:spPr>
          <a:xfrm>
            <a:off x="822960" y="1627632"/>
            <a:ext cx="5486400" cy="228600"/>
          </a:xfrm>
          <a:prstGeom prst="rect">
            <a:avLst/>
          </a:prstGeom>
          <a:noFill/>
        </p:spPr>
        <p:txBody>
          <a:bodyPr wrap="square" lIns="0" tIns="0" rIns="0" bIns="0" rtlCol="0" anchor="t"/>
          <a:lstStyle/>
          <a:p>
            <a:pPr marL="0" indent="0">
              <a:buNone/>
            </a:pPr>
            <a:r>
              <a:rPr lang="en-US" sz="1200" b="1" dirty="0">
                <a:solidFill>
                  <a:schemeClr val="accent1"/>
                </a:solidFill>
              </a:rPr>
              <a:t>SYNTHESIS INSIGHT</a:t>
            </a:r>
            <a:endParaRPr lang="en-US" sz="1200" dirty="0"/>
          </a:p>
        </p:txBody>
      </p:sp>
      <p:sp>
        <p:nvSpPr>
          <p:cNvPr id="6" name="Text 506"/>
          <p:cNvSpPr txBox="1"/>
          <p:nvPr/>
        </p:nvSpPr>
        <p:spPr>
          <a:xfrm>
            <a:off x="822960" y="1901952"/>
            <a:ext cx="10515600" cy="822960"/>
          </a:xfrm>
          <a:prstGeom prst="rect">
            <a:avLst/>
          </a:prstGeom>
          <a:noFill/>
        </p:spPr>
        <p:txBody>
          <a:bodyPr wrap="square" lIns="0" tIns="0" rIns="0" bIns="0" rtlCol="0" anchor="t"/>
          <a:lstStyle/>
          <a:p>
            <a:pPr marL="0" indent="0">
              <a:buNone/>
            </a:pPr>
            <a:r>
              <a:rPr lang="en-US" sz="1500" dirty="0">
                <a:solidFill>
                  <a:schemeClr val="tx1"/>
                </a:solidFill>
              </a:rPr>
              <a:t>The 24 core improvements do not work in isolation. POS retail data feeds the AI Recommendation, automatically deducts inventory and places orders with the Distributor, while retaining Merchants every day and automating Trade Marketing. Each link is part of a frictionless ecosystem loop.</a:t>
            </a:r>
            <a:endParaRPr lang="en-US" sz="1500" dirty="0"/>
          </a:p>
        </p:txBody>
      </p:sp>
      <p:sp>
        <p:nvSpPr>
          <p:cNvPr id="7" name="Shape 507"/>
          <p:cNvSpPr/>
          <p:nvPr/>
        </p:nvSpPr>
        <p:spPr>
          <a:xfrm>
            <a:off x="548640" y="3063240"/>
            <a:ext cx="1920240" cy="2148840"/>
          </a:xfrm>
          <a:prstGeom prst="roundRect">
            <a:avLst>
              <a:gd name="adj" fmla="val 3810"/>
            </a:avLst>
          </a:prstGeom>
          <a:solidFill>
            <a:schemeClr val="bg2"/>
          </a:solidFill>
        </p:spPr>
        <p:txBody>
          <a:bodyPr/>
          <a:p/>
        </p:txBody>
      </p:sp>
      <p:sp>
        <p:nvSpPr>
          <p:cNvPr id="8" name="Shape 508"/>
          <p:cNvSpPr/>
          <p:nvPr/>
        </p:nvSpPr>
        <p:spPr>
          <a:xfrm>
            <a:off x="1143000" y="3291840"/>
            <a:ext cx="731520" cy="731520"/>
          </a:xfrm>
          <a:prstGeom prst="ellipse">
            <a:avLst/>
          </a:prstGeom>
          <a:solidFill>
            <a:schemeClr val="accent2"/>
          </a:solidFill>
        </p:spPr>
        <p:txBody>
          <a:bodyPr/>
          <a:p/>
        </p:txBody>
      </p:sp>
      <p:pic>
        <p:nvPicPr>
          <p:cNvPr id="9" name="Icon 509" descr="CashRegister"/>
          <p:cNvPicPr>
            <a:picLocks noChangeAspect="1"/>
          </p:cNvPicPr>
          <p:nvPr/>
        </p:nvPicPr>
        <p:blipFill>
          <a:blip r:embed="rId1"/>
          <a:stretch>
            <a:fillRect/>
          </a:stretch>
        </p:blipFill>
        <p:spPr>
          <a:xfrm>
            <a:off x="1325880" y="3474720"/>
            <a:ext cx="365760" cy="365760"/>
          </a:xfrm>
          <a:prstGeom prst="rect">
            <a:avLst/>
          </a:prstGeom>
        </p:spPr>
      </p:pic>
      <p:sp>
        <p:nvSpPr>
          <p:cNvPr id="10" name="Text 510"/>
          <p:cNvSpPr txBox="1"/>
          <p:nvPr/>
        </p:nvSpPr>
        <p:spPr>
          <a:xfrm>
            <a:off x="685800" y="4160520"/>
            <a:ext cx="1645920" cy="640080"/>
          </a:xfrm>
          <a:prstGeom prst="rect">
            <a:avLst/>
          </a:prstGeom>
          <a:noFill/>
        </p:spPr>
        <p:txBody>
          <a:bodyPr wrap="square" lIns="0" tIns="0" rIns="0" bIns="0" rtlCol="0" anchor="t"/>
          <a:lstStyle/>
          <a:p>
            <a:pPr marL="0" indent="0" algn="ctr">
              <a:buNone/>
            </a:pPr>
            <a:r>
              <a:rPr lang="en-US" sz="1400" b="1" dirty="0">
                <a:solidFill>
                  <a:schemeClr val="tx1"/>
                </a:solidFill>
              </a:rPr>
              <a:t>Merchant scans POS</a:t>
            </a:r>
            <a:endParaRPr lang="en-US" sz="1400" dirty="0"/>
          </a:p>
        </p:txBody>
      </p:sp>
      <p:sp>
        <p:nvSpPr>
          <p:cNvPr id="11" name="Tag 511"/>
          <p:cNvSpPr/>
          <p:nvPr/>
        </p:nvSpPr>
        <p:spPr>
          <a:xfrm>
            <a:off x="1005840" y="4846320"/>
            <a:ext cx="1005840" cy="237744"/>
          </a:xfrm>
          <a:prstGeom prst="roundRect">
            <a:avLst>
              <a:gd name="adj" fmla="val 50000"/>
            </a:avLst>
          </a:prstGeom>
          <a:solidFill>
            <a:schemeClr val="bg1"/>
          </a:solidFill>
        </p:spPr>
        <p:txBody>
          <a:bodyPr wrap="square" lIns="0" tIns="0" rIns="0" bIns="0" rtlCol="0" anchor="ctr"/>
          <a:lstStyle/>
          <a:p>
            <a:pPr marL="0" indent="0" algn="ctr">
              <a:buNone/>
            </a:pPr>
            <a:r>
              <a:rPr lang="en-US" sz="1200" b="1" dirty="0">
                <a:solidFill>
                  <a:schemeClr val="accent2"/>
                </a:solidFill>
              </a:rPr>
              <a:t>Pillar 2</a:t>
            </a:r>
            <a:endParaRPr lang="en-US" sz="1200" dirty="0"/>
          </a:p>
        </p:txBody>
      </p:sp>
      <p:pic>
        <p:nvPicPr>
          <p:cNvPr id="12" name="Icon 512" descr="ChevronRight"/>
          <p:cNvPicPr>
            <a:picLocks noChangeAspect="1"/>
          </p:cNvPicPr>
          <p:nvPr/>
        </p:nvPicPr>
        <p:blipFill>
          <a:blip r:embed="rId2"/>
          <a:stretch>
            <a:fillRect/>
          </a:stretch>
        </p:blipFill>
        <p:spPr>
          <a:xfrm>
            <a:off x="2536317" y="4018788"/>
            <a:ext cx="237744" cy="237744"/>
          </a:xfrm>
          <a:prstGeom prst="rect">
            <a:avLst/>
          </a:prstGeom>
        </p:spPr>
      </p:pic>
      <p:sp>
        <p:nvSpPr>
          <p:cNvPr id="13" name="Shape 513"/>
          <p:cNvSpPr/>
          <p:nvPr/>
        </p:nvSpPr>
        <p:spPr>
          <a:xfrm>
            <a:off x="2841498" y="3063240"/>
            <a:ext cx="1920240" cy="2148840"/>
          </a:xfrm>
          <a:prstGeom prst="roundRect">
            <a:avLst>
              <a:gd name="adj" fmla="val 3810"/>
            </a:avLst>
          </a:prstGeom>
          <a:solidFill>
            <a:schemeClr val="bg2"/>
          </a:solidFill>
        </p:spPr>
        <p:txBody>
          <a:bodyPr/>
          <a:p/>
        </p:txBody>
      </p:sp>
      <p:sp>
        <p:nvSpPr>
          <p:cNvPr id="14" name="Shape 514"/>
          <p:cNvSpPr/>
          <p:nvPr/>
        </p:nvSpPr>
        <p:spPr>
          <a:xfrm>
            <a:off x="3435858" y="3291840"/>
            <a:ext cx="731520" cy="731520"/>
          </a:xfrm>
          <a:prstGeom prst="ellipse">
            <a:avLst/>
          </a:prstGeom>
          <a:solidFill>
            <a:schemeClr val="accent1"/>
          </a:solidFill>
        </p:spPr>
        <p:txBody>
          <a:bodyPr/>
          <a:p/>
        </p:txBody>
      </p:sp>
      <p:pic>
        <p:nvPicPr>
          <p:cNvPr id="15" name="Icon 515" descr="Brain"/>
          <p:cNvPicPr>
            <a:picLocks noChangeAspect="1"/>
          </p:cNvPicPr>
          <p:nvPr/>
        </p:nvPicPr>
        <p:blipFill>
          <a:blip r:embed="rId3"/>
          <a:stretch>
            <a:fillRect/>
          </a:stretch>
        </p:blipFill>
        <p:spPr>
          <a:xfrm>
            <a:off x="3618738" y="3474720"/>
            <a:ext cx="365760" cy="365760"/>
          </a:xfrm>
          <a:prstGeom prst="rect">
            <a:avLst/>
          </a:prstGeom>
        </p:spPr>
      </p:pic>
      <p:sp>
        <p:nvSpPr>
          <p:cNvPr id="16" name="Text 516"/>
          <p:cNvSpPr txBox="1"/>
          <p:nvPr/>
        </p:nvSpPr>
        <p:spPr>
          <a:xfrm>
            <a:off x="2978658" y="4160520"/>
            <a:ext cx="1645920" cy="640080"/>
          </a:xfrm>
          <a:prstGeom prst="rect">
            <a:avLst/>
          </a:prstGeom>
          <a:noFill/>
        </p:spPr>
        <p:txBody>
          <a:bodyPr wrap="square" lIns="0" tIns="0" rIns="0" bIns="0" rtlCol="0" anchor="t"/>
          <a:lstStyle/>
          <a:p>
            <a:pPr marL="0" indent="0" algn="ctr">
              <a:buNone/>
            </a:pPr>
            <a:r>
              <a:rPr lang="en-US" sz="1400" b="1" dirty="0">
                <a:solidFill>
                  <a:schemeClr val="tx1"/>
                </a:solidFill>
              </a:rPr>
              <a:t>AI Recommender triggered</a:t>
            </a:r>
            <a:endParaRPr lang="en-US" sz="1400" dirty="0"/>
          </a:p>
        </p:txBody>
      </p:sp>
      <p:sp>
        <p:nvSpPr>
          <p:cNvPr id="17" name="Tag 517"/>
          <p:cNvSpPr/>
          <p:nvPr/>
        </p:nvSpPr>
        <p:spPr>
          <a:xfrm>
            <a:off x="3298698" y="4846320"/>
            <a:ext cx="1005840" cy="237744"/>
          </a:xfrm>
          <a:prstGeom prst="roundRect">
            <a:avLst>
              <a:gd name="adj" fmla="val 50000"/>
            </a:avLst>
          </a:prstGeom>
          <a:solidFill>
            <a:schemeClr val="bg1"/>
          </a:solidFill>
        </p:spPr>
        <p:txBody>
          <a:bodyPr wrap="square" lIns="0" tIns="0" rIns="0" bIns="0" rtlCol="0" anchor="ctr"/>
          <a:lstStyle/>
          <a:p>
            <a:pPr marL="0" indent="0" algn="ctr">
              <a:buNone/>
            </a:pPr>
            <a:r>
              <a:rPr lang="en-US" sz="1200" b="1" dirty="0">
                <a:solidFill>
                  <a:schemeClr val="accent1"/>
                </a:solidFill>
              </a:rPr>
              <a:t>Pillar 1</a:t>
            </a:r>
            <a:endParaRPr lang="en-US" sz="1200" dirty="0"/>
          </a:p>
        </p:txBody>
      </p:sp>
      <p:pic>
        <p:nvPicPr>
          <p:cNvPr id="18" name="Icon 518" descr="ChevronRight"/>
          <p:cNvPicPr>
            <a:picLocks noChangeAspect="1"/>
          </p:cNvPicPr>
          <p:nvPr/>
        </p:nvPicPr>
        <p:blipFill>
          <a:blip r:embed="rId2"/>
          <a:stretch>
            <a:fillRect/>
          </a:stretch>
        </p:blipFill>
        <p:spPr>
          <a:xfrm>
            <a:off x="4829175" y="4018788"/>
            <a:ext cx="237744" cy="237744"/>
          </a:xfrm>
          <a:prstGeom prst="rect">
            <a:avLst/>
          </a:prstGeom>
        </p:spPr>
      </p:pic>
      <p:sp>
        <p:nvSpPr>
          <p:cNvPr id="19" name="Shape 519"/>
          <p:cNvSpPr/>
          <p:nvPr/>
        </p:nvSpPr>
        <p:spPr>
          <a:xfrm>
            <a:off x="5134356" y="3063240"/>
            <a:ext cx="1920240" cy="2148840"/>
          </a:xfrm>
          <a:prstGeom prst="roundRect">
            <a:avLst>
              <a:gd name="adj" fmla="val 3810"/>
            </a:avLst>
          </a:prstGeom>
          <a:solidFill>
            <a:schemeClr val="bg2"/>
          </a:solidFill>
        </p:spPr>
        <p:txBody>
          <a:bodyPr/>
          <a:p/>
        </p:txBody>
      </p:sp>
      <p:sp>
        <p:nvSpPr>
          <p:cNvPr id="20" name="Shape 520"/>
          <p:cNvSpPr/>
          <p:nvPr/>
        </p:nvSpPr>
        <p:spPr>
          <a:xfrm>
            <a:off x="5728716" y="3291840"/>
            <a:ext cx="731520" cy="731520"/>
          </a:xfrm>
          <a:prstGeom prst="ellipse">
            <a:avLst/>
          </a:prstGeom>
          <a:solidFill>
            <a:schemeClr val="accent3"/>
          </a:solidFill>
        </p:spPr>
        <p:txBody>
          <a:bodyPr/>
          <a:p/>
        </p:txBody>
      </p:sp>
      <p:pic>
        <p:nvPicPr>
          <p:cNvPr id="21" name="Icon 521" descr="Warehouse"/>
          <p:cNvPicPr>
            <a:picLocks noChangeAspect="1"/>
          </p:cNvPicPr>
          <p:nvPr/>
        </p:nvPicPr>
        <p:blipFill>
          <a:blip r:embed="rId4"/>
          <a:stretch>
            <a:fillRect/>
          </a:stretch>
        </p:blipFill>
        <p:spPr>
          <a:xfrm>
            <a:off x="5911596" y="3474720"/>
            <a:ext cx="365760" cy="365760"/>
          </a:xfrm>
          <a:prstGeom prst="rect">
            <a:avLst/>
          </a:prstGeom>
        </p:spPr>
      </p:pic>
      <p:sp>
        <p:nvSpPr>
          <p:cNvPr id="22" name="Text 522"/>
          <p:cNvSpPr txBox="1"/>
          <p:nvPr/>
        </p:nvSpPr>
        <p:spPr>
          <a:xfrm>
            <a:off x="5271516" y="4160520"/>
            <a:ext cx="1645920" cy="640080"/>
          </a:xfrm>
          <a:prstGeom prst="rect">
            <a:avLst/>
          </a:prstGeom>
          <a:noFill/>
        </p:spPr>
        <p:txBody>
          <a:bodyPr wrap="square" lIns="0" tIns="0" rIns="0" bIns="0" rtlCol="0" anchor="t"/>
          <a:lstStyle/>
          <a:p>
            <a:pPr marL="0" indent="0" algn="ctr">
              <a:buNone/>
            </a:pPr>
            <a:r>
              <a:rPr lang="en-US" sz="1400" b="1" dirty="0">
                <a:solidFill>
                  <a:schemeClr val="tx1"/>
                </a:solidFill>
              </a:rPr>
              <a:t>Deduct Distributor inventory</a:t>
            </a:r>
            <a:endParaRPr lang="en-US" sz="1400" dirty="0"/>
          </a:p>
        </p:txBody>
      </p:sp>
      <p:sp>
        <p:nvSpPr>
          <p:cNvPr id="23" name="Tag 523"/>
          <p:cNvSpPr/>
          <p:nvPr/>
        </p:nvSpPr>
        <p:spPr>
          <a:xfrm>
            <a:off x="5591556" y="4846320"/>
            <a:ext cx="1005840" cy="237744"/>
          </a:xfrm>
          <a:prstGeom prst="roundRect">
            <a:avLst>
              <a:gd name="adj" fmla="val 50000"/>
            </a:avLst>
          </a:prstGeom>
          <a:solidFill>
            <a:schemeClr val="bg1"/>
          </a:solidFill>
        </p:spPr>
        <p:txBody>
          <a:bodyPr wrap="square" lIns="0" tIns="0" rIns="0" bIns="0" rtlCol="0" anchor="ctr"/>
          <a:lstStyle/>
          <a:p>
            <a:pPr marL="0" indent="0" algn="ctr">
              <a:buNone/>
            </a:pPr>
            <a:r>
              <a:rPr lang="en-US" sz="1200" b="1" dirty="0">
                <a:solidFill>
                  <a:schemeClr val="accent3"/>
                </a:solidFill>
              </a:rPr>
              <a:t>Pillar 3</a:t>
            </a:r>
            <a:endParaRPr lang="en-US" sz="1200" dirty="0"/>
          </a:p>
        </p:txBody>
      </p:sp>
      <p:pic>
        <p:nvPicPr>
          <p:cNvPr id="24" name="Icon 524" descr="ChevronRight"/>
          <p:cNvPicPr>
            <a:picLocks noChangeAspect="1"/>
          </p:cNvPicPr>
          <p:nvPr/>
        </p:nvPicPr>
        <p:blipFill>
          <a:blip r:embed="rId2"/>
          <a:stretch>
            <a:fillRect/>
          </a:stretch>
        </p:blipFill>
        <p:spPr>
          <a:xfrm>
            <a:off x="7122033" y="4018788"/>
            <a:ext cx="237744" cy="237744"/>
          </a:xfrm>
          <a:prstGeom prst="rect">
            <a:avLst/>
          </a:prstGeom>
        </p:spPr>
      </p:pic>
      <p:sp>
        <p:nvSpPr>
          <p:cNvPr id="25" name="Shape 525"/>
          <p:cNvSpPr/>
          <p:nvPr/>
        </p:nvSpPr>
        <p:spPr>
          <a:xfrm>
            <a:off x="7427214" y="3063240"/>
            <a:ext cx="1920240" cy="2148840"/>
          </a:xfrm>
          <a:prstGeom prst="roundRect">
            <a:avLst>
              <a:gd name="adj" fmla="val 3810"/>
            </a:avLst>
          </a:prstGeom>
          <a:solidFill>
            <a:schemeClr val="bg2"/>
          </a:solidFill>
        </p:spPr>
        <p:txBody>
          <a:bodyPr/>
          <a:p/>
        </p:txBody>
      </p:sp>
      <p:sp>
        <p:nvSpPr>
          <p:cNvPr id="26" name="Shape 526"/>
          <p:cNvSpPr/>
          <p:nvPr/>
        </p:nvSpPr>
        <p:spPr>
          <a:xfrm>
            <a:off x="8021574" y="3291840"/>
            <a:ext cx="731520" cy="731520"/>
          </a:xfrm>
          <a:prstGeom prst="ellipse">
            <a:avLst/>
          </a:prstGeom>
          <a:solidFill>
            <a:schemeClr val="accent3"/>
          </a:solidFill>
        </p:spPr>
        <p:txBody>
          <a:bodyPr/>
          <a:p/>
        </p:txBody>
      </p:sp>
      <p:pic>
        <p:nvPicPr>
          <p:cNvPr id="27" name="Icon 527" descr="Truck"/>
          <p:cNvPicPr>
            <a:picLocks noChangeAspect="1"/>
          </p:cNvPicPr>
          <p:nvPr/>
        </p:nvPicPr>
        <p:blipFill>
          <a:blip r:embed="rId5"/>
          <a:stretch>
            <a:fillRect/>
          </a:stretch>
        </p:blipFill>
        <p:spPr>
          <a:xfrm>
            <a:off x="8204454" y="3474720"/>
            <a:ext cx="365760" cy="365760"/>
          </a:xfrm>
          <a:prstGeom prst="rect">
            <a:avLst/>
          </a:prstGeom>
        </p:spPr>
      </p:pic>
      <p:sp>
        <p:nvSpPr>
          <p:cNvPr id="28" name="Text 528"/>
          <p:cNvSpPr txBox="1"/>
          <p:nvPr/>
        </p:nvSpPr>
        <p:spPr>
          <a:xfrm>
            <a:off x="7564374" y="4160520"/>
            <a:ext cx="1645920" cy="640080"/>
          </a:xfrm>
          <a:prstGeom prst="rect">
            <a:avLst/>
          </a:prstGeom>
          <a:noFill/>
        </p:spPr>
        <p:txBody>
          <a:bodyPr wrap="square" lIns="0" tIns="0" rIns="0" bIns="0" rtlCol="0" anchor="t"/>
          <a:lstStyle/>
          <a:p>
            <a:pPr marL="0" indent="0" algn="ctr">
              <a:buNone/>
            </a:pPr>
            <a:r>
              <a:rPr lang="en-US" sz="1400" b="1" dirty="0">
                <a:solidFill>
                  <a:schemeClr val="tx1"/>
                </a:solidFill>
              </a:rPr>
              <a:t>Distributor orders from Brand</a:t>
            </a:r>
            <a:endParaRPr lang="en-US" sz="1400" dirty="0"/>
          </a:p>
        </p:txBody>
      </p:sp>
      <p:sp>
        <p:nvSpPr>
          <p:cNvPr id="29" name="Tag 529"/>
          <p:cNvSpPr/>
          <p:nvPr/>
        </p:nvSpPr>
        <p:spPr>
          <a:xfrm>
            <a:off x="7884414" y="4846320"/>
            <a:ext cx="1005840" cy="237744"/>
          </a:xfrm>
          <a:prstGeom prst="roundRect">
            <a:avLst>
              <a:gd name="adj" fmla="val 50000"/>
            </a:avLst>
          </a:prstGeom>
          <a:solidFill>
            <a:schemeClr val="bg1"/>
          </a:solidFill>
        </p:spPr>
        <p:txBody>
          <a:bodyPr wrap="square" lIns="0" tIns="0" rIns="0" bIns="0" rtlCol="0" anchor="ctr"/>
          <a:lstStyle/>
          <a:p>
            <a:pPr marL="0" indent="0" algn="ctr">
              <a:buNone/>
            </a:pPr>
            <a:r>
              <a:rPr lang="en-US" sz="1200" b="1" dirty="0">
                <a:solidFill>
                  <a:schemeClr val="accent3"/>
                </a:solidFill>
              </a:rPr>
              <a:t>Pillar 3</a:t>
            </a:r>
            <a:endParaRPr lang="en-US" sz="1200" dirty="0"/>
          </a:p>
        </p:txBody>
      </p:sp>
      <p:pic>
        <p:nvPicPr>
          <p:cNvPr id="30" name="Icon 530" descr="ChevronRight"/>
          <p:cNvPicPr>
            <a:picLocks noChangeAspect="1"/>
          </p:cNvPicPr>
          <p:nvPr/>
        </p:nvPicPr>
        <p:blipFill>
          <a:blip r:embed="rId2"/>
          <a:stretch>
            <a:fillRect/>
          </a:stretch>
        </p:blipFill>
        <p:spPr>
          <a:xfrm>
            <a:off x="9414891" y="4018788"/>
            <a:ext cx="237744" cy="237744"/>
          </a:xfrm>
          <a:prstGeom prst="rect">
            <a:avLst/>
          </a:prstGeom>
        </p:spPr>
      </p:pic>
      <p:sp>
        <p:nvSpPr>
          <p:cNvPr id="31" name="Shape 531"/>
          <p:cNvSpPr/>
          <p:nvPr/>
        </p:nvSpPr>
        <p:spPr>
          <a:xfrm>
            <a:off x="9720072" y="3063240"/>
            <a:ext cx="1920240" cy="2148840"/>
          </a:xfrm>
          <a:prstGeom prst="roundRect">
            <a:avLst>
              <a:gd name="adj" fmla="val 3810"/>
            </a:avLst>
          </a:prstGeom>
          <a:solidFill>
            <a:schemeClr val="bg2"/>
          </a:solidFill>
        </p:spPr>
        <p:txBody>
          <a:bodyPr/>
          <a:p/>
        </p:txBody>
      </p:sp>
      <p:sp>
        <p:nvSpPr>
          <p:cNvPr id="32" name="Shape 532"/>
          <p:cNvSpPr/>
          <p:nvPr/>
        </p:nvSpPr>
        <p:spPr>
          <a:xfrm>
            <a:off x="10314432" y="3291840"/>
            <a:ext cx="731520" cy="731520"/>
          </a:xfrm>
          <a:prstGeom prst="ellipse">
            <a:avLst/>
          </a:prstGeom>
          <a:solidFill>
            <a:schemeClr val="accent6"/>
          </a:solidFill>
        </p:spPr>
        <p:txBody>
          <a:bodyPr/>
          <a:p/>
        </p:txBody>
      </p:sp>
      <p:pic>
        <p:nvPicPr>
          <p:cNvPr id="33" name="Icon 533" descr="Coins"/>
          <p:cNvPicPr>
            <a:picLocks noChangeAspect="1"/>
          </p:cNvPicPr>
          <p:nvPr/>
        </p:nvPicPr>
        <p:blipFill>
          <a:blip r:embed="rId6"/>
          <a:stretch>
            <a:fillRect/>
          </a:stretch>
        </p:blipFill>
        <p:spPr>
          <a:xfrm>
            <a:off x="10497312" y="3474720"/>
            <a:ext cx="365760" cy="365760"/>
          </a:xfrm>
          <a:prstGeom prst="rect">
            <a:avLst/>
          </a:prstGeom>
        </p:spPr>
      </p:pic>
      <p:sp>
        <p:nvSpPr>
          <p:cNvPr id="34" name="Text 534"/>
          <p:cNvSpPr txBox="1"/>
          <p:nvPr/>
        </p:nvSpPr>
        <p:spPr>
          <a:xfrm>
            <a:off x="9857232" y="4160520"/>
            <a:ext cx="1645920" cy="640080"/>
          </a:xfrm>
          <a:prstGeom prst="rect">
            <a:avLst/>
          </a:prstGeom>
          <a:noFill/>
        </p:spPr>
        <p:txBody>
          <a:bodyPr wrap="square" lIns="0" tIns="0" rIns="0" bIns="0" rtlCol="0" anchor="t"/>
          <a:lstStyle/>
          <a:p>
            <a:pPr marL="0" indent="0" algn="ctr">
              <a:buNone/>
            </a:pPr>
            <a:r>
              <a:rPr lang="en-US" sz="1400" b="1" dirty="0">
                <a:solidFill>
                  <a:schemeClr val="tx1"/>
                </a:solidFill>
              </a:rPr>
              <a:t>Issue Rebate &amp; Loyalty Points</a:t>
            </a:r>
            <a:endParaRPr lang="en-US" sz="1400" dirty="0"/>
          </a:p>
        </p:txBody>
      </p:sp>
      <p:sp>
        <p:nvSpPr>
          <p:cNvPr id="35" name="Tag 535"/>
          <p:cNvSpPr/>
          <p:nvPr/>
        </p:nvSpPr>
        <p:spPr>
          <a:xfrm>
            <a:off x="10177272" y="4846320"/>
            <a:ext cx="1005840" cy="237744"/>
          </a:xfrm>
          <a:prstGeom prst="roundRect">
            <a:avLst>
              <a:gd name="adj" fmla="val 50000"/>
            </a:avLst>
          </a:prstGeom>
          <a:solidFill>
            <a:schemeClr val="bg1"/>
          </a:solidFill>
        </p:spPr>
        <p:txBody>
          <a:bodyPr wrap="square" lIns="0" tIns="0" rIns="0" bIns="0" rtlCol="0" anchor="ctr"/>
          <a:lstStyle/>
          <a:p>
            <a:pPr marL="0" indent="0" algn="ctr">
              <a:buNone/>
            </a:pPr>
            <a:r>
              <a:rPr lang="en-US" sz="1200" b="1" dirty="0">
                <a:solidFill>
                  <a:schemeClr val="accent6"/>
                </a:solidFill>
              </a:rPr>
              <a:t>Pillars 4 &amp; 5</a:t>
            </a:r>
            <a:endParaRPr lang="en-US" sz="1200" dirty="0"/>
          </a:p>
        </p:txBody>
      </p:sp>
      <p:sp>
        <p:nvSpPr>
          <p:cNvPr id="36" name="Shape 536"/>
          <p:cNvSpPr/>
          <p:nvPr/>
        </p:nvSpPr>
        <p:spPr>
          <a:xfrm>
            <a:off x="10680192" y="5212080"/>
            <a:ext cx="0" cy="548640"/>
          </a:xfrm>
          <a:prstGeom prst="line">
            <a:avLst/>
          </a:prstGeom>
          <a:noFill/>
          <a:ln w="25400">
            <a:solidFill>
              <a:schemeClr val="accent1"/>
            </a:solidFill>
            <a:prstDash val="solid"/>
          </a:ln>
        </p:spPr>
        <p:txBody>
          <a:bodyPr/>
          <a:p/>
        </p:txBody>
      </p:sp>
      <p:sp>
        <p:nvSpPr>
          <p:cNvPr id="37" name="Shape 537"/>
          <p:cNvSpPr/>
          <p:nvPr/>
        </p:nvSpPr>
        <p:spPr>
          <a:xfrm>
            <a:off x="1508760" y="5760720"/>
            <a:ext cx="9171432" cy="0"/>
          </a:xfrm>
          <a:prstGeom prst="line">
            <a:avLst/>
          </a:prstGeom>
          <a:noFill/>
          <a:ln w="25400">
            <a:solidFill>
              <a:schemeClr val="accent1"/>
            </a:solidFill>
            <a:prstDash val="solid"/>
          </a:ln>
        </p:spPr>
        <p:txBody>
          <a:bodyPr/>
          <a:p/>
        </p:txBody>
      </p:sp>
      <p:sp>
        <p:nvSpPr>
          <p:cNvPr id="38" name="Shape 538"/>
          <p:cNvSpPr/>
          <p:nvPr/>
        </p:nvSpPr>
        <p:spPr>
          <a:xfrm flipV="1">
            <a:off x="1508760" y="5212080"/>
            <a:ext cx="0" cy="548640"/>
          </a:xfrm>
          <a:prstGeom prst="line">
            <a:avLst/>
          </a:prstGeom>
          <a:noFill/>
          <a:ln w="25400">
            <a:solidFill>
              <a:schemeClr val="accent1"/>
            </a:solidFill>
            <a:prstDash val="solid"/>
            <a:tailEnd type="triangle"/>
          </a:ln>
        </p:spPr>
        <p:txBody>
          <a:bodyPr/>
          <a:p/>
        </p:txBody>
      </p:sp>
      <p:sp>
        <p:nvSpPr>
          <p:cNvPr id="39" name="Label 539"/>
          <p:cNvSpPr/>
          <p:nvPr/>
        </p:nvSpPr>
        <p:spPr>
          <a:xfrm>
            <a:off x="4572000" y="5577840"/>
            <a:ext cx="3044952" cy="365760"/>
          </a:xfrm>
          <a:prstGeom prst="rect">
            <a:avLst/>
          </a:prstGeom>
          <a:solidFill>
            <a:schemeClr val="bg1"/>
          </a:solidFill>
        </p:spPr>
        <p:txBody>
          <a:bodyPr wrap="square" lIns="0" tIns="0" rIns="0" bIns="0" rtlCol="0" anchor="ctr"/>
          <a:lstStyle/>
          <a:p>
            <a:pPr marL="0" indent="0" algn="ctr">
              <a:buNone/>
            </a:pPr>
            <a:r>
              <a:rPr lang="en-US" sz="1400" b="1" dirty="0">
                <a:solidFill>
                  <a:schemeClr val="accent1"/>
                </a:solidFill>
              </a:rPr>
              <a:t>FRICTIONLESS ECOSYSTEM</a:t>
            </a:r>
            <a:endParaRPr lang="en-US" sz="1400" dirty="0"/>
          </a:p>
        </p:txBody>
      </p:sp>
      <p:sp>
        <p:nvSpPr>
          <p:cNvPr id="40" name="Slide Number Placeholder 0"/>
          <p:cNvSpPr>
            <a:spLocks noGrp="1"/>
          </p:cNvSpPr>
          <p:nvPr>
            <p:ph type="sldNum" sz="quarter" idx="4294967295"/>
          </p:nvPr>
        </p:nvSpPr>
        <p:spPr>
          <a:xfrm>
            <a:off x="10972800" y="6419088"/>
            <a:ext cx="667512" cy="256032"/>
          </a:xfrm>
          <a:prstGeom prst="rect">
            <a:avLst/>
          </a:prstGeom>
        </p:spPr>
        <p:txBody>
          <a:bodyPr/>
          <a:lstStyle>
            <a:lvl1pPr>
              <a:defRPr sz="1000">
                <a:solidFill>
                  <a:srgbClr val="5A6980"/>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BonBon Clean">
  <a:themeElements>
    <a:clrScheme name="BonBon Clean">
      <a:dk1>
        <a:srgbClr val="1A2433"/>
      </a:dk1>
      <a:lt1>
        <a:srgbClr val="FFFFFF"/>
      </a:lt1>
      <a:dk2>
        <a:srgbClr val="0F2B5B"/>
      </a:dk2>
      <a:lt2>
        <a:srgbClr val="EEF3FA"/>
      </a:lt2>
      <a:accent1>
        <a:srgbClr val="1F5FD1"/>
      </a:accent1>
      <a:accent2>
        <a:srgbClr val="0F8B7D"/>
      </a:accent2>
      <a:accent3>
        <a:srgbClr val="C25E0A"/>
      </a:accent3>
      <a:accent4>
        <a:srgbClr val="5A6980"/>
      </a:accent4>
      <a:accent5>
        <a:srgbClr val="C2255C"/>
      </a:accent5>
      <a:accent6>
        <a:srgbClr val="7040C8"/>
      </a:accent6>
      <a:hlink>
        <a:srgbClr val="1F5FD1"/>
      </a:hlink>
      <a:folHlink>
        <a:srgbClr val="5A6980"/>
      </a:folHlink>
    </a:clrScheme>
    <a:fontScheme name="BonBon Cle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onBon Clean">
  <a:themeElements>
    <a:clrScheme name="BonBon Clean">
      <a:dk1>
        <a:srgbClr val="1A2433"/>
      </a:dk1>
      <a:lt1>
        <a:srgbClr val="FFFFFF"/>
      </a:lt1>
      <a:dk2>
        <a:srgbClr val="0F2B5B"/>
      </a:dk2>
      <a:lt2>
        <a:srgbClr val="EEF3FA"/>
      </a:lt2>
      <a:accent1>
        <a:srgbClr val="1F5FD1"/>
      </a:accent1>
      <a:accent2>
        <a:srgbClr val="0F8B7D"/>
      </a:accent2>
      <a:accent3>
        <a:srgbClr val="C25E0A"/>
      </a:accent3>
      <a:accent4>
        <a:srgbClr val="5A6980"/>
      </a:accent4>
      <a:accent5>
        <a:srgbClr val="C2255C"/>
      </a:accent5>
      <a:accent6>
        <a:srgbClr val="7040C8"/>
      </a:accent6>
      <a:hlink>
        <a:srgbClr val="1F5FD1"/>
      </a:hlink>
      <a:folHlink>
        <a:srgbClr val="5A6980"/>
      </a:folHlink>
    </a:clrScheme>
    <a:fontScheme name="BonBon Cle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15368</Words>
  <Application>WPS Presentation</Application>
  <PresentationFormat>On-screen Show (16:9)</PresentationFormat>
  <Paragraphs>671</Paragraphs>
  <Slides>19</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Calibri</vt:lpstr>
      <vt:lpstr>Helvetica Neue</vt:lpstr>
      <vt:lpstr>Microsoft YaHei</vt:lpstr>
      <vt:lpstr>汉仪旗黑</vt:lpstr>
      <vt:lpstr>Arial Unicode MS</vt:lpstr>
      <vt:lpstr>BonBon Clean</vt:lpstr>
      <vt:lpstr>Comprehensive upgrade strategy for FinViet</vt:lpstr>
      <vt:lpstr>Five-pillar strategy framework</vt:lpstr>
      <vt:lpstr>Open Marketplace &amp; Frictionless Onboarding</vt:lpstr>
      <vt:lpstr>AI Semantic Search</vt:lpstr>
      <vt:lpstr>Upsell &amp; Cross-sell Recommendation</vt:lpstr>
      <vt:lpstr>Forecast &amp; Recommend Order (3 modes)</vt:lpstr>
      <vt:lpstr>Flash Sale &amp; Brand Dedicated Storefront</vt:lpstr>
      <vt:lpstr>E-invoice &amp; Auto-sync Catalog</vt:lpstr>
      <vt:lpstr>Smart QR &amp; Digital Debt Ledger</vt:lpstr>
      <vt:lpstr>Real-time Stock Sync &amp; Alerts</vt:lpstr>
      <vt:lpstr>Two-way flows for Distributors</vt:lpstr>
      <vt:lpstr>Primary Ordering, Inventory Sync &amp; Rebate</vt:lpstr>
      <vt:lpstr>Voice/Visual Search &amp; AI Chatbot</vt:lpstr>
      <vt:lpstr>Loyalty Club &amp; Dual Points Wallet</vt:lpstr>
      <vt:lpstr>Daily Gamification</vt:lpstr>
      <vt:lpstr>AI Vision Audit (Shelf Display)</vt:lpstr>
      <vt:lpstr>Trade Promotion Tracking</vt:lpstr>
      <vt:lpstr>POSM Request &amp; Self-service RMA</vt:lpstr>
      <vt:lpstr>B2B2C Closed Loop</vt:lpstr>
    </vt:vector>
  </TitlesOfParts>
  <Company>BonBon Shop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Chiến lược sản phẩm BonBon Shop 2026</dc:title>
  <dc:creator>BonBon Shop</dc:creator>
  <dc:subject>PptxGenJS Presentation</dc:subject>
  <cp:lastModifiedBy>Red Dang</cp:lastModifiedBy>
  <cp:revision>2</cp:revision>
  <dcterms:created xsi:type="dcterms:W3CDTF">2026-10-28T15:52:03Z</dcterms:created>
  <dcterms:modified xsi:type="dcterms:W3CDTF">2026-10-28T15:52:03Z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715BC2AB068C29A7231AE26A66B305DD_42</vt:lpwstr>
  </property>
  <property fmtid="{D5CDD505-2E9C-101B-9397-08002B2CF9AE}" pid="3" name="KSOProductBuildVer">
    <vt:lpwstr>1033-12.1.29182.29182</vt:lpwstr>
  </property>
</Properties>
</file>