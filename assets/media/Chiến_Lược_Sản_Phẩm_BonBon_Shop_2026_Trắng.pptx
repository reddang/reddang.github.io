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d735b461-6e7e-e6b7-af2e-8310f3e296cc}">
          <p14:sldIdLst>
            <p14:sldId id="256"/>
          </p14:sldIdLst>
        </p14:section>
        <p14:section name="Tổng quan" id="{1b7b2c89-655b-fc60-fa69-cf37213eb133}">
          <p14:sldIdLst>
            <p14:sldId id="257"/>
          </p14:sldIdLst>
        </p14:section>
        <p14:section name="Trụ cột 1: Mua hàng" id="{a2d5c98e-e942-2df7-f3b3-062d19166ed4}">
          <p14:sldIdLst>
            <p14:sldId id="258"/>
            <p14:sldId id="259"/>
            <p14:sldId id="260"/>
            <p14:sldId id="261"/>
            <p14:sldId id="262"/>
          </p14:sldIdLst>
        </p14:section>
        <p14:section name="Trụ cột 2: Bán hàng" id="{cb26cd43-c27c-c493-33c3-ce0e8bd90d6c}">
          <p14:sldIdLst>
            <p14:sldId id="263"/>
            <p14:sldId id="264"/>
            <p14:sldId id="265"/>
          </p14:sldIdLst>
        </p14:section>
        <p14:section name="Trụ cột 3: Bán sỉ" id="{f67f1777-be9f-f2a9-16d8-5ea51c359210}">
          <p14:sldIdLst>
            <p14:sldId id="266"/>
            <p14:sldId id="267"/>
          </p14:sldIdLst>
        </p14:section>
        <p14:section name="Trụ cột 4: Giữ chân" id="{ea487ecf-837d-77ff-faa8-8bd28ecb4803}">
          <p14:sldIdLst>
            <p14:sldId id="268"/>
            <p14:sldId id="269"/>
            <p14:sldId id="270"/>
          </p14:sldIdLst>
        </p14:section>
        <p14:section name="Trụ cột 5: Giảm tác vụ Sales" id="{eaf957f7-2b19-4139-02af-7da8f78a70d4}">
          <p14:sldIdLst>
            <p14:sldId id="271"/>
            <p14:sldId id="272"/>
            <p14:sldId id="273"/>
          </p14:sldIdLst>
        </p14:section>
        <p14:section name="Kết luận" id="{850aa375-d172-b482-3d3a-adc73a29f82b}">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BonBon Shop  |  Chiến lược sản phẩm 2026</a:t>
            </a:r>
            <a:endParaRPr lang="en-US" sz="1000" dirty="0"/>
          </a:p>
        </p:txBody>
      </p:sp>
      <p:sp>
        <p:nvSpPr>
          <p:cNvPr id="3" name="Text 1"/>
          <p:cNvSpPr/>
          <p:nvPr>
            <p:ph idx="101" type="body" hasCustomPrompt="1"/>
          </p:nvPr>
        </p:nvSpPr>
        <p:spPr>
          <a:xfrm>
            <a:off x="548640" y="365760"/>
            <a:ext cx="11091672" cy="274320"/>
          </a:xfrm>
          <a:prstGeom prst="rect">
            <a:avLst/>
          </a:prstGeom>
          <a:noFill/>
          <a:ln/>
        </p:spPr>
        <p:txBody>
          <a:bodyPr wrap="square" rtlCol="0"/>
          <a:lstStyle>
            <a:lvl1pPr indent="0" marL="0">
              <a:buNone/>
              <a:defRPr lang="en-US" sz="1400" b="1" spc="150" kern="0" dirty="0">
                <a:solidFill>
                  <a:schemeClr val="accent1"/>
                </a:solidFill>
              </a:defRPr>
            </a:lvl1pPr>
          </a:lstStyle>
          <a:p>
            <a:pPr indent="0" marL="0">
              <a:buNone/>
            </a:pPr>
            <a:endParaRPr lang="en-US" sz="1400" dirty="0"/>
          </a:p>
        </p:txBody>
      </p:sp>
      <p:sp>
        <p:nvSpPr>
          <p:cNvPr id="4" name="Text 1"/>
          <p:cNvSpPr/>
          <p:nvPr>
            <p:ph idx="102" type="title" hasCustomPrompt="1"/>
          </p:nvPr>
        </p:nvSpPr>
        <p:spPr>
          <a:xfrm>
            <a:off x="548640" y="676656"/>
            <a:ext cx="11091672" cy="65836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1">
    <p:spTree>
      <p:nvGrpSpPr>
        <p:cNvPr id="1" name=""/>
        <p:cNvGrpSpPr/>
        <p:nvPr/>
      </p:nvGrpSpPr>
      <p:grpSpPr>
        <a:xfrm>
          <a:off x="0" y="0"/>
          <a:ext cx="0" cy="0"/>
          <a:chOff x="0" y="0"/>
          <a:chExt cx="0" cy="0"/>
        </a:xfrm>
      </p:grpSpPr>
      <p:sp>
        <p:nvSpPr>
          <p:cNvPr id="2"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BonBon Shop  |  Chiến lược sản phẩm 2026</a:t>
            </a:r>
            <a:endParaRPr lang="en-US" sz="1000" dirty="0"/>
          </a:p>
        </p:txBody>
      </p:sp>
      <p:sp>
        <p:nvSpPr>
          <p:cNvPr id="3" name="Text 1"/>
          <p:cNvSpPr/>
          <p:nvPr>
            <p:ph idx="101" type="body" hasCustomPrompt="1"/>
          </p:nvPr>
        </p:nvSpPr>
        <p:spPr>
          <a:xfrm>
            <a:off x="548640" y="365760"/>
            <a:ext cx="11091672" cy="274320"/>
          </a:xfrm>
          <a:prstGeom prst="rect">
            <a:avLst/>
          </a:prstGeom>
          <a:noFill/>
          <a:ln/>
        </p:spPr>
        <p:txBody>
          <a:bodyPr wrap="square" rtlCol="0"/>
          <a:lstStyle>
            <a:lvl1pPr indent="0" marL="0">
              <a:buNone/>
              <a:defRPr lang="en-US" sz="1400" b="1" spc="150" kern="0" dirty="0">
                <a:solidFill>
                  <a:schemeClr val="accent1"/>
                </a:solidFill>
              </a:defRPr>
            </a:lvl1pPr>
          </a:lstStyle>
          <a:p>
            <a:pPr indent="0" marL="0">
              <a:buNone/>
            </a:pPr>
            <a:endParaRPr lang="en-US" sz="1400" dirty="0"/>
          </a:p>
        </p:txBody>
      </p:sp>
      <p:sp>
        <p:nvSpPr>
          <p:cNvPr id="4" name="Text 1"/>
          <p:cNvSpPr/>
          <p:nvPr>
            <p:ph idx="102" type="title" hasCustomPrompt="1"/>
          </p:nvPr>
        </p:nvSpPr>
        <p:spPr>
          <a:xfrm>
            <a:off x="548640" y="676656"/>
            <a:ext cx="11091672" cy="658368"/>
          </a:xfrm>
          <a:prstGeom prst="rect">
            <a:avLst/>
          </a:prstGeom>
          <a:noFill/>
          <a:ln/>
        </p:spPr>
        <p:txBody>
          <a:bodyPr wrap="square" rtlCol="0"/>
          <a:lstStyle>
            <a:lvl1pPr algn="l" indent="0" marL="0">
              <a:buNone/>
              <a:defRPr lang="en-US" sz="3200" b="1" dirty="0">
                <a:solidFill>
                  <a:schemeClr val="accent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2">
    <p:spTree>
      <p:nvGrpSpPr>
        <p:cNvPr id="1" name=""/>
        <p:cNvGrpSpPr/>
        <p:nvPr/>
      </p:nvGrpSpPr>
      <p:grpSpPr>
        <a:xfrm>
          <a:off x="0" y="0"/>
          <a:ext cx="0" cy="0"/>
          <a:chOff x="0" y="0"/>
          <a:chExt cx="0" cy="0"/>
        </a:xfrm>
      </p:grpSpPr>
      <p:sp>
        <p:nvSpPr>
          <p:cNvPr id="2"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BonBon Shop  |  Chiến lược sản phẩm 2026</a:t>
            </a:r>
            <a:endParaRPr lang="en-US" sz="1000" dirty="0"/>
          </a:p>
        </p:txBody>
      </p:sp>
      <p:sp>
        <p:nvSpPr>
          <p:cNvPr id="3" name="Text 1"/>
          <p:cNvSpPr/>
          <p:nvPr>
            <p:ph idx="101" type="body" hasCustomPrompt="1"/>
          </p:nvPr>
        </p:nvSpPr>
        <p:spPr>
          <a:xfrm>
            <a:off x="548640" y="365760"/>
            <a:ext cx="11091672" cy="274320"/>
          </a:xfrm>
          <a:prstGeom prst="rect">
            <a:avLst/>
          </a:prstGeom>
          <a:noFill/>
          <a:ln/>
        </p:spPr>
        <p:txBody>
          <a:bodyPr wrap="square" rtlCol="0"/>
          <a:lstStyle>
            <a:lvl1pPr indent="0" marL="0">
              <a:buNone/>
              <a:defRPr lang="en-US" sz="1400" b="1" spc="150" kern="0" dirty="0">
                <a:solidFill>
                  <a:schemeClr val="accent2"/>
                </a:solidFill>
              </a:defRPr>
            </a:lvl1pPr>
          </a:lstStyle>
          <a:p>
            <a:pPr indent="0" marL="0">
              <a:buNone/>
            </a:pPr>
            <a:endParaRPr lang="en-US" sz="1400" dirty="0"/>
          </a:p>
        </p:txBody>
      </p:sp>
      <p:sp>
        <p:nvSpPr>
          <p:cNvPr id="4" name="Text 1"/>
          <p:cNvSpPr/>
          <p:nvPr>
            <p:ph idx="102" type="title" hasCustomPrompt="1"/>
          </p:nvPr>
        </p:nvSpPr>
        <p:spPr>
          <a:xfrm>
            <a:off x="548640" y="676656"/>
            <a:ext cx="11091672" cy="658368"/>
          </a:xfrm>
          <a:prstGeom prst="rect">
            <a:avLst/>
          </a:prstGeom>
          <a:noFill/>
          <a:ln/>
        </p:spPr>
        <p:txBody>
          <a:bodyPr wrap="square" rtlCol="0"/>
          <a:lstStyle>
            <a:lvl1pPr algn="l" indent="0" marL="0">
              <a:buNone/>
              <a:defRPr lang="en-US" sz="3200" b="1" dirty="0">
                <a:solidFill>
                  <a:schemeClr val="accent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3">
    <p:spTree>
      <p:nvGrpSpPr>
        <p:cNvPr id="1" name=""/>
        <p:cNvGrpSpPr/>
        <p:nvPr/>
      </p:nvGrpSpPr>
      <p:grpSpPr>
        <a:xfrm>
          <a:off x="0" y="0"/>
          <a:ext cx="0" cy="0"/>
          <a:chOff x="0" y="0"/>
          <a:chExt cx="0" cy="0"/>
        </a:xfrm>
      </p:grpSpPr>
      <p:sp>
        <p:nvSpPr>
          <p:cNvPr id="2"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BonBon Shop  |  Chiến lược sản phẩm 2026</a:t>
            </a:r>
            <a:endParaRPr lang="en-US" sz="1000" dirty="0"/>
          </a:p>
        </p:txBody>
      </p:sp>
      <p:sp>
        <p:nvSpPr>
          <p:cNvPr id="3" name="Text 1"/>
          <p:cNvSpPr/>
          <p:nvPr>
            <p:ph idx="101" type="body" hasCustomPrompt="1"/>
          </p:nvPr>
        </p:nvSpPr>
        <p:spPr>
          <a:xfrm>
            <a:off x="548640" y="365760"/>
            <a:ext cx="11091672" cy="274320"/>
          </a:xfrm>
          <a:prstGeom prst="rect">
            <a:avLst/>
          </a:prstGeom>
          <a:noFill/>
          <a:ln/>
        </p:spPr>
        <p:txBody>
          <a:bodyPr wrap="square" rtlCol="0"/>
          <a:lstStyle>
            <a:lvl1pPr indent="0" marL="0">
              <a:buNone/>
              <a:defRPr lang="en-US" sz="1400" b="1" spc="150" kern="0" dirty="0">
                <a:solidFill>
                  <a:schemeClr val="accent3"/>
                </a:solidFill>
              </a:defRPr>
            </a:lvl1pPr>
          </a:lstStyle>
          <a:p>
            <a:pPr indent="0" marL="0">
              <a:buNone/>
            </a:pPr>
            <a:endParaRPr lang="en-US" sz="1400" dirty="0"/>
          </a:p>
        </p:txBody>
      </p:sp>
      <p:sp>
        <p:nvSpPr>
          <p:cNvPr id="4" name="Text 1"/>
          <p:cNvSpPr/>
          <p:nvPr>
            <p:ph idx="102" type="title" hasCustomPrompt="1"/>
          </p:nvPr>
        </p:nvSpPr>
        <p:spPr>
          <a:xfrm>
            <a:off x="548640" y="676656"/>
            <a:ext cx="11091672" cy="658368"/>
          </a:xfrm>
          <a:prstGeom prst="rect">
            <a:avLst/>
          </a:prstGeom>
          <a:noFill/>
          <a:ln/>
        </p:spPr>
        <p:txBody>
          <a:bodyPr wrap="square" rtlCol="0"/>
          <a:lstStyle>
            <a:lvl1pPr algn="l" indent="0" marL="0">
              <a:buNone/>
              <a:defRPr lang="en-US" sz="3200" b="1" dirty="0">
                <a:solidFill>
                  <a:schemeClr val="accent3"/>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4">
    <p:spTree>
      <p:nvGrpSpPr>
        <p:cNvPr id="1" name=""/>
        <p:cNvGrpSpPr/>
        <p:nvPr/>
      </p:nvGrpSpPr>
      <p:grpSpPr>
        <a:xfrm>
          <a:off x="0" y="0"/>
          <a:ext cx="0" cy="0"/>
          <a:chOff x="0" y="0"/>
          <a:chExt cx="0" cy="0"/>
        </a:xfrm>
      </p:grpSpPr>
      <p:sp>
        <p:nvSpPr>
          <p:cNvPr id="2"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BonBon Shop  |  Chiến lược sản phẩm 2026</a:t>
            </a:r>
            <a:endParaRPr lang="en-US" sz="1000" dirty="0"/>
          </a:p>
        </p:txBody>
      </p:sp>
      <p:sp>
        <p:nvSpPr>
          <p:cNvPr id="3" name="Text 1"/>
          <p:cNvSpPr/>
          <p:nvPr>
            <p:ph idx="101" type="body" hasCustomPrompt="1"/>
          </p:nvPr>
        </p:nvSpPr>
        <p:spPr>
          <a:xfrm>
            <a:off x="548640" y="365760"/>
            <a:ext cx="11091672" cy="274320"/>
          </a:xfrm>
          <a:prstGeom prst="rect">
            <a:avLst/>
          </a:prstGeom>
          <a:noFill/>
          <a:ln/>
        </p:spPr>
        <p:txBody>
          <a:bodyPr wrap="square" rtlCol="0"/>
          <a:lstStyle>
            <a:lvl1pPr indent="0" marL="0">
              <a:buNone/>
              <a:defRPr lang="en-US" sz="1400" b="1" spc="150" kern="0" dirty="0">
                <a:solidFill>
                  <a:schemeClr val="accent6"/>
                </a:solidFill>
              </a:defRPr>
            </a:lvl1pPr>
          </a:lstStyle>
          <a:p>
            <a:pPr indent="0" marL="0">
              <a:buNone/>
            </a:pPr>
            <a:endParaRPr lang="en-US" sz="1400" dirty="0"/>
          </a:p>
        </p:txBody>
      </p:sp>
      <p:sp>
        <p:nvSpPr>
          <p:cNvPr id="4" name="Text 1"/>
          <p:cNvSpPr/>
          <p:nvPr>
            <p:ph idx="102" type="title" hasCustomPrompt="1"/>
          </p:nvPr>
        </p:nvSpPr>
        <p:spPr>
          <a:xfrm>
            <a:off x="548640" y="676656"/>
            <a:ext cx="11091672" cy="658368"/>
          </a:xfrm>
          <a:prstGeom prst="rect">
            <a:avLst/>
          </a:prstGeom>
          <a:noFill/>
          <a:ln/>
        </p:spPr>
        <p:txBody>
          <a:bodyPr wrap="square" rtlCol="0"/>
          <a:lstStyle>
            <a:lvl1pPr algn="l" indent="0" marL="0">
              <a:buNone/>
              <a:defRPr lang="en-US" sz="3200" b="1" dirty="0">
                <a:solidFill>
                  <a:schemeClr val="accent6"/>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5">
    <p:spTree>
      <p:nvGrpSpPr>
        <p:cNvPr id="1" name=""/>
        <p:cNvGrpSpPr/>
        <p:nvPr/>
      </p:nvGrpSpPr>
      <p:grpSpPr>
        <a:xfrm>
          <a:off x="0" y="0"/>
          <a:ext cx="0" cy="0"/>
          <a:chOff x="0" y="0"/>
          <a:chExt cx="0" cy="0"/>
        </a:xfrm>
      </p:grpSpPr>
      <p:sp>
        <p:nvSpPr>
          <p:cNvPr id="2"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BonBon Shop  |  Chiến lược sản phẩm 2026</a:t>
            </a:r>
            <a:endParaRPr lang="en-US" sz="1000" dirty="0"/>
          </a:p>
        </p:txBody>
      </p:sp>
      <p:sp>
        <p:nvSpPr>
          <p:cNvPr id="3" name="Text 1"/>
          <p:cNvSpPr/>
          <p:nvPr>
            <p:ph idx="101" type="body" hasCustomPrompt="1"/>
          </p:nvPr>
        </p:nvSpPr>
        <p:spPr>
          <a:xfrm>
            <a:off x="548640" y="365760"/>
            <a:ext cx="11091672" cy="274320"/>
          </a:xfrm>
          <a:prstGeom prst="rect">
            <a:avLst/>
          </a:prstGeom>
          <a:noFill/>
          <a:ln/>
        </p:spPr>
        <p:txBody>
          <a:bodyPr wrap="square" rtlCol="0"/>
          <a:lstStyle>
            <a:lvl1pPr indent="0" marL="0">
              <a:buNone/>
              <a:defRPr lang="en-US" sz="1400" b="1" spc="150" kern="0" dirty="0">
                <a:solidFill>
                  <a:schemeClr val="accent5"/>
                </a:solidFill>
              </a:defRPr>
            </a:lvl1pPr>
          </a:lstStyle>
          <a:p>
            <a:pPr indent="0" marL="0">
              <a:buNone/>
            </a:pPr>
            <a:endParaRPr lang="en-US" sz="1400" dirty="0"/>
          </a:p>
        </p:txBody>
      </p:sp>
      <p:sp>
        <p:nvSpPr>
          <p:cNvPr id="4" name="Text 1"/>
          <p:cNvSpPr/>
          <p:nvPr>
            <p:ph idx="102" type="title" hasCustomPrompt="1"/>
          </p:nvPr>
        </p:nvSpPr>
        <p:spPr>
          <a:xfrm>
            <a:off x="548640" y="676656"/>
            <a:ext cx="11091672" cy="658368"/>
          </a:xfrm>
          <a:prstGeom prst="rect">
            <a:avLst/>
          </a:prstGeom>
          <a:noFill/>
          <a:ln/>
        </p:spPr>
        <p:txBody>
          <a:bodyPr wrap="square" rtlCol="0"/>
          <a:lstStyle>
            <a:lvl1pPr algn="l" indent="0" marL="0">
              <a:buNone/>
              <a:defRPr lang="en-US" sz="3200" b="1" dirty="0">
                <a:solidFill>
                  <a:schemeClr val="accent5"/>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74320"/>
          </a:xfrm>
          <a:prstGeom prst="rect">
            <a:avLst/>
          </a:prstGeom>
          <a:noFill/>
          <a:ln/>
        </p:spPr>
        <p:txBody>
          <a:bodyPr wrap="square" rtlCol="0"/>
          <a:lstStyle>
            <a:lvl1pPr indent="0" marL="0">
              <a:buNone/>
              <a:defRPr lang="en-US" sz="1400" b="1" spc="15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804672"/>
            <a:ext cx="11091672" cy="77724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4" name="Text 0"/>
          <p:cNvSpPr/>
          <p:nvPr>
            <p:ph idx="102" type="body" hasCustomPrompt="1"/>
          </p:nvPr>
        </p:nvSpPr>
        <p:spPr>
          <a:xfrm>
            <a:off x="548640" y="1627632"/>
            <a:ext cx="11091672" cy="41148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4.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4.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4.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5.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6.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6.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7.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7.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2.xml"/><Relationship Id="rId11"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CHIẾN LƯỢC SẢN PHẨM 2026</a:t>
            </a:r>
            <a:endParaRPr lang="en-US" sz="1400" dirty="0"/>
          </a:p>
        </p:txBody>
      </p:sp>
      <p:sp>
        <p:nvSpPr>
          <p:cNvPr id="3" name="Text 0"/>
          <p:cNvSpPr/>
          <p:nvPr>
            <p:ph idx="101" type="title" hasCustomPrompt="1"/>
          </p:nvPr>
        </p:nvSpPr>
        <p:spPr>
          <a:xfrm>
            <a:off x="548640" y="804672"/>
            <a:ext cx="11091672" cy="777240"/>
          </a:xfrm>
          <a:prstGeom prst="rect">
            <a:avLst/>
          </a:prstGeom>
          <a:noFill/>
          <a:ln/>
        </p:spPr>
        <p:txBody>
          <a:bodyPr wrap="square" lIns="0" tIns="0" rIns="0" bIns="0" rtlCol="0" anchor="ctr"/>
          <a:lstStyle/>
          <a:p>
            <a:pPr algn="l" indent="0" marL="0">
              <a:buNone/>
            </a:pPr>
            <a:r>
              <a:rPr lang="en-US" sz="3800" b="1" dirty="0">
                <a:solidFill>
                  <a:schemeClr val="tx1"/>
                </a:solidFill>
              </a:rPr>
              <a:t>Chiến lược nâng cấp toàn diện cho BonBon Shop</a:t>
            </a:r>
            <a:endParaRPr lang="en-US" sz="3800" dirty="0"/>
          </a:p>
        </p:txBody>
      </p:sp>
      <p:sp>
        <p:nvSpPr>
          <p:cNvPr id="4" name="Text 0"/>
          <p:cNvSpPr/>
          <p:nvPr>
            <p:ph idx="102" type="body" hasCustomPrompt="1"/>
          </p:nvPr>
        </p:nvSpPr>
        <p:spPr>
          <a:xfrm>
            <a:off x="548640" y="1627632"/>
            <a:ext cx="11091672" cy="411480"/>
          </a:xfrm>
          <a:prstGeom prst="rect">
            <a:avLst/>
          </a:prstGeom>
          <a:noFill/>
          <a:ln/>
        </p:spPr>
        <p:txBody>
          <a:bodyPr wrap="square" lIns="0" tIns="0" rIns="0" bIns="0" rtlCol="0" anchor="ctr"/>
          <a:lstStyle/>
          <a:p>
            <a:pPr indent="0" marL="0">
              <a:buNone/>
            </a:pPr>
            <a:r>
              <a:rPr lang="en-US" sz="2000" dirty="0">
                <a:solidFill>
                  <a:schemeClr val="accent4"/>
                </a:solidFill>
              </a:rPr>
              <a:t>B2B FMCG Distribution Operating System</a:t>
            </a:r>
            <a:endParaRPr lang="en-US" sz="2000" dirty="0"/>
          </a:p>
        </p:txBody>
      </p:sp>
      <p:sp>
        <p:nvSpPr>
          <p:cNvPr id="5" name="Shape 1"/>
          <p:cNvSpPr/>
          <p:nvPr/>
        </p:nvSpPr>
        <p:spPr>
          <a:xfrm>
            <a:off x="2240280" y="3429000"/>
            <a:ext cx="1371600" cy="1371600"/>
          </a:xfrm>
          <a:prstGeom prst="ellipse">
            <a:avLst/>
          </a:prstGeom>
          <a:solidFill>
            <a:schemeClr val="bg2"/>
          </a:solidFill>
          <a:ln w="25400">
            <a:solidFill>
              <a:schemeClr val="accent1"/>
            </a:solidFill>
            <a:prstDash val="solid"/>
          </a:ln>
        </p:spPr>
      </p:sp>
      <p:sp>
        <p:nvSpPr>
          <p:cNvPr id="6" name="Text 2"/>
          <p:cNvSpPr txBox="1"/>
          <p:nvPr/>
        </p:nvSpPr>
        <p:spPr>
          <a:xfrm>
            <a:off x="2240280" y="3429000"/>
            <a:ext cx="1371600" cy="1371600"/>
          </a:xfrm>
          <a:prstGeom prst="rect">
            <a:avLst/>
          </a:prstGeom>
          <a:noFill/>
          <a:ln/>
        </p:spPr>
        <p:txBody>
          <a:bodyPr wrap="square" lIns="0" tIns="0" rIns="0" bIns="0" rtlCol="0" anchor="ctr"/>
          <a:lstStyle/>
          <a:p>
            <a:pPr algn="ctr" indent="0" marL="0">
              <a:buNone/>
            </a:pPr>
            <a:r>
              <a:rPr lang="en-US" sz="1600" b="1" dirty="0">
                <a:solidFill>
                  <a:schemeClr val="tx1"/>
                </a:solidFill>
              </a:rPr>
              <a:t>Brand</a:t>
            </a:r>
            <a:endParaRPr lang="en-US" sz="1600" dirty="0"/>
          </a:p>
        </p:txBody>
      </p:sp>
      <p:sp>
        <p:nvSpPr>
          <p:cNvPr id="7" name="Shape 3"/>
          <p:cNvSpPr/>
          <p:nvPr/>
        </p:nvSpPr>
        <p:spPr>
          <a:xfrm>
            <a:off x="5230368" y="3246120"/>
            <a:ext cx="1737360" cy="1737360"/>
          </a:xfrm>
          <a:prstGeom prst="ellipse">
            <a:avLst/>
          </a:prstGeom>
          <a:solidFill>
            <a:schemeClr val="accent1"/>
          </a:solidFill>
          <a:ln/>
        </p:spPr>
      </p:sp>
      <p:sp>
        <p:nvSpPr>
          <p:cNvPr id="8" name="Text 4"/>
          <p:cNvSpPr txBox="1"/>
          <p:nvPr/>
        </p:nvSpPr>
        <p:spPr>
          <a:xfrm>
            <a:off x="5230368" y="3246120"/>
            <a:ext cx="1737360" cy="1737360"/>
          </a:xfrm>
          <a:prstGeom prst="rect">
            <a:avLst/>
          </a:prstGeom>
          <a:noFill/>
          <a:ln/>
        </p:spPr>
        <p:txBody>
          <a:bodyPr wrap="square" lIns="0" tIns="0" rIns="0" bIns="0" rtlCol="0" anchor="ctr"/>
          <a:lstStyle/>
          <a:p>
            <a:pPr algn="ctr" indent="0" marL="0">
              <a:buNone/>
            </a:pPr>
            <a:r>
              <a:rPr lang="en-US" sz="1800" b="1" dirty="0">
                <a:solidFill>
                  <a:schemeClr val="bg1"/>
                </a:solidFill>
              </a:rPr>
              <a:t>Distributor</a:t>
            </a:r>
            <a:endParaRPr lang="en-US" sz="1800" dirty="0"/>
          </a:p>
        </p:txBody>
      </p:sp>
      <p:sp>
        <p:nvSpPr>
          <p:cNvPr id="9" name="Shape 5"/>
          <p:cNvSpPr/>
          <p:nvPr/>
        </p:nvSpPr>
        <p:spPr>
          <a:xfrm>
            <a:off x="8577072" y="3429000"/>
            <a:ext cx="1371600" cy="1371600"/>
          </a:xfrm>
          <a:prstGeom prst="ellipse">
            <a:avLst/>
          </a:prstGeom>
          <a:solidFill>
            <a:schemeClr val="bg2"/>
          </a:solidFill>
          <a:ln w="25400">
            <a:solidFill>
              <a:schemeClr val="accent1"/>
            </a:solidFill>
            <a:prstDash val="solid"/>
          </a:ln>
        </p:spPr>
      </p:sp>
      <p:sp>
        <p:nvSpPr>
          <p:cNvPr id="10" name="Text 6"/>
          <p:cNvSpPr txBox="1"/>
          <p:nvPr/>
        </p:nvSpPr>
        <p:spPr>
          <a:xfrm>
            <a:off x="8577072" y="3429000"/>
            <a:ext cx="1371600" cy="1371600"/>
          </a:xfrm>
          <a:prstGeom prst="rect">
            <a:avLst/>
          </a:prstGeom>
          <a:noFill/>
          <a:ln/>
        </p:spPr>
        <p:txBody>
          <a:bodyPr wrap="square" lIns="0" tIns="0" rIns="0" bIns="0" rtlCol="0" anchor="ctr"/>
          <a:lstStyle/>
          <a:p>
            <a:pPr algn="ctr" indent="0" marL="0">
              <a:buNone/>
            </a:pPr>
            <a:r>
              <a:rPr lang="en-US" sz="1600" b="1" dirty="0">
                <a:solidFill>
                  <a:schemeClr val="tx1"/>
                </a:solidFill>
              </a:rPr>
              <a:t>Merchant</a:t>
            </a:r>
            <a:endParaRPr lang="en-US" sz="1600" dirty="0"/>
          </a:p>
        </p:txBody>
      </p:sp>
      <p:sp>
        <p:nvSpPr>
          <p:cNvPr id="11" name="Shape 7"/>
          <p:cNvSpPr/>
          <p:nvPr/>
        </p:nvSpPr>
        <p:spPr>
          <a:xfrm>
            <a:off x="3749040" y="4114800"/>
            <a:ext cx="1344168" cy="0"/>
          </a:xfrm>
          <a:prstGeom prst="line">
            <a:avLst/>
          </a:prstGeom>
          <a:noFill/>
          <a:ln w="25400">
            <a:solidFill>
              <a:schemeClr val="accent1"/>
            </a:solidFill>
            <a:prstDash val="solid"/>
            <a:tailEnd type="triangle"/>
          </a:ln>
        </p:spPr>
      </p:sp>
      <p:sp>
        <p:nvSpPr>
          <p:cNvPr id="12" name="Shape 8"/>
          <p:cNvSpPr/>
          <p:nvPr/>
        </p:nvSpPr>
        <p:spPr>
          <a:xfrm>
            <a:off x="7104888" y="4114800"/>
            <a:ext cx="1335024" cy="0"/>
          </a:xfrm>
          <a:prstGeom prst="line">
            <a:avLst/>
          </a:prstGeom>
          <a:noFill/>
          <a:ln w="25400">
            <a:solidFill>
              <a:schemeClr val="accent1"/>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TỔNG QUAN</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tx1"/>
                </a:solidFill>
              </a:rPr>
              <a:t>Khung chiến lược 5 trụ cột</a:t>
            </a:r>
            <a:endParaRPr lang="en-US" sz="3200" dirty="0"/>
          </a:p>
        </p:txBody>
      </p:sp>
      <p:sp>
        <p:nvSpPr>
          <p:cNvPr id="4" name="Shape 9"/>
          <p:cNvSpPr/>
          <p:nvPr/>
        </p:nvSpPr>
        <p:spPr>
          <a:xfrm>
            <a:off x="548640" y="1600200"/>
            <a:ext cx="2075688" cy="3429000"/>
          </a:xfrm>
          <a:prstGeom prst="roundRect">
            <a:avLst>
              <a:gd name="adj" fmla="val 3524"/>
            </a:avLst>
          </a:prstGeom>
          <a:solidFill>
            <a:schemeClr val="bg2"/>
          </a:solidFill>
          <a:ln/>
        </p:spPr>
      </p:sp>
      <p:sp>
        <p:nvSpPr>
          <p:cNvPr id="5" name="Shape 10"/>
          <p:cNvSpPr/>
          <p:nvPr/>
        </p:nvSpPr>
        <p:spPr>
          <a:xfrm>
            <a:off x="731520" y="1828800"/>
            <a:ext cx="731520" cy="731520"/>
          </a:xfrm>
          <a:prstGeom prst="ellipse">
            <a:avLst/>
          </a:prstGeom>
          <a:solidFill>
            <a:schemeClr val="accent1"/>
          </a:solidFill>
          <a:ln/>
        </p:spPr>
      </p:sp>
      <p:pic>
        <p:nvPicPr>
          <p:cNvPr id="6" name="Icon 11" descr="ShoppingCart">    </p:cNvPr>
          <p:cNvPicPr>
            <a:picLocks noChangeAspect="1"/>
          </p:cNvPicPr>
          <p:nvPr/>
        </p:nvPicPr>
        <p:blipFill>
          <a:blip r:embed="rId1"/>
          <a:stretch>
            <a:fillRect/>
          </a:stretch>
        </p:blipFill>
        <p:spPr>
          <a:xfrm>
            <a:off x="914400" y="2011680"/>
            <a:ext cx="365760" cy="365760"/>
          </a:xfrm>
          <a:prstGeom prst="rect">
            <a:avLst/>
          </a:prstGeom>
        </p:spPr>
      </p:pic>
      <p:sp>
        <p:nvSpPr>
          <p:cNvPr id="7" name="Text 12"/>
          <p:cNvSpPr txBox="1"/>
          <p:nvPr/>
        </p:nvSpPr>
        <p:spPr>
          <a:xfrm>
            <a:off x="731520" y="2743200"/>
            <a:ext cx="1709928" cy="228600"/>
          </a:xfrm>
          <a:prstGeom prst="rect">
            <a:avLst/>
          </a:prstGeom>
          <a:noFill/>
          <a:ln/>
        </p:spPr>
        <p:txBody>
          <a:bodyPr wrap="square" lIns="0" tIns="0" rIns="0" bIns="0" rtlCol="0" anchor="t"/>
          <a:lstStyle/>
          <a:p>
            <a:pPr indent="0" marL="0">
              <a:buNone/>
            </a:pPr>
            <a:r>
              <a:rPr lang="en-US" sz="1200" b="1" dirty="0">
                <a:solidFill>
                  <a:schemeClr val="accent4"/>
                </a:solidFill>
              </a:rPr>
              <a:t>TRỤ CỘT 1</a:t>
            </a:r>
            <a:endParaRPr lang="en-US" sz="1200" dirty="0"/>
          </a:p>
        </p:txBody>
      </p:sp>
      <p:sp>
        <p:nvSpPr>
          <p:cNvPr id="8" name="Text 13"/>
          <p:cNvSpPr txBox="1"/>
          <p:nvPr/>
        </p:nvSpPr>
        <p:spPr>
          <a:xfrm>
            <a:off x="731520" y="2999232"/>
            <a:ext cx="1709928" cy="566928"/>
          </a:xfrm>
          <a:prstGeom prst="rect">
            <a:avLst/>
          </a:prstGeom>
          <a:noFill/>
          <a:ln/>
        </p:spPr>
        <p:txBody>
          <a:bodyPr wrap="square" lIns="0" tIns="0" rIns="0" bIns="0" rtlCol="0" anchor="t"/>
          <a:lstStyle/>
          <a:p>
            <a:pPr indent="0" marL="0">
              <a:buNone/>
            </a:pPr>
            <a:r>
              <a:rPr lang="en-US" sz="1800" b="1" dirty="0">
                <a:solidFill>
                  <a:schemeClr val="accent1"/>
                </a:solidFill>
              </a:rPr>
              <a:t>Buying</a:t>
            </a:r>
            <a:endParaRPr lang="en-US" sz="1800" dirty="0"/>
          </a:p>
        </p:txBody>
      </p:sp>
      <p:sp>
        <p:nvSpPr>
          <p:cNvPr id="9" name="Text 14"/>
          <p:cNvSpPr txBox="1"/>
          <p:nvPr/>
        </p:nvSpPr>
        <p:spPr>
          <a:xfrm>
            <a:off x="731520" y="3639312"/>
            <a:ext cx="1709928" cy="1280160"/>
          </a:xfrm>
          <a:prstGeom prst="rect">
            <a:avLst/>
          </a:prstGeom>
          <a:noFill/>
          <a:ln/>
        </p:spPr>
        <p:txBody>
          <a:bodyPr wrap="square" lIns="0" tIns="0" rIns="0" bIns="0" rtlCol="0" anchor="t"/>
          <a:lstStyle/>
          <a:p>
            <a:pPr indent="0" marL="0">
              <a:buNone/>
            </a:pPr>
            <a:r>
              <a:rPr lang="en-US" sz="1400" dirty="0">
                <a:solidFill>
                  <a:schemeClr val="tx1"/>
                </a:solidFill>
              </a:rPr>
              <a:t>Merchant self-ordering &amp; chủ động nguồn cung</a:t>
            </a:r>
            <a:endParaRPr lang="en-US" sz="1400" dirty="0"/>
          </a:p>
        </p:txBody>
      </p:sp>
      <p:sp>
        <p:nvSpPr>
          <p:cNvPr id="10" name="Shape 15"/>
          <p:cNvSpPr/>
          <p:nvPr/>
        </p:nvSpPr>
        <p:spPr>
          <a:xfrm>
            <a:off x="2802636" y="1600200"/>
            <a:ext cx="2075688" cy="3429000"/>
          </a:xfrm>
          <a:prstGeom prst="roundRect">
            <a:avLst>
              <a:gd name="adj" fmla="val 3524"/>
            </a:avLst>
          </a:prstGeom>
          <a:solidFill>
            <a:schemeClr val="bg2"/>
          </a:solidFill>
          <a:ln/>
        </p:spPr>
      </p:sp>
      <p:sp>
        <p:nvSpPr>
          <p:cNvPr id="11" name="Shape 16"/>
          <p:cNvSpPr/>
          <p:nvPr/>
        </p:nvSpPr>
        <p:spPr>
          <a:xfrm>
            <a:off x="2985516" y="1828800"/>
            <a:ext cx="731520" cy="731520"/>
          </a:xfrm>
          <a:prstGeom prst="ellipse">
            <a:avLst/>
          </a:prstGeom>
          <a:solidFill>
            <a:schemeClr val="accent2"/>
          </a:solidFill>
          <a:ln/>
        </p:spPr>
      </p:sp>
      <p:pic>
        <p:nvPicPr>
          <p:cNvPr id="12" name="Icon 17" descr="CashRegister">    </p:cNvPr>
          <p:cNvPicPr>
            <a:picLocks noChangeAspect="1"/>
          </p:cNvPicPr>
          <p:nvPr/>
        </p:nvPicPr>
        <p:blipFill>
          <a:blip r:embed="rId2"/>
          <a:stretch>
            <a:fillRect/>
          </a:stretch>
        </p:blipFill>
        <p:spPr>
          <a:xfrm>
            <a:off x="3168396" y="2011680"/>
            <a:ext cx="365760" cy="365760"/>
          </a:xfrm>
          <a:prstGeom prst="rect">
            <a:avLst/>
          </a:prstGeom>
        </p:spPr>
      </p:pic>
      <p:sp>
        <p:nvSpPr>
          <p:cNvPr id="13" name="Text 18"/>
          <p:cNvSpPr txBox="1"/>
          <p:nvPr/>
        </p:nvSpPr>
        <p:spPr>
          <a:xfrm>
            <a:off x="2985516" y="2743200"/>
            <a:ext cx="1709928" cy="228600"/>
          </a:xfrm>
          <a:prstGeom prst="rect">
            <a:avLst/>
          </a:prstGeom>
          <a:noFill/>
          <a:ln/>
        </p:spPr>
        <p:txBody>
          <a:bodyPr wrap="square" lIns="0" tIns="0" rIns="0" bIns="0" rtlCol="0" anchor="t"/>
          <a:lstStyle/>
          <a:p>
            <a:pPr indent="0" marL="0">
              <a:buNone/>
            </a:pPr>
            <a:r>
              <a:rPr lang="en-US" sz="1200" b="1" dirty="0">
                <a:solidFill>
                  <a:schemeClr val="accent4"/>
                </a:solidFill>
              </a:rPr>
              <a:t>TRỤ CỘT 2</a:t>
            </a:r>
            <a:endParaRPr lang="en-US" sz="1200" dirty="0"/>
          </a:p>
        </p:txBody>
      </p:sp>
      <p:sp>
        <p:nvSpPr>
          <p:cNvPr id="14" name="Text 19"/>
          <p:cNvSpPr txBox="1"/>
          <p:nvPr/>
        </p:nvSpPr>
        <p:spPr>
          <a:xfrm>
            <a:off x="2985516" y="2999232"/>
            <a:ext cx="1709928" cy="566928"/>
          </a:xfrm>
          <a:prstGeom prst="rect">
            <a:avLst/>
          </a:prstGeom>
          <a:noFill/>
          <a:ln/>
        </p:spPr>
        <p:txBody>
          <a:bodyPr wrap="square" lIns="0" tIns="0" rIns="0" bIns="0" rtlCol="0" anchor="t"/>
          <a:lstStyle/>
          <a:p>
            <a:pPr indent="0" marL="0">
              <a:buNone/>
            </a:pPr>
            <a:r>
              <a:rPr lang="en-US" sz="1800" b="1" dirty="0">
                <a:solidFill>
                  <a:schemeClr val="accent2"/>
                </a:solidFill>
              </a:rPr>
              <a:t>Selling</a:t>
            </a:r>
            <a:endParaRPr lang="en-US" sz="1800" dirty="0"/>
          </a:p>
        </p:txBody>
      </p:sp>
      <p:sp>
        <p:nvSpPr>
          <p:cNvPr id="15" name="Text 20"/>
          <p:cNvSpPr txBox="1"/>
          <p:nvPr/>
        </p:nvSpPr>
        <p:spPr>
          <a:xfrm>
            <a:off x="2985516" y="3639312"/>
            <a:ext cx="1709928" cy="1280160"/>
          </a:xfrm>
          <a:prstGeom prst="rect">
            <a:avLst/>
          </a:prstGeom>
          <a:noFill/>
          <a:ln/>
        </p:spPr>
        <p:txBody>
          <a:bodyPr wrap="square" lIns="0" tIns="0" rIns="0" bIns="0" rtlCol="0" anchor="t"/>
          <a:lstStyle/>
          <a:p>
            <a:pPr indent="0" marL="0">
              <a:buNone/>
            </a:pPr>
            <a:r>
              <a:rPr lang="en-US" sz="1400" dirty="0">
                <a:solidFill>
                  <a:schemeClr val="tx1"/>
                </a:solidFill>
              </a:rPr>
              <a:t>Retail POS &amp; Legal Compliance</a:t>
            </a:r>
            <a:endParaRPr lang="en-US" sz="1400" dirty="0"/>
          </a:p>
        </p:txBody>
      </p:sp>
      <p:sp>
        <p:nvSpPr>
          <p:cNvPr id="16" name="Shape 21"/>
          <p:cNvSpPr/>
          <p:nvPr/>
        </p:nvSpPr>
        <p:spPr>
          <a:xfrm>
            <a:off x="5056632" y="1600200"/>
            <a:ext cx="2075688" cy="3429000"/>
          </a:xfrm>
          <a:prstGeom prst="roundRect">
            <a:avLst>
              <a:gd name="adj" fmla="val 3524"/>
            </a:avLst>
          </a:prstGeom>
          <a:solidFill>
            <a:schemeClr val="bg2"/>
          </a:solidFill>
          <a:ln/>
        </p:spPr>
      </p:sp>
      <p:sp>
        <p:nvSpPr>
          <p:cNvPr id="17" name="Shape 22"/>
          <p:cNvSpPr/>
          <p:nvPr/>
        </p:nvSpPr>
        <p:spPr>
          <a:xfrm>
            <a:off x="5239512" y="1828800"/>
            <a:ext cx="731520" cy="731520"/>
          </a:xfrm>
          <a:prstGeom prst="ellipse">
            <a:avLst/>
          </a:prstGeom>
          <a:solidFill>
            <a:schemeClr val="accent3"/>
          </a:solidFill>
          <a:ln/>
        </p:spPr>
      </p:sp>
      <p:pic>
        <p:nvPicPr>
          <p:cNvPr id="18" name="Icon 23" descr="Warehouse">    </p:cNvPr>
          <p:cNvPicPr>
            <a:picLocks noChangeAspect="1"/>
          </p:cNvPicPr>
          <p:nvPr/>
        </p:nvPicPr>
        <p:blipFill>
          <a:blip r:embed="rId3"/>
          <a:stretch>
            <a:fillRect/>
          </a:stretch>
        </p:blipFill>
        <p:spPr>
          <a:xfrm>
            <a:off x="5422392" y="2011680"/>
            <a:ext cx="365760" cy="365760"/>
          </a:xfrm>
          <a:prstGeom prst="rect">
            <a:avLst/>
          </a:prstGeom>
        </p:spPr>
      </p:pic>
      <p:sp>
        <p:nvSpPr>
          <p:cNvPr id="19" name="Text 24"/>
          <p:cNvSpPr txBox="1"/>
          <p:nvPr/>
        </p:nvSpPr>
        <p:spPr>
          <a:xfrm>
            <a:off x="5239512" y="2743200"/>
            <a:ext cx="1709928" cy="228600"/>
          </a:xfrm>
          <a:prstGeom prst="rect">
            <a:avLst/>
          </a:prstGeom>
          <a:noFill/>
          <a:ln/>
        </p:spPr>
        <p:txBody>
          <a:bodyPr wrap="square" lIns="0" tIns="0" rIns="0" bIns="0" rtlCol="0" anchor="t"/>
          <a:lstStyle/>
          <a:p>
            <a:pPr indent="0" marL="0">
              <a:buNone/>
            </a:pPr>
            <a:r>
              <a:rPr lang="en-US" sz="1200" b="1" dirty="0">
                <a:solidFill>
                  <a:schemeClr val="accent4"/>
                </a:solidFill>
              </a:rPr>
              <a:t>TRỤ CỘT 3</a:t>
            </a:r>
            <a:endParaRPr lang="en-US" sz="1200" dirty="0"/>
          </a:p>
        </p:txBody>
      </p:sp>
      <p:sp>
        <p:nvSpPr>
          <p:cNvPr id="20" name="Text 25"/>
          <p:cNvSpPr txBox="1"/>
          <p:nvPr/>
        </p:nvSpPr>
        <p:spPr>
          <a:xfrm>
            <a:off x="5239512" y="2999232"/>
            <a:ext cx="1709928" cy="566928"/>
          </a:xfrm>
          <a:prstGeom prst="rect">
            <a:avLst/>
          </a:prstGeom>
          <a:noFill/>
          <a:ln/>
        </p:spPr>
        <p:txBody>
          <a:bodyPr wrap="square" lIns="0" tIns="0" rIns="0" bIns="0" rtlCol="0" anchor="t"/>
          <a:lstStyle/>
          <a:p>
            <a:pPr indent="0" marL="0">
              <a:buNone/>
            </a:pPr>
            <a:r>
              <a:rPr lang="en-US" sz="1800" b="1" dirty="0">
                <a:solidFill>
                  <a:schemeClr val="accent3"/>
                </a:solidFill>
              </a:rPr>
              <a:t>Wholesale</a:t>
            </a:r>
            <a:endParaRPr lang="en-US" sz="1800" dirty="0"/>
          </a:p>
        </p:txBody>
      </p:sp>
      <p:sp>
        <p:nvSpPr>
          <p:cNvPr id="21" name="Text 26"/>
          <p:cNvSpPr txBox="1"/>
          <p:nvPr/>
        </p:nvSpPr>
        <p:spPr>
          <a:xfrm>
            <a:off x="5239512" y="3639312"/>
            <a:ext cx="1709928" cy="1280160"/>
          </a:xfrm>
          <a:prstGeom prst="rect">
            <a:avLst/>
          </a:prstGeom>
          <a:noFill/>
          <a:ln/>
        </p:spPr>
        <p:txBody>
          <a:bodyPr wrap="square" lIns="0" tIns="0" rIns="0" bIns="0" rtlCol="0" anchor="t"/>
          <a:lstStyle/>
          <a:p>
            <a:pPr indent="0" marL="0">
              <a:buNone/>
            </a:pPr>
            <a:r>
              <a:rPr lang="en-US" sz="1400" dirty="0">
                <a:solidFill>
                  <a:schemeClr val="tx1"/>
                </a:solidFill>
              </a:rPr>
              <a:t>Khép kín vòng lặp Brand – Distributor</a:t>
            </a:r>
            <a:endParaRPr lang="en-US" sz="1400" dirty="0"/>
          </a:p>
        </p:txBody>
      </p:sp>
      <p:sp>
        <p:nvSpPr>
          <p:cNvPr id="22" name="Shape 27"/>
          <p:cNvSpPr/>
          <p:nvPr/>
        </p:nvSpPr>
        <p:spPr>
          <a:xfrm>
            <a:off x="7310628" y="1600200"/>
            <a:ext cx="2075688" cy="3429000"/>
          </a:xfrm>
          <a:prstGeom prst="roundRect">
            <a:avLst>
              <a:gd name="adj" fmla="val 3524"/>
            </a:avLst>
          </a:prstGeom>
          <a:solidFill>
            <a:schemeClr val="bg2"/>
          </a:solidFill>
          <a:ln/>
        </p:spPr>
      </p:sp>
      <p:sp>
        <p:nvSpPr>
          <p:cNvPr id="23" name="Shape 28"/>
          <p:cNvSpPr/>
          <p:nvPr/>
        </p:nvSpPr>
        <p:spPr>
          <a:xfrm>
            <a:off x="7493508" y="1828800"/>
            <a:ext cx="731520" cy="731520"/>
          </a:xfrm>
          <a:prstGeom prst="ellipse">
            <a:avLst/>
          </a:prstGeom>
          <a:solidFill>
            <a:schemeClr val="accent6"/>
          </a:solidFill>
          <a:ln/>
        </p:spPr>
      </p:sp>
      <p:pic>
        <p:nvPicPr>
          <p:cNvPr id="24" name="Icon 29" descr="Heart">    </p:cNvPr>
          <p:cNvPicPr>
            <a:picLocks noChangeAspect="1"/>
          </p:cNvPicPr>
          <p:nvPr/>
        </p:nvPicPr>
        <p:blipFill>
          <a:blip r:embed="rId4"/>
          <a:stretch>
            <a:fillRect/>
          </a:stretch>
        </p:blipFill>
        <p:spPr>
          <a:xfrm>
            <a:off x="7676388" y="2011680"/>
            <a:ext cx="365760" cy="365760"/>
          </a:xfrm>
          <a:prstGeom prst="rect">
            <a:avLst/>
          </a:prstGeom>
        </p:spPr>
      </p:pic>
      <p:sp>
        <p:nvSpPr>
          <p:cNvPr id="25" name="Text 30"/>
          <p:cNvSpPr txBox="1"/>
          <p:nvPr/>
        </p:nvSpPr>
        <p:spPr>
          <a:xfrm>
            <a:off x="7493508" y="2743200"/>
            <a:ext cx="1709928" cy="228600"/>
          </a:xfrm>
          <a:prstGeom prst="rect">
            <a:avLst/>
          </a:prstGeom>
          <a:noFill/>
          <a:ln/>
        </p:spPr>
        <p:txBody>
          <a:bodyPr wrap="square" lIns="0" tIns="0" rIns="0" bIns="0" rtlCol="0" anchor="t"/>
          <a:lstStyle/>
          <a:p>
            <a:pPr indent="0" marL="0">
              <a:buNone/>
            </a:pPr>
            <a:r>
              <a:rPr lang="en-US" sz="1200" b="1" dirty="0">
                <a:solidFill>
                  <a:schemeClr val="accent4"/>
                </a:solidFill>
              </a:rPr>
              <a:t>TRỤ CỘT 4</a:t>
            </a:r>
            <a:endParaRPr lang="en-US" sz="1200" dirty="0"/>
          </a:p>
        </p:txBody>
      </p:sp>
      <p:sp>
        <p:nvSpPr>
          <p:cNvPr id="26" name="Text 31"/>
          <p:cNvSpPr txBox="1"/>
          <p:nvPr/>
        </p:nvSpPr>
        <p:spPr>
          <a:xfrm>
            <a:off x="7493508" y="2999232"/>
            <a:ext cx="1709928" cy="566928"/>
          </a:xfrm>
          <a:prstGeom prst="rect">
            <a:avLst/>
          </a:prstGeom>
          <a:noFill/>
          <a:ln/>
        </p:spPr>
        <p:txBody>
          <a:bodyPr wrap="square" lIns="0" tIns="0" rIns="0" bIns="0" rtlCol="0" anchor="t"/>
          <a:lstStyle/>
          <a:p>
            <a:pPr indent="0" marL="0">
              <a:buNone/>
            </a:pPr>
            <a:r>
              <a:rPr lang="en-US" sz="1800" b="1" dirty="0">
                <a:solidFill>
                  <a:schemeClr val="accent6"/>
                </a:solidFill>
              </a:rPr>
              <a:t>Loyalty</a:t>
            </a:r>
            <a:endParaRPr lang="en-US" sz="1800" dirty="0"/>
          </a:p>
        </p:txBody>
      </p:sp>
      <p:sp>
        <p:nvSpPr>
          <p:cNvPr id="27" name="Text 32"/>
          <p:cNvSpPr txBox="1"/>
          <p:nvPr/>
        </p:nvSpPr>
        <p:spPr>
          <a:xfrm>
            <a:off x="7493508" y="3639312"/>
            <a:ext cx="1709928" cy="1280160"/>
          </a:xfrm>
          <a:prstGeom prst="rect">
            <a:avLst/>
          </a:prstGeom>
          <a:noFill/>
          <a:ln/>
        </p:spPr>
        <p:txBody>
          <a:bodyPr wrap="square" lIns="0" tIns="0" rIns="0" bIns="0" rtlCol="0" anchor="t"/>
          <a:lstStyle/>
          <a:p>
            <a:pPr indent="0" marL="0">
              <a:buNone/>
            </a:pPr>
            <a:r>
              <a:rPr lang="en-US" sz="1400" dirty="0">
                <a:solidFill>
                  <a:schemeClr val="tx1"/>
                </a:solidFill>
              </a:rPr>
              <a:t>Merchant Loyalty app &amp; Gamification</a:t>
            </a:r>
            <a:endParaRPr lang="en-US" sz="1400" dirty="0"/>
          </a:p>
        </p:txBody>
      </p:sp>
      <p:sp>
        <p:nvSpPr>
          <p:cNvPr id="28" name="Shape 33"/>
          <p:cNvSpPr/>
          <p:nvPr/>
        </p:nvSpPr>
        <p:spPr>
          <a:xfrm>
            <a:off x="9564624" y="1600200"/>
            <a:ext cx="2075688" cy="3429000"/>
          </a:xfrm>
          <a:prstGeom prst="roundRect">
            <a:avLst>
              <a:gd name="adj" fmla="val 3524"/>
            </a:avLst>
          </a:prstGeom>
          <a:solidFill>
            <a:schemeClr val="bg2"/>
          </a:solidFill>
          <a:ln/>
        </p:spPr>
      </p:sp>
      <p:sp>
        <p:nvSpPr>
          <p:cNvPr id="29" name="Shape 34"/>
          <p:cNvSpPr/>
          <p:nvPr/>
        </p:nvSpPr>
        <p:spPr>
          <a:xfrm>
            <a:off x="9747504" y="1828800"/>
            <a:ext cx="731520" cy="731520"/>
          </a:xfrm>
          <a:prstGeom prst="ellipse">
            <a:avLst/>
          </a:prstGeom>
          <a:solidFill>
            <a:schemeClr val="accent5"/>
          </a:solidFill>
          <a:ln/>
        </p:spPr>
      </p:sp>
      <p:pic>
        <p:nvPicPr>
          <p:cNvPr id="30" name="Icon 35" descr="UserTie">    </p:cNvPr>
          <p:cNvPicPr>
            <a:picLocks noChangeAspect="1"/>
          </p:cNvPicPr>
          <p:nvPr/>
        </p:nvPicPr>
        <p:blipFill>
          <a:blip r:embed="rId5"/>
          <a:stretch>
            <a:fillRect/>
          </a:stretch>
        </p:blipFill>
        <p:spPr>
          <a:xfrm>
            <a:off x="9930384" y="2011680"/>
            <a:ext cx="365760" cy="365760"/>
          </a:xfrm>
          <a:prstGeom prst="rect">
            <a:avLst/>
          </a:prstGeom>
        </p:spPr>
      </p:pic>
      <p:sp>
        <p:nvSpPr>
          <p:cNvPr id="31" name="Text 36"/>
          <p:cNvSpPr txBox="1"/>
          <p:nvPr/>
        </p:nvSpPr>
        <p:spPr>
          <a:xfrm>
            <a:off x="9747504" y="2743200"/>
            <a:ext cx="1709928" cy="228600"/>
          </a:xfrm>
          <a:prstGeom prst="rect">
            <a:avLst/>
          </a:prstGeom>
          <a:noFill/>
          <a:ln/>
        </p:spPr>
        <p:txBody>
          <a:bodyPr wrap="square" lIns="0" tIns="0" rIns="0" bIns="0" rtlCol="0" anchor="t"/>
          <a:lstStyle/>
          <a:p>
            <a:pPr indent="0" marL="0">
              <a:buNone/>
            </a:pPr>
            <a:r>
              <a:rPr lang="en-US" sz="1200" b="1" dirty="0">
                <a:solidFill>
                  <a:schemeClr val="accent4"/>
                </a:solidFill>
              </a:rPr>
              <a:t>TRỤ CỘT 5</a:t>
            </a:r>
            <a:endParaRPr lang="en-US" sz="1200" dirty="0"/>
          </a:p>
        </p:txBody>
      </p:sp>
      <p:sp>
        <p:nvSpPr>
          <p:cNvPr id="32" name="Text 37"/>
          <p:cNvSpPr txBox="1"/>
          <p:nvPr/>
        </p:nvSpPr>
        <p:spPr>
          <a:xfrm>
            <a:off x="9747504" y="2999232"/>
            <a:ext cx="1709928" cy="566928"/>
          </a:xfrm>
          <a:prstGeom prst="rect">
            <a:avLst/>
          </a:prstGeom>
          <a:noFill/>
          <a:ln/>
        </p:spPr>
        <p:txBody>
          <a:bodyPr wrap="square" lIns="0" tIns="0" rIns="0" bIns="0" rtlCol="0" anchor="t"/>
          <a:lstStyle/>
          <a:p>
            <a:pPr indent="0" marL="0">
              <a:buNone/>
            </a:pPr>
            <a:r>
              <a:rPr lang="en-US" sz="1800" b="1" dirty="0">
                <a:solidFill>
                  <a:schemeClr val="accent5"/>
                </a:solidFill>
              </a:rPr>
              <a:t>Reduce Sales Tasks</a:t>
            </a:r>
            <a:endParaRPr lang="en-US" sz="1800" dirty="0"/>
          </a:p>
        </p:txBody>
      </p:sp>
      <p:sp>
        <p:nvSpPr>
          <p:cNvPr id="33" name="Text 38"/>
          <p:cNvSpPr txBox="1"/>
          <p:nvPr/>
        </p:nvSpPr>
        <p:spPr>
          <a:xfrm>
            <a:off x="9747504" y="3639312"/>
            <a:ext cx="1709928" cy="1280160"/>
          </a:xfrm>
          <a:prstGeom prst="rect">
            <a:avLst/>
          </a:prstGeom>
          <a:noFill/>
          <a:ln/>
        </p:spPr>
        <p:txBody>
          <a:bodyPr wrap="square" lIns="0" tIns="0" rIns="0" bIns="0" rtlCol="0" anchor="t"/>
          <a:lstStyle/>
          <a:p>
            <a:pPr indent="0" marL="0">
              <a:buNone/>
            </a:pPr>
            <a:r>
              <a:rPr lang="en-US" sz="1400" dirty="0">
                <a:solidFill>
                  <a:schemeClr val="tx1"/>
                </a:solidFill>
              </a:rPr>
              <a:t>Chuyển sang Merchant self-service</a:t>
            </a:r>
            <a:endParaRPr lang="en-US" sz="1400" dirty="0"/>
          </a:p>
        </p:txBody>
      </p:sp>
      <p:sp>
        <p:nvSpPr>
          <p:cNvPr id="34" name="Shape 39"/>
          <p:cNvSpPr/>
          <p:nvPr/>
        </p:nvSpPr>
        <p:spPr>
          <a:xfrm>
            <a:off x="548640" y="5349240"/>
            <a:ext cx="11091672" cy="777240"/>
          </a:xfrm>
          <a:prstGeom prst="roundRect">
            <a:avLst>
              <a:gd name="adj" fmla="val 9412"/>
            </a:avLst>
          </a:prstGeom>
          <a:solidFill>
            <a:schemeClr val="bg2"/>
          </a:solidFill>
          <a:ln/>
        </p:spPr>
      </p:sp>
      <p:sp>
        <p:nvSpPr>
          <p:cNvPr id="35" name="Text 40"/>
          <p:cNvSpPr txBox="1"/>
          <p:nvPr/>
        </p:nvSpPr>
        <p:spPr>
          <a:xfrm>
            <a:off x="822960" y="5349240"/>
            <a:ext cx="2194560" cy="777240"/>
          </a:xfrm>
          <a:prstGeom prst="rect">
            <a:avLst/>
          </a:prstGeom>
          <a:noFill/>
          <a:ln/>
        </p:spPr>
        <p:txBody>
          <a:bodyPr wrap="square" lIns="0" tIns="0" rIns="0" bIns="0" rtlCol="0" anchor="ctr"/>
          <a:lstStyle/>
          <a:p>
            <a:pPr indent="0" marL="0">
              <a:buNone/>
            </a:pPr>
            <a:r>
              <a:rPr lang="en-US" sz="1600" b="1" dirty="0">
                <a:solidFill>
                  <a:schemeClr val="accent1"/>
                </a:solidFill>
              </a:rPr>
              <a:t>Vòng lặp khép kín</a:t>
            </a:r>
            <a:endParaRPr lang="en-US" sz="1600" dirty="0"/>
          </a:p>
        </p:txBody>
      </p:sp>
      <p:sp>
        <p:nvSpPr>
          <p:cNvPr id="36" name="Text 41"/>
          <p:cNvSpPr txBox="1"/>
          <p:nvPr/>
        </p:nvSpPr>
        <p:spPr>
          <a:xfrm>
            <a:off x="3017520" y="5349240"/>
            <a:ext cx="8412480" cy="777240"/>
          </a:xfrm>
          <a:prstGeom prst="rect">
            <a:avLst/>
          </a:prstGeom>
          <a:noFill/>
          <a:ln/>
        </p:spPr>
        <p:txBody>
          <a:bodyPr wrap="square" lIns="0" tIns="0" rIns="0" bIns="0" rtlCol="0" anchor="ctr"/>
          <a:lstStyle/>
          <a:p>
            <a:pPr indent="0" marL="0">
              <a:buNone/>
            </a:pPr>
            <a:r>
              <a:rPr lang="en-US" sz="1400" b="1" dirty="0">
                <a:solidFill>
                  <a:schemeClr val="tx1"/>
                </a:solidFill>
              </a:rPr>
              <a:t>Buying  →  Selling  →  Wholesale  →  Loyalty  →  Reduce Sales Tasks  →  quay lại Buying</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TRỤ CỘT 1  ·  BUYING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1"/>
                </a:solidFill>
              </a:rPr>
              <a:t>Open Marketplace &amp; Frictionless Onboarding</a:t>
            </a:r>
            <a:endParaRPr lang="en-US" sz="3200" dirty="0"/>
          </a:p>
        </p:txBody>
      </p:sp>
      <p:sp>
        <p:nvSpPr>
          <p:cNvPr id="4" name="Shape 42"/>
          <p:cNvSpPr/>
          <p:nvPr/>
        </p:nvSpPr>
        <p:spPr>
          <a:xfrm>
            <a:off x="548640" y="1554480"/>
            <a:ext cx="5408676" cy="4709160"/>
          </a:xfrm>
          <a:prstGeom prst="roundRect">
            <a:avLst>
              <a:gd name="adj" fmla="val 1553"/>
            </a:avLst>
          </a:prstGeom>
          <a:solidFill>
            <a:schemeClr val="bg2"/>
          </a:solidFill>
          <a:ln/>
        </p:spPr>
      </p:sp>
      <p:sp>
        <p:nvSpPr>
          <p:cNvPr id="5" name="Pill 43"/>
          <p:cNvSpPr/>
          <p:nvPr/>
        </p:nvSpPr>
        <p:spPr>
          <a:xfrm>
            <a:off x="777240"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6" name="Text 44"/>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Open Marketplace &amp; Brand-gated</a:t>
            </a:r>
            <a:endParaRPr lang="en-US" sz="1800" dirty="0"/>
          </a:p>
        </p:txBody>
      </p:sp>
      <p:sp>
        <p:nvSpPr>
          <p:cNvPr id="7" name="Shape 45"/>
          <p:cNvSpPr/>
          <p:nvPr/>
        </p:nvSpPr>
        <p:spPr>
          <a:xfrm>
            <a:off x="777240" y="2331720"/>
            <a:ext cx="4951476" cy="1280160"/>
          </a:xfrm>
          <a:prstGeom prst="roundRect">
            <a:avLst>
              <a:gd name="adj" fmla="val 5714"/>
            </a:avLst>
          </a:prstGeom>
          <a:solidFill>
            <a:schemeClr val="bg1"/>
          </a:solidFill>
          <a:ln/>
        </p:spPr>
      </p:sp>
      <p:sp>
        <p:nvSpPr>
          <p:cNvPr id="8" name="Chip 46"/>
          <p:cNvSpPr/>
          <p:nvPr/>
        </p:nvSpPr>
        <p:spPr>
          <a:xfrm>
            <a:off x="960120" y="2350008"/>
            <a:ext cx="1417320" cy="329184"/>
          </a:xfrm>
          <a:prstGeom prst="roundRect">
            <a:avLst>
              <a:gd name="adj" fmla="val 16667"/>
            </a:avLst>
          </a:prstGeom>
          <a:solidFill>
            <a:schemeClr val="bg2"/>
          </a:solidFill>
          <a:ln/>
        </p:spPr>
        <p:txBody>
          <a:bodyPr wrap="square" lIns="0" tIns="0" rIns="0" bIns="0" rtlCol="0" anchor="ctr"/>
          <a:lstStyle/>
          <a:p>
            <a:pPr algn="ctr" indent="0" marL="0">
              <a:buNone/>
            </a:pPr>
            <a:r>
              <a:rPr lang="en-US" sz="1200" dirty="0">
                <a:solidFill>
                  <a:schemeClr val="tx1"/>
                </a:solidFill>
              </a:rPr>
              <a:t>Distributor (local)</a:t>
            </a:r>
            <a:endParaRPr lang="en-US" sz="1200" dirty="0"/>
          </a:p>
        </p:txBody>
      </p:sp>
      <p:sp>
        <p:nvSpPr>
          <p:cNvPr id="9" name="Chip 47"/>
          <p:cNvSpPr/>
          <p:nvPr/>
        </p:nvSpPr>
        <p:spPr>
          <a:xfrm>
            <a:off x="960120" y="2807208"/>
            <a:ext cx="1417320" cy="329184"/>
          </a:xfrm>
          <a:prstGeom prst="roundRect">
            <a:avLst>
              <a:gd name="adj" fmla="val 16667"/>
            </a:avLst>
          </a:prstGeom>
          <a:solidFill>
            <a:schemeClr val="bg2"/>
          </a:solidFill>
          <a:ln/>
        </p:spPr>
        <p:txBody>
          <a:bodyPr wrap="square" lIns="0" tIns="0" rIns="0" bIns="0" rtlCol="0" anchor="ctr"/>
          <a:lstStyle/>
          <a:p>
            <a:pPr algn="ctr" indent="0" marL="0">
              <a:buNone/>
            </a:pPr>
            <a:r>
              <a:rPr lang="en-US" sz="1200" dirty="0">
                <a:solidFill>
                  <a:schemeClr val="tx1"/>
                </a:solidFill>
              </a:rPr>
              <a:t>Distributor (local)</a:t>
            </a:r>
            <a:endParaRPr lang="en-US" sz="1200" dirty="0"/>
          </a:p>
        </p:txBody>
      </p:sp>
      <p:sp>
        <p:nvSpPr>
          <p:cNvPr id="10" name="Chip 48"/>
          <p:cNvSpPr/>
          <p:nvPr/>
        </p:nvSpPr>
        <p:spPr>
          <a:xfrm>
            <a:off x="960120" y="3264408"/>
            <a:ext cx="1417320" cy="329184"/>
          </a:xfrm>
          <a:prstGeom prst="roundRect">
            <a:avLst>
              <a:gd name="adj" fmla="val 16667"/>
            </a:avLst>
          </a:prstGeom>
          <a:solidFill>
            <a:schemeClr val="bg2"/>
          </a:solidFill>
          <a:ln/>
        </p:spPr>
        <p:txBody>
          <a:bodyPr wrap="square" lIns="0" tIns="0" rIns="0" bIns="0" rtlCol="0" anchor="ctr"/>
          <a:lstStyle/>
          <a:p>
            <a:pPr algn="ctr" indent="0" marL="0">
              <a:buNone/>
            </a:pPr>
            <a:r>
              <a:rPr lang="en-US" sz="1200" dirty="0">
                <a:solidFill>
                  <a:schemeClr val="tx1"/>
                </a:solidFill>
              </a:rPr>
              <a:t>Distributor (local)</a:t>
            </a:r>
            <a:endParaRPr lang="en-US" sz="1200" dirty="0"/>
          </a:p>
        </p:txBody>
      </p:sp>
      <p:sp>
        <p:nvSpPr>
          <p:cNvPr id="11" name="Text 49"/>
          <p:cNvSpPr txBox="1"/>
          <p:nvPr/>
        </p:nvSpPr>
        <p:spPr>
          <a:xfrm>
            <a:off x="2468880" y="2679192"/>
            <a:ext cx="594360" cy="201168"/>
          </a:xfrm>
          <a:prstGeom prst="rect">
            <a:avLst/>
          </a:prstGeom>
          <a:noFill/>
          <a:ln/>
        </p:spPr>
        <p:txBody>
          <a:bodyPr wrap="square" lIns="0" tIns="0" rIns="0" bIns="0" rtlCol="0" anchor="t"/>
          <a:lstStyle/>
          <a:p>
            <a:pPr algn="ctr" indent="0" marL="0">
              <a:buNone/>
            </a:pPr>
            <a:r>
              <a:rPr lang="en-US" sz="1200" b="1" dirty="0">
                <a:solidFill>
                  <a:schemeClr val="accent1"/>
                </a:solidFill>
              </a:rPr>
              <a:t>GPS</a:t>
            </a:r>
            <a:endParaRPr lang="en-US" sz="1200" dirty="0"/>
          </a:p>
        </p:txBody>
      </p:sp>
      <p:sp>
        <p:nvSpPr>
          <p:cNvPr id="12" name="Shape 50"/>
          <p:cNvSpPr/>
          <p:nvPr/>
        </p:nvSpPr>
        <p:spPr>
          <a:xfrm>
            <a:off x="2468880" y="2971800"/>
            <a:ext cx="594360" cy="0"/>
          </a:xfrm>
          <a:prstGeom prst="line">
            <a:avLst/>
          </a:prstGeom>
          <a:noFill/>
          <a:ln w="25400">
            <a:solidFill>
              <a:schemeClr val="accent1"/>
            </a:solidFill>
            <a:prstDash val="solid"/>
            <a:tailEnd type="triangle"/>
          </a:ln>
        </p:spPr>
      </p:sp>
      <p:sp>
        <p:nvSpPr>
          <p:cNvPr id="13" name="Shape 51"/>
          <p:cNvSpPr/>
          <p:nvPr/>
        </p:nvSpPr>
        <p:spPr>
          <a:xfrm>
            <a:off x="3108960" y="2560320"/>
            <a:ext cx="822960" cy="822960"/>
          </a:xfrm>
          <a:prstGeom prst="ellipse">
            <a:avLst/>
          </a:prstGeom>
          <a:solidFill>
            <a:schemeClr val="accent1"/>
          </a:solidFill>
          <a:ln/>
        </p:spPr>
      </p:sp>
      <p:sp>
        <p:nvSpPr>
          <p:cNvPr id="14" name="Text 52"/>
          <p:cNvSpPr txBox="1"/>
          <p:nvPr/>
        </p:nvSpPr>
        <p:spPr>
          <a:xfrm>
            <a:off x="3108960" y="2560320"/>
            <a:ext cx="822960" cy="822960"/>
          </a:xfrm>
          <a:prstGeom prst="rect">
            <a:avLst/>
          </a:prstGeom>
          <a:noFill/>
          <a:ln/>
        </p:spPr>
        <p:txBody>
          <a:bodyPr wrap="square" lIns="0" tIns="0" rIns="0" bIns="0" rtlCol="0" anchor="ctr"/>
          <a:lstStyle/>
          <a:p>
            <a:pPr algn="ctr" indent="0" marL="0">
              <a:buNone/>
            </a:pPr>
            <a:r>
              <a:rPr lang="en-US" sz="1200" b="1" dirty="0">
                <a:solidFill>
                  <a:schemeClr val="bg1"/>
                </a:solidFill>
              </a:rPr>
              <a:t>Merchant</a:t>
            </a:r>
            <a:endParaRPr lang="en-US" sz="1200" dirty="0"/>
          </a:p>
        </p:txBody>
      </p:sp>
      <p:sp>
        <p:nvSpPr>
          <p:cNvPr id="15" name="Shape 53"/>
          <p:cNvSpPr/>
          <p:nvPr/>
        </p:nvSpPr>
        <p:spPr>
          <a:xfrm>
            <a:off x="3931920" y="2971800"/>
            <a:ext cx="320040" cy="0"/>
          </a:xfrm>
          <a:prstGeom prst="line">
            <a:avLst/>
          </a:prstGeom>
          <a:noFill/>
          <a:ln w="19050">
            <a:solidFill>
              <a:schemeClr val="accent4"/>
            </a:solidFill>
            <a:prstDash val="dash"/>
          </a:ln>
        </p:spPr>
      </p:sp>
      <p:sp>
        <p:nvSpPr>
          <p:cNvPr id="16" name="Shape 54"/>
          <p:cNvSpPr/>
          <p:nvPr/>
        </p:nvSpPr>
        <p:spPr>
          <a:xfrm>
            <a:off x="4297680" y="2423160"/>
            <a:ext cx="1339596" cy="1097280"/>
          </a:xfrm>
          <a:prstGeom prst="roundRect">
            <a:avLst>
              <a:gd name="adj" fmla="val 5000"/>
            </a:avLst>
          </a:prstGeom>
          <a:solidFill>
            <a:schemeClr val="bg2"/>
          </a:solidFill>
          <a:ln/>
        </p:spPr>
      </p:sp>
      <p:pic>
        <p:nvPicPr>
          <p:cNvPr id="17" name="Icon 55" descr="Lock">    </p:cNvPr>
          <p:cNvPicPr>
            <a:picLocks noChangeAspect="1"/>
          </p:cNvPicPr>
          <p:nvPr/>
        </p:nvPicPr>
        <p:blipFill>
          <a:blip r:embed="rId1"/>
          <a:stretch>
            <a:fillRect/>
          </a:stretch>
        </p:blipFill>
        <p:spPr>
          <a:xfrm>
            <a:off x="4784598" y="2496312"/>
            <a:ext cx="365760" cy="365760"/>
          </a:xfrm>
          <a:prstGeom prst="rect">
            <a:avLst/>
          </a:prstGeom>
        </p:spPr>
      </p:pic>
      <p:sp>
        <p:nvSpPr>
          <p:cNvPr id="18" name="Text 56"/>
          <p:cNvSpPr txBox="1"/>
          <p:nvPr/>
        </p:nvSpPr>
        <p:spPr>
          <a:xfrm>
            <a:off x="4343400" y="2926080"/>
            <a:ext cx="1248156" cy="548640"/>
          </a:xfrm>
          <a:prstGeom prst="rect">
            <a:avLst/>
          </a:prstGeom>
          <a:noFill/>
          <a:ln/>
        </p:spPr>
        <p:txBody>
          <a:bodyPr wrap="square" lIns="0" tIns="0" rIns="0" bIns="0" rtlCol="0" anchor="t"/>
          <a:lstStyle/>
          <a:p>
            <a:pPr algn="ctr" indent="0" marL="0">
              <a:buNone/>
            </a:pPr>
            <a:r>
              <a:rPr lang="en-US" sz="1200" dirty="0">
                <a:solidFill>
                  <a:schemeClr val="tx1"/>
                </a:solidFill>
              </a:rPr>
              <a:t>Brand-gated (hàng độc quyền)</a:t>
            </a:r>
            <a:endParaRPr lang="en-US" sz="1200" dirty="0"/>
          </a:p>
        </p:txBody>
      </p:sp>
      <p:sp>
        <p:nvSpPr>
          <p:cNvPr id="19" name="Text 57"/>
          <p:cNvSpPr txBox="1"/>
          <p:nvPr/>
        </p:nvSpPr>
        <p:spPr>
          <a:xfrm>
            <a:off x="777240"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Chuyển từ chờ Brand xét duyệt sang sàn B2B mở theo Distributor khu vực: nhập địa chỉ → tự map Distributor phụ trách.</a:t>
            </a:r>
            <a:endParaRPr lang="en-US" sz="1400" dirty="0"/>
          </a:p>
          <a:p>
            <a:pPr marL="177800" indent="-177800">
              <a:spcAft>
                <a:spcPts val="600"/>
              </a:spcAft>
              <a:buSzPct val="100000"/>
              <a:buChar char="•"/>
            </a:pPr>
            <a:r>
              <a:rPr lang="en-US" sz="1400" dirty="0">
                <a:solidFill>
                  <a:schemeClr val="tx1"/>
                </a:solidFill>
              </a:rPr>
              <a:t>Hybrid Display: hàng Brand-gated chỉ mở bán sau khi Brand duyệt liên kết với Merchant.</a:t>
            </a:r>
            <a:endParaRPr lang="en-US" sz="1400" dirty="0"/>
          </a:p>
        </p:txBody>
      </p:sp>
      <p:sp>
        <p:nvSpPr>
          <p:cNvPr id="20" name="Shape 58"/>
          <p:cNvSpPr/>
          <p:nvPr/>
        </p:nvSpPr>
        <p:spPr>
          <a:xfrm>
            <a:off x="777240" y="5060188"/>
            <a:ext cx="4951476" cy="974852"/>
          </a:xfrm>
          <a:prstGeom prst="roundRect">
            <a:avLst>
              <a:gd name="adj" fmla="val 7504"/>
            </a:avLst>
          </a:prstGeom>
          <a:solidFill>
            <a:schemeClr val="bg1"/>
          </a:solidFill>
          <a:ln/>
        </p:spPr>
      </p:sp>
      <p:sp>
        <p:nvSpPr>
          <p:cNvPr id="21" name="Text 59"/>
          <p:cNvSpPr txBox="1"/>
          <p:nvPr/>
        </p:nvSpPr>
        <p:spPr>
          <a:xfrm>
            <a:off x="960120" y="5169916"/>
            <a:ext cx="4585716" cy="201168"/>
          </a:xfrm>
          <a:prstGeom prst="rect">
            <a:avLst/>
          </a:prstGeom>
          <a:noFill/>
          <a:ln/>
        </p:spPr>
        <p:txBody>
          <a:bodyPr wrap="square" lIns="0" tIns="0" rIns="0" bIns="0" rtlCol="0" anchor="t"/>
          <a:lstStyle/>
          <a:p>
            <a:pPr indent="0" marL="0">
              <a:buNone/>
            </a:pPr>
            <a:r>
              <a:rPr lang="en-US" sz="1200" b="1" dirty="0">
                <a:solidFill>
                  <a:schemeClr val="accent1"/>
                </a:solidFill>
              </a:rPr>
              <a:t>KẾT QUẢ</a:t>
            </a:r>
            <a:endParaRPr lang="en-US" sz="1200" dirty="0"/>
          </a:p>
        </p:txBody>
      </p:sp>
      <p:sp>
        <p:nvSpPr>
          <p:cNvPr id="22" name="Text 60"/>
          <p:cNvSpPr txBox="1"/>
          <p:nvPr/>
        </p:nvSpPr>
        <p:spPr>
          <a:xfrm>
            <a:off x="960120"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Mở rộng GMV và tập Merchant mà vẫn tuân thủ chính sách phân phối độc quyền của Brand.</a:t>
            </a:r>
            <a:endParaRPr lang="en-US" sz="1400" dirty="0"/>
          </a:p>
        </p:txBody>
      </p:sp>
      <p:sp>
        <p:nvSpPr>
          <p:cNvPr id="23" name="Shape 61"/>
          <p:cNvSpPr/>
          <p:nvPr/>
        </p:nvSpPr>
        <p:spPr>
          <a:xfrm>
            <a:off x="6231636" y="1554480"/>
            <a:ext cx="5408676" cy="4709160"/>
          </a:xfrm>
          <a:prstGeom prst="roundRect">
            <a:avLst>
              <a:gd name="adj" fmla="val 1553"/>
            </a:avLst>
          </a:prstGeom>
          <a:solidFill>
            <a:schemeClr val="bg2"/>
          </a:solidFill>
          <a:ln/>
        </p:spPr>
      </p:sp>
      <p:sp>
        <p:nvSpPr>
          <p:cNvPr id="24" name="Pill 62"/>
          <p:cNvSpPr/>
          <p:nvPr/>
        </p:nvSpPr>
        <p:spPr>
          <a:xfrm>
            <a:off x="6460236"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25" name="Text 63"/>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Frictionless Onboarding (dưới 60s)</a:t>
            </a:r>
            <a:endParaRPr lang="en-US" sz="1800" dirty="0"/>
          </a:p>
        </p:txBody>
      </p:sp>
      <p:sp>
        <p:nvSpPr>
          <p:cNvPr id="26" name="Shape 64"/>
          <p:cNvSpPr/>
          <p:nvPr/>
        </p:nvSpPr>
        <p:spPr>
          <a:xfrm>
            <a:off x="6460236" y="2331720"/>
            <a:ext cx="4951476" cy="1280160"/>
          </a:xfrm>
          <a:prstGeom prst="roundRect">
            <a:avLst>
              <a:gd name="adj" fmla="val 5714"/>
            </a:avLst>
          </a:prstGeom>
          <a:solidFill>
            <a:schemeClr val="bg1"/>
          </a:solidFill>
          <a:ln/>
        </p:spPr>
      </p:sp>
      <p:sp>
        <p:nvSpPr>
          <p:cNvPr id="27" name="Shape 65"/>
          <p:cNvSpPr/>
          <p:nvPr/>
        </p:nvSpPr>
        <p:spPr>
          <a:xfrm>
            <a:off x="7016648" y="2474366"/>
            <a:ext cx="537667" cy="537667"/>
          </a:xfrm>
          <a:prstGeom prst="ellipse">
            <a:avLst/>
          </a:prstGeom>
          <a:solidFill>
            <a:schemeClr val="accent1"/>
          </a:solidFill>
          <a:ln/>
        </p:spPr>
      </p:sp>
      <p:pic>
        <p:nvPicPr>
          <p:cNvPr id="28" name="Icon 66" descr="MobileAlt">    </p:cNvPr>
          <p:cNvPicPr>
            <a:picLocks noChangeAspect="1"/>
          </p:cNvPicPr>
          <p:nvPr/>
        </p:nvPicPr>
        <p:blipFill>
          <a:blip r:embed="rId2"/>
          <a:stretch>
            <a:fillRect/>
          </a:stretch>
        </p:blipFill>
        <p:spPr>
          <a:xfrm>
            <a:off x="7151065" y="2608783"/>
            <a:ext cx="268834" cy="268834"/>
          </a:xfrm>
          <a:prstGeom prst="rect">
            <a:avLst/>
          </a:prstGeom>
        </p:spPr>
      </p:pic>
      <p:sp>
        <p:nvSpPr>
          <p:cNvPr id="29" name="Text 67"/>
          <p:cNvSpPr txBox="1"/>
          <p:nvPr/>
        </p:nvSpPr>
        <p:spPr>
          <a:xfrm>
            <a:off x="6533388"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Phone (OTP)</a:t>
            </a:r>
            <a:endParaRPr lang="en-US" sz="1200" dirty="0"/>
          </a:p>
        </p:txBody>
      </p:sp>
      <p:pic>
        <p:nvPicPr>
          <p:cNvPr id="30" name="Icon 68" descr="ChevronRight">    </p:cNvPr>
          <p:cNvPicPr>
            <a:picLocks noChangeAspect="1"/>
          </p:cNvPicPr>
          <p:nvPr/>
        </p:nvPicPr>
        <p:blipFill>
          <a:blip r:embed="rId3"/>
          <a:stretch>
            <a:fillRect/>
          </a:stretch>
        </p:blipFill>
        <p:spPr>
          <a:xfrm>
            <a:off x="8001000" y="2633472"/>
            <a:ext cx="219456" cy="219456"/>
          </a:xfrm>
          <a:prstGeom prst="rect">
            <a:avLst/>
          </a:prstGeom>
        </p:spPr>
      </p:pic>
      <p:sp>
        <p:nvSpPr>
          <p:cNvPr id="31" name="Shape 69"/>
          <p:cNvSpPr/>
          <p:nvPr/>
        </p:nvSpPr>
        <p:spPr>
          <a:xfrm>
            <a:off x="8667140" y="2474366"/>
            <a:ext cx="537667" cy="537667"/>
          </a:xfrm>
          <a:prstGeom prst="ellipse">
            <a:avLst/>
          </a:prstGeom>
          <a:solidFill>
            <a:schemeClr val="accent1"/>
          </a:solidFill>
          <a:ln/>
        </p:spPr>
      </p:sp>
      <p:pic>
        <p:nvPicPr>
          <p:cNvPr id="32" name="Icon 70" descr="MapMarkerAlt">    </p:cNvPr>
          <p:cNvPicPr>
            <a:picLocks noChangeAspect="1"/>
          </p:cNvPicPr>
          <p:nvPr/>
        </p:nvPicPr>
        <p:blipFill>
          <a:blip r:embed="rId4"/>
          <a:stretch>
            <a:fillRect/>
          </a:stretch>
        </p:blipFill>
        <p:spPr>
          <a:xfrm>
            <a:off x="8801557" y="2608783"/>
            <a:ext cx="268834" cy="268834"/>
          </a:xfrm>
          <a:prstGeom prst="rect">
            <a:avLst/>
          </a:prstGeom>
        </p:spPr>
      </p:pic>
      <p:sp>
        <p:nvSpPr>
          <p:cNvPr id="33" name="Text 71"/>
          <p:cNvSpPr txBox="1"/>
          <p:nvPr/>
        </p:nvSpPr>
        <p:spPr>
          <a:xfrm>
            <a:off x="8183880"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Store Name + GPS</a:t>
            </a:r>
            <a:endParaRPr lang="en-US" sz="1200" dirty="0"/>
          </a:p>
        </p:txBody>
      </p:sp>
      <p:pic>
        <p:nvPicPr>
          <p:cNvPr id="34" name="Icon 72" descr="ChevronRight">    </p:cNvPr>
          <p:cNvPicPr>
            <a:picLocks noChangeAspect="1"/>
          </p:cNvPicPr>
          <p:nvPr/>
        </p:nvPicPr>
        <p:blipFill>
          <a:blip r:embed="rId5"/>
          <a:stretch>
            <a:fillRect/>
          </a:stretch>
        </p:blipFill>
        <p:spPr>
          <a:xfrm>
            <a:off x="9651492" y="2633472"/>
            <a:ext cx="219456" cy="219456"/>
          </a:xfrm>
          <a:prstGeom prst="rect">
            <a:avLst/>
          </a:prstGeom>
        </p:spPr>
      </p:pic>
      <p:sp>
        <p:nvSpPr>
          <p:cNvPr id="35" name="Shape 73"/>
          <p:cNvSpPr/>
          <p:nvPr/>
        </p:nvSpPr>
        <p:spPr>
          <a:xfrm>
            <a:off x="10317632" y="2474366"/>
            <a:ext cx="537667" cy="537667"/>
          </a:xfrm>
          <a:prstGeom prst="ellipse">
            <a:avLst/>
          </a:prstGeom>
          <a:solidFill>
            <a:schemeClr val="accent1"/>
          </a:solidFill>
          <a:ln/>
        </p:spPr>
      </p:sp>
      <p:pic>
        <p:nvPicPr>
          <p:cNvPr id="36" name="Icon 74" descr="BoxOpen">    </p:cNvPr>
          <p:cNvPicPr>
            <a:picLocks noChangeAspect="1"/>
          </p:cNvPicPr>
          <p:nvPr/>
        </p:nvPicPr>
        <p:blipFill>
          <a:blip r:embed="rId6"/>
          <a:stretch>
            <a:fillRect/>
          </a:stretch>
        </p:blipFill>
        <p:spPr>
          <a:xfrm>
            <a:off x="10452049" y="2608783"/>
            <a:ext cx="268834" cy="268834"/>
          </a:xfrm>
          <a:prstGeom prst="rect">
            <a:avLst/>
          </a:prstGeom>
        </p:spPr>
      </p:pic>
      <p:sp>
        <p:nvSpPr>
          <p:cNvPr id="37" name="Text 75"/>
          <p:cNvSpPr txBox="1"/>
          <p:nvPr/>
        </p:nvSpPr>
        <p:spPr>
          <a:xfrm>
            <a:off x="983437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Đặt hàng &lt; 60s</a:t>
            </a:r>
            <a:endParaRPr lang="en-US" sz="1200" dirty="0"/>
          </a:p>
        </p:txBody>
      </p:sp>
      <p:sp>
        <p:nvSpPr>
          <p:cNvPr id="38" name="Text 76"/>
          <p:cNvSpPr txBox="1"/>
          <p:nvPr/>
        </p:nvSpPr>
        <p:spPr>
          <a:xfrm>
            <a:off x="6460236"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Bỏ eKYC, CCCD, Business License khỏi luồng mặc định; chỉ cần Phone (OTP) + Store Name + địa chỉ giao hàng.</a:t>
            </a:r>
            <a:endParaRPr lang="en-US" sz="1400" dirty="0"/>
          </a:p>
          <a:p>
            <a:pPr marL="177800" indent="-177800">
              <a:spcAft>
                <a:spcPts val="600"/>
              </a:spcAft>
              <a:buSzPct val="100000"/>
              <a:buChar char="•"/>
            </a:pPr>
            <a:r>
              <a:rPr lang="en-US" sz="1400" dirty="0">
                <a:solidFill>
                  <a:schemeClr val="tx1"/>
                </a:solidFill>
              </a:rPr>
              <a:t>Giấy tờ chỉ là Conditional Step khi xin kết nối Brand có điều kiện khắt khe.</a:t>
            </a:r>
            <a:endParaRPr lang="en-US" sz="1400" dirty="0"/>
          </a:p>
        </p:txBody>
      </p:sp>
      <p:sp>
        <p:nvSpPr>
          <p:cNvPr id="39" name="Shape 77"/>
          <p:cNvSpPr/>
          <p:nvPr/>
        </p:nvSpPr>
        <p:spPr>
          <a:xfrm>
            <a:off x="6460236" y="5060188"/>
            <a:ext cx="4951476" cy="974852"/>
          </a:xfrm>
          <a:prstGeom prst="roundRect">
            <a:avLst>
              <a:gd name="adj" fmla="val 7504"/>
            </a:avLst>
          </a:prstGeom>
          <a:solidFill>
            <a:schemeClr val="bg1"/>
          </a:solidFill>
          <a:ln/>
        </p:spPr>
      </p:sp>
      <p:sp>
        <p:nvSpPr>
          <p:cNvPr id="40" name="Text 78"/>
          <p:cNvSpPr txBox="1"/>
          <p:nvPr/>
        </p:nvSpPr>
        <p:spPr>
          <a:xfrm>
            <a:off x="6643116" y="5169916"/>
            <a:ext cx="4585716" cy="201168"/>
          </a:xfrm>
          <a:prstGeom prst="rect">
            <a:avLst/>
          </a:prstGeom>
          <a:noFill/>
          <a:ln/>
        </p:spPr>
        <p:txBody>
          <a:bodyPr wrap="square" lIns="0" tIns="0" rIns="0" bIns="0" rtlCol="0" anchor="t"/>
          <a:lstStyle/>
          <a:p>
            <a:pPr indent="0" marL="0">
              <a:buNone/>
            </a:pPr>
            <a:r>
              <a:rPr lang="en-US" sz="1200" b="1" dirty="0">
                <a:solidFill>
                  <a:schemeClr val="accent1"/>
                </a:solidFill>
              </a:rPr>
              <a:t>KẾT QUẢ</a:t>
            </a:r>
            <a:endParaRPr lang="en-US" sz="1200" dirty="0"/>
          </a:p>
        </p:txBody>
      </p:sp>
      <p:sp>
        <p:nvSpPr>
          <p:cNvPr id="41" name="Text 79"/>
          <p:cNvSpPr txBox="1"/>
          <p:nvPr/>
        </p:nvSpPr>
        <p:spPr>
          <a:xfrm>
            <a:off x="6643116"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Xem giá và chốt đơn đầu tiên sau chưa đầy 1 phút: Distributor chỉ cần biết “giao cho ai, giao về đâu”.</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TRỤ CỘT 1  ·  BUYING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1"/>
                </a:solidFill>
              </a:rPr>
              <a:t>AI Semantic Search</a:t>
            </a:r>
            <a:endParaRPr lang="en-US" sz="3200" dirty="0"/>
          </a:p>
        </p:txBody>
      </p:sp>
      <p:sp>
        <p:nvSpPr>
          <p:cNvPr id="4" name="Shape 80"/>
          <p:cNvSpPr/>
          <p:nvPr/>
        </p:nvSpPr>
        <p:spPr>
          <a:xfrm>
            <a:off x="548640" y="1554480"/>
            <a:ext cx="5394960" cy="4709160"/>
          </a:xfrm>
          <a:prstGeom prst="roundRect">
            <a:avLst>
              <a:gd name="adj" fmla="val 1553"/>
            </a:avLst>
          </a:prstGeom>
          <a:solidFill>
            <a:schemeClr val="bg2"/>
          </a:solidFill>
          <a:ln/>
        </p:spPr>
      </p:sp>
      <p:sp>
        <p:nvSpPr>
          <p:cNvPr id="5" name="Shape 81"/>
          <p:cNvSpPr/>
          <p:nvPr/>
        </p:nvSpPr>
        <p:spPr>
          <a:xfrm>
            <a:off x="777240" y="1783080"/>
            <a:ext cx="4937760" cy="4251960"/>
          </a:xfrm>
          <a:prstGeom prst="roundRect">
            <a:avLst>
              <a:gd name="adj" fmla="val 1720"/>
            </a:avLst>
          </a:prstGeom>
          <a:solidFill>
            <a:schemeClr val="bg1"/>
          </a:solidFill>
          <a:ln/>
        </p:spPr>
      </p:sp>
      <p:sp>
        <p:nvSpPr>
          <p:cNvPr id="6" name="Chip 82"/>
          <p:cNvSpPr/>
          <p:nvPr/>
        </p:nvSpPr>
        <p:spPr>
          <a:xfrm>
            <a:off x="1051560" y="2011680"/>
            <a:ext cx="1828800" cy="365760"/>
          </a:xfrm>
          <a:prstGeom prst="roundRect">
            <a:avLst>
              <a:gd name="adj" fmla="val 15000"/>
            </a:avLst>
          </a:prstGeom>
          <a:solidFill>
            <a:schemeClr val="accent4"/>
          </a:solidFill>
          <a:ln/>
        </p:spPr>
        <p:txBody>
          <a:bodyPr wrap="square" lIns="0" tIns="0" rIns="0" bIns="0" rtlCol="0" anchor="ctr"/>
          <a:lstStyle/>
          <a:p>
            <a:pPr algn="ctr" indent="0" marL="0">
              <a:buNone/>
            </a:pPr>
            <a:r>
              <a:rPr lang="en-US" sz="1400" b="1" dirty="0">
                <a:solidFill>
                  <a:schemeClr val="bg1"/>
                </a:solidFill>
              </a:rPr>
              <a:t>Merchant gõ</a:t>
            </a:r>
            <a:endParaRPr lang="en-US" sz="1400" dirty="0"/>
          </a:p>
        </p:txBody>
      </p:sp>
      <p:sp>
        <p:nvSpPr>
          <p:cNvPr id="7" name="Chip 83"/>
          <p:cNvSpPr/>
          <p:nvPr/>
        </p:nvSpPr>
        <p:spPr>
          <a:xfrm>
            <a:off x="3611880" y="2011680"/>
            <a:ext cx="1828800" cy="365760"/>
          </a:xfrm>
          <a:prstGeom prst="roundRect">
            <a:avLst>
              <a:gd name="adj" fmla="val 15000"/>
            </a:avLst>
          </a:prstGeom>
          <a:solidFill>
            <a:schemeClr val="accent1"/>
          </a:solidFill>
          <a:ln/>
        </p:spPr>
        <p:txBody>
          <a:bodyPr wrap="square" lIns="0" tIns="0" rIns="0" bIns="0" rtlCol="0" anchor="ctr"/>
          <a:lstStyle/>
          <a:p>
            <a:pPr algn="ctr" indent="0" marL="0">
              <a:buNone/>
            </a:pPr>
            <a:r>
              <a:rPr lang="en-US" sz="1400" b="1" dirty="0">
                <a:solidFill>
                  <a:schemeClr val="bg1"/>
                </a:solidFill>
              </a:rPr>
              <a:t>AI hiểu (Search Intent)</a:t>
            </a:r>
            <a:endParaRPr lang="en-US" sz="1400" dirty="0"/>
          </a:p>
        </p:txBody>
      </p:sp>
      <p:sp>
        <p:nvSpPr>
          <p:cNvPr id="8" name="Chip 84"/>
          <p:cNvSpPr/>
          <p:nvPr/>
        </p:nvSpPr>
        <p:spPr>
          <a:xfrm>
            <a:off x="1051560" y="2606040"/>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dirty="0">
                <a:solidFill>
                  <a:schemeClr val="tx1"/>
                </a:solidFill>
              </a:rPr>
              <a:t>mì tôm</a:t>
            </a:r>
            <a:endParaRPr lang="en-US" sz="1400" dirty="0"/>
          </a:p>
        </p:txBody>
      </p:sp>
      <p:pic>
        <p:nvPicPr>
          <p:cNvPr id="9" name="Icon 85" descr="ChevronRight">    </p:cNvPr>
          <p:cNvPicPr>
            <a:picLocks noChangeAspect="1"/>
          </p:cNvPicPr>
          <p:nvPr/>
        </p:nvPicPr>
        <p:blipFill>
          <a:blip r:embed="rId1"/>
          <a:stretch>
            <a:fillRect/>
          </a:stretch>
        </p:blipFill>
        <p:spPr>
          <a:xfrm>
            <a:off x="3127248" y="2743200"/>
            <a:ext cx="237744" cy="237744"/>
          </a:xfrm>
          <a:prstGeom prst="rect">
            <a:avLst/>
          </a:prstGeom>
        </p:spPr>
      </p:pic>
      <p:sp>
        <p:nvSpPr>
          <p:cNvPr id="10" name="Chip 86"/>
          <p:cNvSpPr/>
          <p:nvPr/>
        </p:nvSpPr>
        <p:spPr>
          <a:xfrm>
            <a:off x="3611880" y="2606040"/>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b="1" dirty="0">
                <a:solidFill>
                  <a:schemeClr val="tx1"/>
                </a:solidFill>
              </a:rPr>
              <a:t>mì gói</a:t>
            </a:r>
            <a:endParaRPr lang="en-US" sz="1400" dirty="0"/>
          </a:p>
        </p:txBody>
      </p:sp>
      <p:sp>
        <p:nvSpPr>
          <p:cNvPr id="11" name="Chip 87"/>
          <p:cNvSpPr/>
          <p:nvPr/>
        </p:nvSpPr>
        <p:spPr>
          <a:xfrm>
            <a:off x="1051560" y="3255264"/>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dirty="0">
                <a:solidFill>
                  <a:schemeClr val="tx1"/>
                </a:solidFill>
              </a:rPr>
              <a:t>nước tương</a:t>
            </a:r>
            <a:endParaRPr lang="en-US" sz="1400" dirty="0"/>
          </a:p>
        </p:txBody>
      </p:sp>
      <p:pic>
        <p:nvPicPr>
          <p:cNvPr id="12" name="Icon 88" descr="ChevronRight">    </p:cNvPr>
          <p:cNvPicPr>
            <a:picLocks noChangeAspect="1"/>
          </p:cNvPicPr>
          <p:nvPr/>
        </p:nvPicPr>
        <p:blipFill>
          <a:blip r:embed="rId2"/>
          <a:stretch>
            <a:fillRect/>
          </a:stretch>
        </p:blipFill>
        <p:spPr>
          <a:xfrm>
            <a:off x="3127248" y="3392424"/>
            <a:ext cx="237744" cy="237744"/>
          </a:xfrm>
          <a:prstGeom prst="rect">
            <a:avLst/>
          </a:prstGeom>
        </p:spPr>
      </p:pic>
      <p:sp>
        <p:nvSpPr>
          <p:cNvPr id="13" name="Chip 89"/>
          <p:cNvSpPr/>
          <p:nvPr/>
        </p:nvSpPr>
        <p:spPr>
          <a:xfrm>
            <a:off x="3611880" y="3255264"/>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b="1" dirty="0">
                <a:solidFill>
                  <a:schemeClr val="tx1"/>
                </a:solidFill>
              </a:rPr>
              <a:t>xì dầu</a:t>
            </a:r>
            <a:endParaRPr lang="en-US" sz="1400" dirty="0"/>
          </a:p>
        </p:txBody>
      </p:sp>
      <p:sp>
        <p:nvSpPr>
          <p:cNvPr id="14" name="Chip 90"/>
          <p:cNvSpPr/>
          <p:nvPr/>
        </p:nvSpPr>
        <p:spPr>
          <a:xfrm>
            <a:off x="1051560" y="3904488"/>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dirty="0">
                <a:solidFill>
                  <a:schemeClr val="tx1"/>
                </a:solidFill>
              </a:rPr>
              <a:t>băng keo</a:t>
            </a:r>
            <a:endParaRPr lang="en-US" sz="1400" dirty="0"/>
          </a:p>
        </p:txBody>
      </p:sp>
      <p:pic>
        <p:nvPicPr>
          <p:cNvPr id="15" name="Icon 91" descr="ChevronRight">    </p:cNvPr>
          <p:cNvPicPr>
            <a:picLocks noChangeAspect="1"/>
          </p:cNvPicPr>
          <p:nvPr/>
        </p:nvPicPr>
        <p:blipFill>
          <a:blip r:embed="rId3"/>
          <a:stretch>
            <a:fillRect/>
          </a:stretch>
        </p:blipFill>
        <p:spPr>
          <a:xfrm>
            <a:off x="3127248" y="4041648"/>
            <a:ext cx="237744" cy="237744"/>
          </a:xfrm>
          <a:prstGeom prst="rect">
            <a:avLst/>
          </a:prstGeom>
        </p:spPr>
      </p:pic>
      <p:sp>
        <p:nvSpPr>
          <p:cNvPr id="16" name="Chip 92"/>
          <p:cNvSpPr/>
          <p:nvPr/>
        </p:nvSpPr>
        <p:spPr>
          <a:xfrm>
            <a:off x="3611880" y="3904488"/>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b="1" dirty="0">
                <a:solidFill>
                  <a:schemeClr val="tx1"/>
                </a:solidFill>
              </a:rPr>
              <a:t>băng dính</a:t>
            </a:r>
            <a:endParaRPr lang="en-US" sz="1400" dirty="0"/>
          </a:p>
        </p:txBody>
      </p:sp>
      <p:sp>
        <p:nvSpPr>
          <p:cNvPr id="17" name="Chip 93"/>
          <p:cNvSpPr/>
          <p:nvPr/>
        </p:nvSpPr>
        <p:spPr>
          <a:xfrm>
            <a:off x="1051560" y="4553712"/>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dirty="0">
                <a:solidFill>
                  <a:schemeClr val="tx1"/>
                </a:solidFill>
              </a:rPr>
              <a:t>hảo chua cay</a:t>
            </a:r>
            <a:endParaRPr lang="en-US" sz="1400" dirty="0"/>
          </a:p>
        </p:txBody>
      </p:sp>
      <p:pic>
        <p:nvPicPr>
          <p:cNvPr id="18" name="Icon 94" descr="ChevronRight">    </p:cNvPr>
          <p:cNvPicPr>
            <a:picLocks noChangeAspect="1"/>
          </p:cNvPicPr>
          <p:nvPr/>
        </p:nvPicPr>
        <p:blipFill>
          <a:blip r:embed="rId4"/>
          <a:stretch>
            <a:fillRect/>
          </a:stretch>
        </p:blipFill>
        <p:spPr>
          <a:xfrm>
            <a:off x="3127248" y="4690872"/>
            <a:ext cx="237744" cy="237744"/>
          </a:xfrm>
          <a:prstGeom prst="rect">
            <a:avLst/>
          </a:prstGeom>
        </p:spPr>
      </p:pic>
      <p:sp>
        <p:nvSpPr>
          <p:cNvPr id="19" name="Chip 95"/>
          <p:cNvSpPr/>
          <p:nvPr/>
        </p:nvSpPr>
        <p:spPr>
          <a:xfrm>
            <a:off x="3611880" y="4553712"/>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b="1" dirty="0">
                <a:solidFill>
                  <a:schemeClr val="tx1"/>
                </a:solidFill>
              </a:rPr>
              <a:t>Hảo Hảo tôm chua cay</a:t>
            </a:r>
            <a:endParaRPr lang="en-US" sz="1400" dirty="0"/>
          </a:p>
        </p:txBody>
      </p:sp>
      <p:sp>
        <p:nvSpPr>
          <p:cNvPr id="20" name="Chip 96"/>
          <p:cNvSpPr/>
          <p:nvPr/>
        </p:nvSpPr>
        <p:spPr>
          <a:xfrm>
            <a:off x="1051560" y="5202936"/>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dirty="0">
                <a:solidFill>
                  <a:schemeClr val="tx1"/>
                </a:solidFill>
              </a:rPr>
              <a:t>cô ca két</a:t>
            </a:r>
            <a:endParaRPr lang="en-US" sz="1400" dirty="0"/>
          </a:p>
        </p:txBody>
      </p:sp>
      <p:pic>
        <p:nvPicPr>
          <p:cNvPr id="21" name="Icon 97" descr="ChevronRight">    </p:cNvPr>
          <p:cNvPicPr>
            <a:picLocks noChangeAspect="1"/>
          </p:cNvPicPr>
          <p:nvPr/>
        </p:nvPicPr>
        <p:blipFill>
          <a:blip r:embed="rId5"/>
          <a:stretch>
            <a:fillRect/>
          </a:stretch>
        </p:blipFill>
        <p:spPr>
          <a:xfrm>
            <a:off x="3127248" y="5340096"/>
            <a:ext cx="237744" cy="237744"/>
          </a:xfrm>
          <a:prstGeom prst="rect">
            <a:avLst/>
          </a:prstGeom>
        </p:spPr>
      </p:pic>
      <p:sp>
        <p:nvSpPr>
          <p:cNvPr id="22" name="Chip 98"/>
          <p:cNvSpPr/>
          <p:nvPr/>
        </p:nvSpPr>
        <p:spPr>
          <a:xfrm>
            <a:off x="3611880" y="5202936"/>
            <a:ext cx="1828800" cy="512064"/>
          </a:xfrm>
          <a:prstGeom prst="roundRect">
            <a:avLst>
              <a:gd name="adj" fmla="val 10714"/>
            </a:avLst>
          </a:prstGeom>
          <a:solidFill>
            <a:schemeClr val="bg2"/>
          </a:solidFill>
          <a:ln/>
        </p:spPr>
        <p:txBody>
          <a:bodyPr wrap="square" lIns="0" tIns="0" rIns="0" bIns="0" rtlCol="0" anchor="ctr"/>
          <a:lstStyle/>
          <a:p>
            <a:pPr algn="ctr" indent="0" marL="0">
              <a:buNone/>
            </a:pPr>
            <a:r>
              <a:rPr lang="en-US" sz="1400" b="1" dirty="0">
                <a:solidFill>
                  <a:schemeClr val="tx1"/>
                </a:solidFill>
              </a:rPr>
              <a:t>Coca-Cola (két)</a:t>
            </a:r>
            <a:endParaRPr lang="en-US" sz="1400" dirty="0"/>
          </a:p>
        </p:txBody>
      </p:sp>
      <p:sp>
        <p:nvSpPr>
          <p:cNvPr id="23" name="Shape 99"/>
          <p:cNvSpPr/>
          <p:nvPr/>
        </p:nvSpPr>
        <p:spPr>
          <a:xfrm>
            <a:off x="6217920" y="1554480"/>
            <a:ext cx="5422392" cy="4709160"/>
          </a:xfrm>
          <a:prstGeom prst="roundRect">
            <a:avLst>
              <a:gd name="adj" fmla="val 1553"/>
            </a:avLst>
          </a:prstGeom>
          <a:solidFill>
            <a:schemeClr val="bg2"/>
          </a:solidFill>
          <a:ln/>
        </p:spPr>
      </p:sp>
      <p:sp>
        <p:nvSpPr>
          <p:cNvPr id="24" name="Pill 100"/>
          <p:cNvSpPr/>
          <p:nvPr/>
        </p:nvSpPr>
        <p:spPr>
          <a:xfrm>
            <a:off x="6492240"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1.3</a:t>
            </a:r>
            <a:endParaRPr lang="en-US" sz="1400" dirty="0"/>
          </a:p>
        </p:txBody>
      </p:sp>
      <p:sp>
        <p:nvSpPr>
          <p:cNvPr id="25" name="Text 101"/>
          <p:cNvSpPr txBox="1"/>
          <p:nvPr/>
        </p:nvSpPr>
        <p:spPr>
          <a:xfrm>
            <a:off x="7196328" y="1737360"/>
            <a:ext cx="4169664" cy="512064"/>
          </a:xfrm>
          <a:prstGeom prst="rect">
            <a:avLst/>
          </a:prstGeom>
          <a:noFill/>
          <a:ln/>
        </p:spPr>
        <p:txBody>
          <a:bodyPr wrap="square" lIns="0" tIns="0" rIns="0" bIns="0" rtlCol="0" anchor="ctr"/>
          <a:lstStyle/>
          <a:p>
            <a:pPr indent="0" marL="0">
              <a:buNone/>
            </a:pPr>
            <a:r>
              <a:rPr lang="en-US" sz="1800" b="1" dirty="0">
                <a:solidFill>
                  <a:schemeClr val="tx1"/>
                </a:solidFill>
              </a:rPr>
              <a:t>Tìm kiếm ngữ nghĩa bằng ngôn ngữ tự nhiên</a:t>
            </a:r>
            <a:endParaRPr lang="en-US" sz="1800" dirty="0"/>
          </a:p>
        </p:txBody>
      </p:sp>
      <p:sp>
        <p:nvSpPr>
          <p:cNvPr id="26" name="Text 102"/>
          <p:cNvSpPr txBox="1"/>
          <p:nvPr/>
        </p:nvSpPr>
        <p:spPr>
          <a:xfrm>
            <a:off x="6492240" y="2468880"/>
            <a:ext cx="4873752" cy="2313178"/>
          </a:xfrm>
          <a:prstGeom prst="rect">
            <a:avLst/>
          </a:prstGeom>
          <a:noFill/>
          <a:ln/>
        </p:spPr>
        <p:txBody>
          <a:bodyPr wrap="square" lIns="0" tIns="0" rIns="0" bIns="0" rtlCol="0" anchor="t"/>
          <a:lstStyle/>
          <a:p>
            <a:pPr marL="177800" indent="-177800">
              <a:spcAft>
                <a:spcPts val="1200"/>
              </a:spcAft>
              <a:buSzPct val="100000"/>
              <a:buChar char="•"/>
            </a:pPr>
            <a:r>
              <a:rPr lang="en-US" sz="1700" dirty="0">
                <a:solidFill>
                  <a:schemeClr val="tx1"/>
                </a:solidFill>
              </a:rPr>
              <a:t>Thay Exact Keyword Matching bằng Semantic Search (AI/NLP).</a:t>
            </a:r>
            <a:endParaRPr lang="en-US" sz="1700" dirty="0"/>
          </a:p>
          <a:p>
            <a:pPr marL="177800" indent="-177800">
              <a:spcAft>
                <a:spcPts val="1200"/>
              </a:spcAft>
              <a:buSzPct val="100000"/>
              <a:buChar char="•"/>
            </a:pPr>
            <a:r>
              <a:rPr lang="en-US" sz="1700" dirty="0">
                <a:solidFill>
                  <a:schemeClr val="tx1"/>
                </a:solidFill>
              </a:rPr>
              <a:t>Hiểu từ đồng nghĩa, tiếng lóng FMCG, sai chính tả, gõ không dấu và tên gọi theo vùng Bắc – Trung – Nam.</a:t>
            </a:r>
            <a:endParaRPr lang="en-US" sz="1700" dirty="0"/>
          </a:p>
          <a:p>
            <a:pPr marL="177800" indent="-177800">
              <a:spcAft>
                <a:spcPts val="1200"/>
              </a:spcAft>
              <a:buSzPct val="100000"/>
              <a:buChar char="•"/>
            </a:pPr>
            <a:r>
              <a:rPr lang="en-US" sz="1700" dirty="0">
                <a:solidFill>
                  <a:schemeClr val="tx1"/>
                </a:solidFill>
              </a:rPr>
              <a:t>Nắm Search Intent thay vì câu chữ, tránh báo “Không tìm thấy sản phẩm” khi gõ khác tên ERP của Distributor.</a:t>
            </a:r>
            <a:endParaRPr lang="en-US" sz="1700" dirty="0"/>
          </a:p>
        </p:txBody>
      </p:sp>
      <p:sp>
        <p:nvSpPr>
          <p:cNvPr id="27" name="Shape 103"/>
          <p:cNvSpPr/>
          <p:nvPr/>
        </p:nvSpPr>
        <p:spPr>
          <a:xfrm>
            <a:off x="6492240" y="4919218"/>
            <a:ext cx="4873752" cy="1070102"/>
          </a:xfrm>
          <a:prstGeom prst="roundRect">
            <a:avLst>
              <a:gd name="adj" fmla="val 6836"/>
            </a:avLst>
          </a:prstGeom>
          <a:solidFill>
            <a:schemeClr val="bg1"/>
          </a:solidFill>
          <a:ln/>
        </p:spPr>
      </p:sp>
      <p:sp>
        <p:nvSpPr>
          <p:cNvPr id="28" name="Text 104"/>
          <p:cNvSpPr txBox="1"/>
          <p:nvPr/>
        </p:nvSpPr>
        <p:spPr>
          <a:xfrm>
            <a:off x="6675120" y="5028946"/>
            <a:ext cx="4507992" cy="201168"/>
          </a:xfrm>
          <a:prstGeom prst="rect">
            <a:avLst/>
          </a:prstGeom>
          <a:noFill/>
          <a:ln/>
        </p:spPr>
        <p:txBody>
          <a:bodyPr wrap="square" lIns="0" tIns="0" rIns="0" bIns="0" rtlCol="0" anchor="t"/>
          <a:lstStyle/>
          <a:p>
            <a:pPr indent="0" marL="0">
              <a:buNone/>
            </a:pPr>
            <a:r>
              <a:rPr lang="en-US" sz="1200" b="1" dirty="0">
                <a:solidFill>
                  <a:schemeClr val="accent1"/>
                </a:solidFill>
              </a:rPr>
              <a:t>KẾT QUẢ</a:t>
            </a:r>
            <a:endParaRPr lang="en-US" sz="1200" dirty="0"/>
          </a:p>
        </p:txBody>
      </p:sp>
      <p:sp>
        <p:nvSpPr>
          <p:cNvPr id="29" name="Text 105"/>
          <p:cNvSpPr txBox="1"/>
          <p:nvPr/>
        </p:nvSpPr>
        <p:spPr>
          <a:xfrm>
            <a:off x="6675120" y="5266690"/>
            <a:ext cx="4507992" cy="631190"/>
          </a:xfrm>
          <a:prstGeom prst="rect">
            <a:avLst/>
          </a:prstGeom>
          <a:noFill/>
          <a:ln/>
        </p:spPr>
        <p:txBody>
          <a:bodyPr wrap="square" lIns="0" tIns="0" rIns="0" bIns="0" rtlCol="0" anchor="t"/>
          <a:lstStyle/>
          <a:p>
            <a:pPr indent="0" marL="0">
              <a:buNone/>
            </a:pPr>
            <a:r>
              <a:rPr lang="en-US" sz="1700" dirty="0">
                <a:solidFill>
                  <a:schemeClr val="tx1"/>
                </a:solidFill>
              </a:rPr>
              <a:t>Tăng tỷ lệ tìm kiếm thành công và cart conversion.</a:t>
            </a:r>
            <a:endParaRPr lang="en-US" sz="17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TRỤ CỘT 1  ·  BUYING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1"/>
                </a:solidFill>
              </a:rPr>
              <a:t>Upsell &amp; Cross-sell Recommendation</a:t>
            </a:r>
            <a:endParaRPr lang="en-US" sz="3200" dirty="0"/>
          </a:p>
        </p:txBody>
      </p:sp>
      <p:sp>
        <p:nvSpPr>
          <p:cNvPr id="4" name="Shape 106"/>
          <p:cNvSpPr/>
          <p:nvPr/>
        </p:nvSpPr>
        <p:spPr>
          <a:xfrm>
            <a:off x="548640" y="1554480"/>
            <a:ext cx="5408676" cy="4709160"/>
          </a:xfrm>
          <a:prstGeom prst="roundRect">
            <a:avLst>
              <a:gd name="adj" fmla="val 1553"/>
            </a:avLst>
          </a:prstGeom>
          <a:solidFill>
            <a:schemeClr val="bg2"/>
          </a:solidFill>
          <a:ln/>
        </p:spPr>
      </p:sp>
      <p:sp>
        <p:nvSpPr>
          <p:cNvPr id="5" name="Pill 107"/>
          <p:cNvSpPr/>
          <p:nvPr/>
        </p:nvSpPr>
        <p:spPr>
          <a:xfrm>
            <a:off x="777240"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1.4</a:t>
            </a:r>
            <a:endParaRPr lang="en-US" sz="1400" dirty="0"/>
          </a:p>
        </p:txBody>
      </p:sp>
      <p:sp>
        <p:nvSpPr>
          <p:cNvPr id="6" name="Text 108"/>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Upsell: đạt MOQ cùng Distributor</a:t>
            </a:r>
            <a:endParaRPr lang="en-US" sz="1800" dirty="0"/>
          </a:p>
        </p:txBody>
      </p:sp>
      <p:sp>
        <p:nvSpPr>
          <p:cNvPr id="7" name="Shape 109"/>
          <p:cNvSpPr/>
          <p:nvPr/>
        </p:nvSpPr>
        <p:spPr>
          <a:xfrm>
            <a:off x="777240" y="2331720"/>
            <a:ext cx="4951476" cy="1280160"/>
          </a:xfrm>
          <a:prstGeom prst="roundRect">
            <a:avLst>
              <a:gd name="adj" fmla="val 5714"/>
            </a:avLst>
          </a:prstGeom>
          <a:solidFill>
            <a:schemeClr val="bg1"/>
          </a:solidFill>
          <a:ln/>
        </p:spPr>
      </p:sp>
      <p:pic>
        <p:nvPicPr>
          <p:cNvPr id="8" name="Icon 110" descr="ShoppingCart">    </p:cNvPr>
          <p:cNvPicPr>
            <a:picLocks noChangeAspect="1"/>
          </p:cNvPicPr>
          <p:nvPr/>
        </p:nvPicPr>
        <p:blipFill>
          <a:blip r:embed="rId1"/>
          <a:stretch>
            <a:fillRect/>
          </a:stretch>
        </p:blipFill>
        <p:spPr>
          <a:xfrm>
            <a:off x="960120" y="2788920"/>
            <a:ext cx="365760" cy="365760"/>
          </a:xfrm>
          <a:prstGeom prst="rect">
            <a:avLst/>
          </a:prstGeom>
        </p:spPr>
      </p:pic>
      <p:sp>
        <p:nvSpPr>
          <p:cNvPr id="9" name="Text 111"/>
          <p:cNvSpPr txBox="1"/>
          <p:nvPr/>
        </p:nvSpPr>
        <p:spPr>
          <a:xfrm>
            <a:off x="1463040" y="2468880"/>
            <a:ext cx="4082796" cy="201168"/>
          </a:xfrm>
          <a:prstGeom prst="rect">
            <a:avLst/>
          </a:prstGeom>
          <a:noFill/>
          <a:ln/>
        </p:spPr>
        <p:txBody>
          <a:bodyPr wrap="square" lIns="0" tIns="0" rIns="0" bIns="0" rtlCol="0" anchor="t"/>
          <a:lstStyle/>
          <a:p>
            <a:pPr algn="r" indent="0" marL="0">
              <a:buNone/>
            </a:pPr>
            <a:r>
              <a:rPr lang="en-US" sz="1200" b="1" dirty="0">
                <a:solidFill>
                  <a:schemeClr val="accent4"/>
                </a:solidFill>
              </a:rPr>
              <a:t>Freeship MOQ</a:t>
            </a:r>
            <a:endParaRPr lang="en-US" sz="1200" dirty="0"/>
          </a:p>
        </p:txBody>
      </p:sp>
      <p:sp>
        <p:nvSpPr>
          <p:cNvPr id="10" name="Shape 112"/>
          <p:cNvSpPr/>
          <p:nvPr/>
        </p:nvSpPr>
        <p:spPr>
          <a:xfrm>
            <a:off x="1463040" y="2807208"/>
            <a:ext cx="4082796" cy="256032"/>
          </a:xfrm>
          <a:prstGeom prst="roundRect">
            <a:avLst>
              <a:gd name="adj" fmla="val 50000"/>
            </a:avLst>
          </a:prstGeom>
          <a:solidFill>
            <a:schemeClr val="bg2"/>
          </a:solidFill>
          <a:ln/>
        </p:spPr>
      </p:sp>
      <p:sp>
        <p:nvSpPr>
          <p:cNvPr id="11" name="Shape 113"/>
          <p:cNvSpPr/>
          <p:nvPr/>
        </p:nvSpPr>
        <p:spPr>
          <a:xfrm>
            <a:off x="1463040" y="2807208"/>
            <a:ext cx="3184581" cy="256032"/>
          </a:xfrm>
          <a:prstGeom prst="roundRect">
            <a:avLst>
              <a:gd name="adj" fmla="val 50000"/>
            </a:avLst>
          </a:prstGeom>
          <a:solidFill>
            <a:schemeClr val="accent1"/>
          </a:solidFill>
          <a:ln/>
        </p:spPr>
      </p:sp>
      <p:sp>
        <p:nvSpPr>
          <p:cNvPr id="12" name="Chip 114"/>
          <p:cNvSpPr/>
          <p:nvPr/>
        </p:nvSpPr>
        <p:spPr>
          <a:xfrm>
            <a:off x="3824661" y="3172968"/>
            <a:ext cx="105156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200" b="1" dirty="0">
                <a:solidFill>
                  <a:schemeClr val="bg1"/>
                </a:solidFill>
              </a:rPr>
              <a:t>+1 item</a:t>
            </a:r>
            <a:endParaRPr lang="en-US" sz="1200" dirty="0"/>
          </a:p>
        </p:txBody>
      </p:sp>
      <p:sp>
        <p:nvSpPr>
          <p:cNvPr id="13" name="Text 115"/>
          <p:cNvSpPr txBox="1"/>
          <p:nvPr/>
        </p:nvSpPr>
        <p:spPr>
          <a:xfrm>
            <a:off x="777240"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Market Basket Analysis gợi ý hàng hay mua kèm của cùng Distributor đang xử lý đơn (bia + nước ngọt; dầu ăn + đường/nước mắm).</a:t>
            </a:r>
            <a:endParaRPr lang="en-US" sz="1400" dirty="0"/>
          </a:p>
          <a:p>
            <a:pPr marL="177800" indent="-177800">
              <a:spcAft>
                <a:spcPts val="600"/>
              </a:spcAft>
              <a:buSzPct val="100000"/>
              <a:buChar char="•"/>
            </a:pPr>
            <a:r>
              <a:rPr lang="en-US" sz="1400" dirty="0">
                <a:solidFill>
                  <a:schemeClr val="tx1"/>
                </a:solidFill>
              </a:rPr>
              <a:t>Hiển thị tiến độ đạt Freeship / MOQ ngay trong giỏ hàng.</a:t>
            </a:r>
            <a:endParaRPr lang="en-US" sz="1400" dirty="0"/>
          </a:p>
        </p:txBody>
      </p:sp>
      <p:sp>
        <p:nvSpPr>
          <p:cNvPr id="14" name="Shape 116"/>
          <p:cNvSpPr/>
          <p:nvPr/>
        </p:nvSpPr>
        <p:spPr>
          <a:xfrm>
            <a:off x="777240" y="5060188"/>
            <a:ext cx="4951476" cy="974852"/>
          </a:xfrm>
          <a:prstGeom prst="roundRect">
            <a:avLst>
              <a:gd name="adj" fmla="val 7504"/>
            </a:avLst>
          </a:prstGeom>
          <a:solidFill>
            <a:schemeClr val="bg1"/>
          </a:solidFill>
          <a:ln/>
        </p:spPr>
      </p:sp>
      <p:sp>
        <p:nvSpPr>
          <p:cNvPr id="15" name="Text 117"/>
          <p:cNvSpPr txBox="1"/>
          <p:nvPr/>
        </p:nvSpPr>
        <p:spPr>
          <a:xfrm>
            <a:off x="960120" y="5169916"/>
            <a:ext cx="4585716" cy="201168"/>
          </a:xfrm>
          <a:prstGeom prst="rect">
            <a:avLst/>
          </a:prstGeom>
          <a:noFill/>
          <a:ln/>
        </p:spPr>
        <p:txBody>
          <a:bodyPr wrap="square" lIns="0" tIns="0" rIns="0" bIns="0" rtlCol="0" anchor="t"/>
          <a:lstStyle/>
          <a:p>
            <a:pPr indent="0" marL="0">
              <a:buNone/>
            </a:pPr>
            <a:r>
              <a:rPr lang="en-US" sz="1200" b="1" dirty="0">
                <a:solidFill>
                  <a:schemeClr val="accent1"/>
                </a:solidFill>
              </a:rPr>
              <a:t>VÍ DỤ</a:t>
            </a:r>
            <a:endParaRPr lang="en-US" sz="1200" dirty="0"/>
          </a:p>
        </p:txBody>
      </p:sp>
      <p:sp>
        <p:nvSpPr>
          <p:cNvPr id="16" name="Text 118"/>
          <p:cNvSpPr txBox="1"/>
          <p:nvPr/>
        </p:nvSpPr>
        <p:spPr>
          <a:xfrm>
            <a:off x="960120"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“Thêm 1 thùng nước ngọt X để đủ điều kiện giao miễn phí / đủ MOQ từ Distributor [Tên].”</a:t>
            </a:r>
            <a:endParaRPr lang="en-US" sz="1400" dirty="0"/>
          </a:p>
        </p:txBody>
      </p:sp>
      <p:sp>
        <p:nvSpPr>
          <p:cNvPr id="17" name="Shape 119"/>
          <p:cNvSpPr/>
          <p:nvPr/>
        </p:nvSpPr>
        <p:spPr>
          <a:xfrm>
            <a:off x="6231636" y="1554480"/>
            <a:ext cx="5408676" cy="4709160"/>
          </a:xfrm>
          <a:prstGeom prst="roundRect">
            <a:avLst>
              <a:gd name="adj" fmla="val 1553"/>
            </a:avLst>
          </a:prstGeom>
          <a:solidFill>
            <a:schemeClr val="bg2"/>
          </a:solidFill>
          <a:ln/>
        </p:spPr>
      </p:sp>
      <p:sp>
        <p:nvSpPr>
          <p:cNvPr id="18" name="Pill 120"/>
          <p:cNvSpPr/>
          <p:nvPr/>
        </p:nvSpPr>
        <p:spPr>
          <a:xfrm>
            <a:off x="6460236"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19" name="Text 121"/>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Cross-sell: khác Distributor / Brand</a:t>
            </a:r>
            <a:endParaRPr lang="en-US" sz="1800" dirty="0"/>
          </a:p>
        </p:txBody>
      </p:sp>
      <p:sp>
        <p:nvSpPr>
          <p:cNvPr id="20" name="Shape 122"/>
          <p:cNvSpPr/>
          <p:nvPr/>
        </p:nvSpPr>
        <p:spPr>
          <a:xfrm>
            <a:off x="6460236" y="2331720"/>
            <a:ext cx="4951476" cy="1280160"/>
          </a:xfrm>
          <a:prstGeom prst="roundRect">
            <a:avLst>
              <a:gd name="adj" fmla="val 5714"/>
            </a:avLst>
          </a:prstGeom>
          <a:solidFill>
            <a:schemeClr val="bg1"/>
          </a:solidFill>
          <a:ln/>
        </p:spPr>
      </p:sp>
      <p:sp>
        <p:nvSpPr>
          <p:cNvPr id="21" name="Shape 123"/>
          <p:cNvSpPr/>
          <p:nvPr/>
        </p:nvSpPr>
        <p:spPr>
          <a:xfrm>
            <a:off x="6734556" y="2423160"/>
            <a:ext cx="1554480" cy="1097280"/>
          </a:xfrm>
          <a:prstGeom prst="roundRect">
            <a:avLst>
              <a:gd name="adj" fmla="val 5000"/>
            </a:avLst>
          </a:prstGeom>
          <a:solidFill>
            <a:schemeClr val="bg2"/>
          </a:solidFill>
          <a:ln/>
        </p:spPr>
      </p:sp>
      <p:pic>
        <p:nvPicPr>
          <p:cNvPr id="22" name="Icon 124" descr="BoxOpen">    </p:cNvPr>
          <p:cNvPicPr>
            <a:picLocks noChangeAspect="1"/>
          </p:cNvPicPr>
          <p:nvPr/>
        </p:nvPicPr>
        <p:blipFill>
          <a:blip r:embed="rId2"/>
          <a:stretch>
            <a:fillRect/>
          </a:stretch>
        </p:blipFill>
        <p:spPr>
          <a:xfrm>
            <a:off x="7347204" y="2514600"/>
            <a:ext cx="329184" cy="329184"/>
          </a:xfrm>
          <a:prstGeom prst="rect">
            <a:avLst/>
          </a:prstGeom>
        </p:spPr>
      </p:pic>
      <p:sp>
        <p:nvSpPr>
          <p:cNvPr id="23" name="Text 125"/>
          <p:cNvSpPr txBox="1"/>
          <p:nvPr/>
        </p:nvSpPr>
        <p:spPr>
          <a:xfrm>
            <a:off x="6734556" y="2953512"/>
            <a:ext cx="1554480" cy="365760"/>
          </a:xfrm>
          <a:prstGeom prst="rect">
            <a:avLst/>
          </a:prstGeom>
          <a:noFill/>
          <a:ln/>
        </p:spPr>
        <p:txBody>
          <a:bodyPr wrap="square" lIns="0" tIns="0" rIns="0" bIns="0" rtlCol="0" anchor="t"/>
          <a:lstStyle/>
          <a:p>
            <a:pPr algn="ctr" indent="0" marL="0">
              <a:buNone/>
            </a:pPr>
            <a:r>
              <a:rPr lang="en-US" sz="1200" dirty="0">
                <a:solidFill>
                  <a:schemeClr val="tx1"/>
                </a:solidFill>
              </a:rPr>
              <a:t>Standard product</a:t>
            </a:r>
            <a:endParaRPr lang="en-US" sz="1200" dirty="0"/>
          </a:p>
        </p:txBody>
      </p:sp>
      <p:sp>
        <p:nvSpPr>
          <p:cNvPr id="24" name="Text 126"/>
          <p:cNvSpPr txBox="1"/>
          <p:nvPr/>
        </p:nvSpPr>
        <p:spPr>
          <a:xfrm>
            <a:off x="8289036" y="2788920"/>
            <a:ext cx="1293876" cy="365760"/>
          </a:xfrm>
          <a:prstGeom prst="rect">
            <a:avLst/>
          </a:prstGeom>
          <a:noFill/>
          <a:ln/>
        </p:spPr>
        <p:txBody>
          <a:bodyPr wrap="square" lIns="0" tIns="0" rIns="0" bIns="0" rtlCol="0" anchor="ctr"/>
          <a:lstStyle/>
          <a:p>
            <a:pPr algn="ctr" indent="0" marL="0">
              <a:buNone/>
            </a:pPr>
            <a:r>
              <a:rPr lang="en-US" sz="1400" b="1" dirty="0">
                <a:solidFill>
                  <a:schemeClr val="accent4"/>
                </a:solidFill>
              </a:rPr>
              <a:t>VS</a:t>
            </a:r>
            <a:endParaRPr lang="en-US" sz="1400" dirty="0"/>
          </a:p>
        </p:txBody>
      </p:sp>
      <p:sp>
        <p:nvSpPr>
          <p:cNvPr id="25" name="Shape 127"/>
          <p:cNvSpPr/>
          <p:nvPr/>
        </p:nvSpPr>
        <p:spPr>
          <a:xfrm>
            <a:off x="9582912" y="2423160"/>
            <a:ext cx="1554480" cy="1097280"/>
          </a:xfrm>
          <a:prstGeom prst="roundRect">
            <a:avLst>
              <a:gd name="adj" fmla="val 5000"/>
            </a:avLst>
          </a:prstGeom>
          <a:solidFill>
            <a:schemeClr val="accent1"/>
          </a:solidFill>
          <a:ln/>
        </p:spPr>
      </p:sp>
      <p:pic>
        <p:nvPicPr>
          <p:cNvPr id="26" name="Icon 128" descr="BoxOpen">    </p:cNvPr>
          <p:cNvPicPr>
            <a:picLocks noChangeAspect="1"/>
          </p:cNvPicPr>
          <p:nvPr/>
        </p:nvPicPr>
        <p:blipFill>
          <a:blip r:embed="rId3"/>
          <a:stretch>
            <a:fillRect/>
          </a:stretch>
        </p:blipFill>
        <p:spPr>
          <a:xfrm>
            <a:off x="10195560" y="2514600"/>
            <a:ext cx="329184" cy="329184"/>
          </a:xfrm>
          <a:prstGeom prst="rect">
            <a:avLst/>
          </a:prstGeom>
        </p:spPr>
      </p:pic>
      <p:sp>
        <p:nvSpPr>
          <p:cNvPr id="27" name="Text 129"/>
          <p:cNvSpPr txBox="1"/>
          <p:nvPr/>
        </p:nvSpPr>
        <p:spPr>
          <a:xfrm>
            <a:off x="9582912" y="2953512"/>
            <a:ext cx="1554480" cy="365760"/>
          </a:xfrm>
          <a:prstGeom prst="rect">
            <a:avLst/>
          </a:prstGeom>
          <a:noFill/>
          <a:ln/>
        </p:spPr>
        <p:txBody>
          <a:bodyPr wrap="square" lIns="0" tIns="0" rIns="0" bIns="0" rtlCol="0" anchor="t"/>
          <a:lstStyle/>
          <a:p>
            <a:pPr algn="ctr" indent="0" marL="0">
              <a:buNone/>
            </a:pPr>
            <a:r>
              <a:rPr lang="en-US" sz="1200" b="1" dirty="0">
                <a:solidFill>
                  <a:schemeClr val="bg1"/>
                </a:solidFill>
              </a:rPr>
              <a:t>Sponsored</a:t>
            </a:r>
            <a:endParaRPr lang="en-US" sz="1200" dirty="0"/>
          </a:p>
        </p:txBody>
      </p:sp>
      <p:sp>
        <p:nvSpPr>
          <p:cNvPr id="28" name="Text 130"/>
          <p:cNvSpPr txBox="1"/>
          <p:nvPr/>
        </p:nvSpPr>
        <p:spPr>
          <a:xfrm>
            <a:off x="6460236"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Gợi ý sản phẩm thay thế cùng Category từ Distributor/Brand khác ở trang chi tiết và chân giỏ hàng.</a:t>
            </a:r>
            <a:endParaRPr lang="en-US" sz="1400" dirty="0"/>
          </a:p>
          <a:p>
            <a:pPr marL="177800" indent="-177800">
              <a:spcAft>
                <a:spcPts val="600"/>
              </a:spcAft>
              <a:buSzPct val="100000"/>
              <a:buChar char="•"/>
            </a:pPr>
            <a:r>
              <a:rPr lang="en-US" sz="1400" dirty="0">
                <a:solidFill>
                  <a:schemeClr val="tx1"/>
                </a:solidFill>
              </a:rPr>
              <a:t>Tiêu chí: giá sỉ rẻ hơn, khuyến mãi sâu hơn, hoặc vị trí tài trợ (Retail Media Network, Sponsored Products).</a:t>
            </a:r>
            <a:endParaRPr lang="en-US" sz="1400" dirty="0"/>
          </a:p>
        </p:txBody>
      </p:sp>
      <p:sp>
        <p:nvSpPr>
          <p:cNvPr id="29" name="Shape 131"/>
          <p:cNvSpPr/>
          <p:nvPr/>
        </p:nvSpPr>
        <p:spPr>
          <a:xfrm>
            <a:off x="6460236" y="5060188"/>
            <a:ext cx="4951476" cy="974852"/>
          </a:xfrm>
          <a:prstGeom prst="roundRect">
            <a:avLst>
              <a:gd name="adj" fmla="val 7504"/>
            </a:avLst>
          </a:prstGeom>
          <a:solidFill>
            <a:schemeClr val="bg1"/>
          </a:solidFill>
          <a:ln/>
        </p:spPr>
      </p:sp>
      <p:sp>
        <p:nvSpPr>
          <p:cNvPr id="30" name="Text 132"/>
          <p:cNvSpPr txBox="1"/>
          <p:nvPr/>
        </p:nvSpPr>
        <p:spPr>
          <a:xfrm>
            <a:off x="6643116" y="5169916"/>
            <a:ext cx="4585716" cy="201168"/>
          </a:xfrm>
          <a:prstGeom prst="rect">
            <a:avLst/>
          </a:prstGeom>
          <a:noFill/>
          <a:ln/>
        </p:spPr>
        <p:txBody>
          <a:bodyPr wrap="square" lIns="0" tIns="0" rIns="0" bIns="0" rtlCol="0" anchor="t"/>
          <a:lstStyle/>
          <a:p>
            <a:pPr indent="0" marL="0">
              <a:buNone/>
            </a:pPr>
            <a:r>
              <a:rPr lang="en-US" sz="1200" b="1" dirty="0">
                <a:solidFill>
                  <a:schemeClr val="accent1"/>
                </a:solidFill>
              </a:rPr>
              <a:t>KẾT QUẢ</a:t>
            </a:r>
            <a:endParaRPr lang="en-US" sz="1200" dirty="0"/>
          </a:p>
        </p:txBody>
      </p:sp>
      <p:sp>
        <p:nvSpPr>
          <p:cNvPr id="31" name="Text 133"/>
          <p:cNvSpPr txBox="1"/>
          <p:nvPr/>
        </p:nvSpPr>
        <p:spPr>
          <a:xfrm>
            <a:off x="6643116"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Merchant có margin tốt hơn; Bonbon Shop có dòng doanh thu mới (monetization).</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TRỤ CỘT 1  ·  BUYING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1"/>
                </a:solidFill>
              </a:rPr>
              <a:t>Forecast &amp; Recommend Order (3 chế độ)</a:t>
            </a:r>
            <a:endParaRPr lang="en-US" sz="3200" dirty="0"/>
          </a:p>
        </p:txBody>
      </p:sp>
      <p:sp>
        <p:nvSpPr>
          <p:cNvPr id="4" name="Shape 134"/>
          <p:cNvSpPr/>
          <p:nvPr/>
        </p:nvSpPr>
        <p:spPr>
          <a:xfrm>
            <a:off x="548640" y="1554480"/>
            <a:ext cx="3514344" cy="4709160"/>
          </a:xfrm>
          <a:prstGeom prst="roundRect">
            <a:avLst>
              <a:gd name="adj" fmla="val 2082"/>
            </a:avLst>
          </a:prstGeom>
          <a:solidFill>
            <a:schemeClr val="bg2"/>
          </a:solidFill>
          <a:ln/>
        </p:spPr>
      </p:sp>
      <p:sp>
        <p:nvSpPr>
          <p:cNvPr id="5" name="Shape 135"/>
          <p:cNvSpPr/>
          <p:nvPr/>
        </p:nvSpPr>
        <p:spPr>
          <a:xfrm>
            <a:off x="777240" y="1828800"/>
            <a:ext cx="731520" cy="731520"/>
          </a:xfrm>
          <a:prstGeom prst="ellipse">
            <a:avLst/>
          </a:prstGeom>
          <a:solidFill>
            <a:schemeClr val="accent1"/>
          </a:solidFill>
          <a:ln/>
        </p:spPr>
      </p:sp>
      <p:pic>
        <p:nvPicPr>
          <p:cNvPr id="6" name="Icon 136" descr="RedoAlt">    </p:cNvPr>
          <p:cNvPicPr>
            <a:picLocks noChangeAspect="1"/>
          </p:cNvPicPr>
          <p:nvPr/>
        </p:nvPicPr>
        <p:blipFill>
          <a:blip r:embed="rId1"/>
          <a:stretch>
            <a:fillRect/>
          </a:stretch>
        </p:blipFill>
        <p:spPr>
          <a:xfrm>
            <a:off x="960120" y="2011680"/>
            <a:ext cx="365760" cy="365760"/>
          </a:xfrm>
          <a:prstGeom prst="rect">
            <a:avLst/>
          </a:prstGeom>
        </p:spPr>
      </p:pic>
      <p:sp>
        <p:nvSpPr>
          <p:cNvPr id="7" name="Pill 137"/>
          <p:cNvSpPr/>
          <p:nvPr/>
        </p:nvSpPr>
        <p:spPr>
          <a:xfrm>
            <a:off x="1737360" y="1847088"/>
            <a:ext cx="749808" cy="292608"/>
          </a:xfrm>
          <a:prstGeom prst="roundRect">
            <a:avLst>
              <a:gd name="adj" fmla="val 53125"/>
            </a:avLst>
          </a:prstGeom>
          <a:solidFill>
            <a:schemeClr val="accent1"/>
          </a:solidFill>
          <a:ln/>
        </p:spPr>
        <p:txBody>
          <a:bodyPr wrap="square" lIns="0" tIns="0" rIns="0" bIns="0" rtlCol="0" anchor="ctr"/>
          <a:lstStyle/>
          <a:p>
            <a:pPr algn="ctr" indent="0" marL="0">
              <a:buNone/>
            </a:pPr>
            <a:r>
              <a:rPr lang="en-US" sz="1400" b="1" dirty="0">
                <a:solidFill>
                  <a:schemeClr val="bg1"/>
                </a:solidFill>
              </a:rPr>
              <a:t>1.6.1</a:t>
            </a:r>
            <a:endParaRPr lang="en-US" sz="1400" dirty="0"/>
          </a:p>
        </p:txBody>
      </p:sp>
      <p:sp>
        <p:nvSpPr>
          <p:cNvPr id="8" name="Text 138"/>
          <p:cNvSpPr txBox="1"/>
          <p:nvPr/>
        </p:nvSpPr>
        <p:spPr>
          <a:xfrm>
            <a:off x="1737360"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Repeat Last Order</a:t>
            </a:r>
            <a:endParaRPr lang="en-US" sz="1600" dirty="0"/>
          </a:p>
        </p:txBody>
      </p:sp>
      <p:sp>
        <p:nvSpPr>
          <p:cNvPr id="9" name="Text 139"/>
          <p:cNvSpPr txBox="1"/>
          <p:nvPr/>
        </p:nvSpPr>
        <p:spPr>
          <a:xfrm>
            <a:off x="777240" y="2880360"/>
            <a:ext cx="3057144" cy="1818513"/>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Widget đưa toàn bộ danh mục của đơn thành công gần nhất ra trang chủ.</a:t>
            </a:r>
            <a:endParaRPr lang="en-US" sz="1500" dirty="0"/>
          </a:p>
          <a:p>
            <a:pPr marL="177800" indent="-177800">
              <a:spcAft>
                <a:spcPts val="600"/>
              </a:spcAft>
              <a:buSzPct val="100000"/>
              <a:buChar char="•"/>
            </a:pPr>
            <a:r>
              <a:rPr lang="en-US" sz="1500" dirty="0">
                <a:solidFill>
                  <a:schemeClr val="tx1"/>
                </a:solidFill>
              </a:rPr>
              <a:t>Merchant bấm “Mua lại đơn này” chỉ với 1 thao tác.</a:t>
            </a:r>
            <a:endParaRPr lang="en-US" sz="1500" dirty="0"/>
          </a:p>
        </p:txBody>
      </p:sp>
      <p:sp>
        <p:nvSpPr>
          <p:cNvPr id="10" name="Shape 140"/>
          <p:cNvSpPr/>
          <p:nvPr/>
        </p:nvSpPr>
        <p:spPr>
          <a:xfrm>
            <a:off x="777240" y="4790313"/>
            <a:ext cx="3057144" cy="1244727"/>
          </a:xfrm>
          <a:prstGeom prst="roundRect">
            <a:avLst>
              <a:gd name="adj" fmla="val 5877"/>
            </a:avLst>
          </a:prstGeom>
          <a:solidFill>
            <a:schemeClr val="bg1"/>
          </a:solidFill>
          <a:ln/>
        </p:spPr>
      </p:sp>
      <p:sp>
        <p:nvSpPr>
          <p:cNvPr id="11" name="Text 141"/>
          <p:cNvSpPr txBox="1"/>
          <p:nvPr/>
        </p:nvSpPr>
        <p:spPr>
          <a:xfrm>
            <a:off x="960120" y="4900041"/>
            <a:ext cx="2691384" cy="201168"/>
          </a:xfrm>
          <a:prstGeom prst="rect">
            <a:avLst/>
          </a:prstGeom>
          <a:noFill/>
          <a:ln/>
        </p:spPr>
        <p:txBody>
          <a:bodyPr wrap="square" lIns="0" tIns="0" rIns="0" bIns="0" rtlCol="0" anchor="t"/>
          <a:lstStyle/>
          <a:p>
            <a:pPr indent="0" marL="0">
              <a:buNone/>
            </a:pPr>
            <a:r>
              <a:rPr lang="en-US" sz="1200" b="1" dirty="0">
                <a:solidFill>
                  <a:schemeClr val="accent1"/>
                </a:solidFill>
              </a:rPr>
              <a:t>KẾT QUẢ</a:t>
            </a:r>
            <a:endParaRPr lang="en-US" sz="1200" dirty="0"/>
          </a:p>
        </p:txBody>
      </p:sp>
      <p:sp>
        <p:nvSpPr>
          <p:cNvPr id="12" name="Text 142"/>
          <p:cNvSpPr txBox="1"/>
          <p:nvPr/>
        </p:nvSpPr>
        <p:spPr>
          <a:xfrm>
            <a:off x="960120" y="5137785"/>
            <a:ext cx="2691384" cy="805815"/>
          </a:xfrm>
          <a:prstGeom prst="rect">
            <a:avLst/>
          </a:prstGeom>
          <a:noFill/>
          <a:ln/>
        </p:spPr>
        <p:txBody>
          <a:bodyPr wrap="square" lIns="0" tIns="0" rIns="0" bIns="0" rtlCol="0" anchor="t"/>
          <a:lstStyle/>
          <a:p>
            <a:pPr indent="0" marL="0">
              <a:buNone/>
            </a:pPr>
            <a:r>
              <a:rPr lang="en-US" sz="1500" dirty="0">
                <a:solidFill>
                  <a:schemeClr val="tx1"/>
                </a:solidFill>
              </a:rPr>
              <a:t>Re-order 1 chạm, không phải tìm lại từng SKU.</a:t>
            </a:r>
            <a:endParaRPr lang="en-US" sz="1500" dirty="0"/>
          </a:p>
        </p:txBody>
      </p:sp>
      <p:sp>
        <p:nvSpPr>
          <p:cNvPr id="13" name="Shape 143"/>
          <p:cNvSpPr/>
          <p:nvPr/>
        </p:nvSpPr>
        <p:spPr>
          <a:xfrm>
            <a:off x="4337304" y="1554480"/>
            <a:ext cx="3514344" cy="4709160"/>
          </a:xfrm>
          <a:prstGeom prst="roundRect">
            <a:avLst>
              <a:gd name="adj" fmla="val 2082"/>
            </a:avLst>
          </a:prstGeom>
          <a:solidFill>
            <a:schemeClr val="bg2"/>
          </a:solidFill>
          <a:ln/>
        </p:spPr>
      </p:sp>
      <p:sp>
        <p:nvSpPr>
          <p:cNvPr id="14" name="Shape 144"/>
          <p:cNvSpPr/>
          <p:nvPr/>
        </p:nvSpPr>
        <p:spPr>
          <a:xfrm>
            <a:off x="4565904" y="1828800"/>
            <a:ext cx="731520" cy="731520"/>
          </a:xfrm>
          <a:prstGeom prst="ellipse">
            <a:avLst/>
          </a:prstGeom>
          <a:solidFill>
            <a:schemeClr val="accent1"/>
          </a:solidFill>
          <a:ln/>
        </p:spPr>
      </p:sp>
      <p:pic>
        <p:nvPicPr>
          <p:cNvPr id="15" name="Icon 145" descr="ChartLine">    </p:cNvPr>
          <p:cNvPicPr>
            <a:picLocks noChangeAspect="1"/>
          </p:cNvPicPr>
          <p:nvPr/>
        </p:nvPicPr>
        <p:blipFill>
          <a:blip r:embed="rId2"/>
          <a:stretch>
            <a:fillRect/>
          </a:stretch>
        </p:blipFill>
        <p:spPr>
          <a:xfrm>
            <a:off x="4748784" y="2011680"/>
            <a:ext cx="365760" cy="365760"/>
          </a:xfrm>
          <a:prstGeom prst="rect">
            <a:avLst/>
          </a:prstGeom>
        </p:spPr>
      </p:pic>
      <p:sp>
        <p:nvSpPr>
          <p:cNvPr id="16" name="Pill 146"/>
          <p:cNvSpPr/>
          <p:nvPr/>
        </p:nvSpPr>
        <p:spPr>
          <a:xfrm>
            <a:off x="5526024" y="1847088"/>
            <a:ext cx="749808" cy="292608"/>
          </a:xfrm>
          <a:prstGeom prst="roundRect">
            <a:avLst>
              <a:gd name="adj" fmla="val 53125"/>
            </a:avLst>
          </a:prstGeom>
          <a:solidFill>
            <a:schemeClr val="accent1"/>
          </a:solidFill>
          <a:ln/>
        </p:spPr>
        <p:txBody>
          <a:bodyPr wrap="square" lIns="0" tIns="0" rIns="0" bIns="0" rtlCol="0" anchor="ctr"/>
          <a:lstStyle/>
          <a:p>
            <a:pPr algn="ctr" indent="0" marL="0">
              <a:buNone/>
            </a:pPr>
            <a:r>
              <a:rPr lang="en-US" sz="1400" b="1" dirty="0">
                <a:solidFill>
                  <a:schemeClr val="bg1"/>
                </a:solidFill>
              </a:rPr>
              <a:t>1.6.2</a:t>
            </a:r>
            <a:endParaRPr lang="en-US" sz="1400" dirty="0"/>
          </a:p>
        </p:txBody>
      </p:sp>
      <p:sp>
        <p:nvSpPr>
          <p:cNvPr id="17" name="Text 147"/>
          <p:cNvSpPr txBox="1"/>
          <p:nvPr/>
        </p:nvSpPr>
        <p:spPr>
          <a:xfrm>
            <a:off x="5526024"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Depletion Rate Forecasting</a:t>
            </a:r>
            <a:endParaRPr lang="en-US" sz="1600" dirty="0"/>
          </a:p>
        </p:txBody>
      </p:sp>
      <p:sp>
        <p:nvSpPr>
          <p:cNvPr id="18" name="Text 148"/>
          <p:cNvSpPr txBox="1"/>
          <p:nvPr/>
        </p:nvSpPr>
        <p:spPr>
          <a:xfrm>
            <a:off x="4565904" y="2880360"/>
            <a:ext cx="3057144" cy="1818513"/>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Dựa trên lịch sử nhập và tốc độ xoay vòng vốn trung bình của tiệm.</a:t>
            </a:r>
            <a:endParaRPr lang="en-US" sz="1500" dirty="0"/>
          </a:p>
          <a:p>
            <a:pPr marL="177800" indent="-177800">
              <a:spcAft>
                <a:spcPts val="600"/>
              </a:spcAft>
              <a:buSzPct val="100000"/>
              <a:buChar char="•"/>
            </a:pPr>
            <a:r>
              <a:rPr lang="en-US" sz="1500" dirty="0">
                <a:solidFill>
                  <a:schemeClr val="tx1"/>
                </a:solidFill>
              </a:rPr>
              <a:t>Tự tính thời điểm sắp hết hàng, gửi thông báo kèm pre-filled cart.</a:t>
            </a:r>
            <a:endParaRPr lang="en-US" sz="1500" dirty="0"/>
          </a:p>
        </p:txBody>
      </p:sp>
      <p:sp>
        <p:nvSpPr>
          <p:cNvPr id="19" name="Shape 149"/>
          <p:cNvSpPr/>
          <p:nvPr/>
        </p:nvSpPr>
        <p:spPr>
          <a:xfrm>
            <a:off x="4565904" y="4790313"/>
            <a:ext cx="3057144" cy="1244727"/>
          </a:xfrm>
          <a:prstGeom prst="roundRect">
            <a:avLst>
              <a:gd name="adj" fmla="val 5877"/>
            </a:avLst>
          </a:prstGeom>
          <a:solidFill>
            <a:schemeClr val="bg1"/>
          </a:solidFill>
          <a:ln/>
        </p:spPr>
      </p:sp>
      <p:sp>
        <p:nvSpPr>
          <p:cNvPr id="20" name="Text 150"/>
          <p:cNvSpPr txBox="1"/>
          <p:nvPr/>
        </p:nvSpPr>
        <p:spPr>
          <a:xfrm>
            <a:off x="4748784" y="4900041"/>
            <a:ext cx="2691384" cy="201168"/>
          </a:xfrm>
          <a:prstGeom prst="rect">
            <a:avLst/>
          </a:prstGeom>
          <a:noFill/>
          <a:ln/>
        </p:spPr>
        <p:txBody>
          <a:bodyPr wrap="square" lIns="0" tIns="0" rIns="0" bIns="0" rtlCol="0" anchor="t"/>
          <a:lstStyle/>
          <a:p>
            <a:pPr indent="0" marL="0">
              <a:buNone/>
            </a:pPr>
            <a:r>
              <a:rPr lang="en-US" sz="1200" b="1" dirty="0">
                <a:solidFill>
                  <a:schemeClr val="accent1"/>
                </a:solidFill>
              </a:rPr>
              <a:t>VÍ DỤ</a:t>
            </a:r>
            <a:endParaRPr lang="en-US" sz="1200" dirty="0"/>
          </a:p>
        </p:txBody>
      </p:sp>
      <p:sp>
        <p:nvSpPr>
          <p:cNvPr id="21" name="Text 151"/>
          <p:cNvSpPr txBox="1"/>
          <p:nvPr/>
        </p:nvSpPr>
        <p:spPr>
          <a:xfrm>
            <a:off x="4748784" y="5137785"/>
            <a:ext cx="2691384" cy="805815"/>
          </a:xfrm>
          <a:prstGeom prst="rect">
            <a:avLst/>
          </a:prstGeom>
          <a:noFill/>
          <a:ln/>
        </p:spPr>
        <p:txBody>
          <a:bodyPr wrap="square" lIns="0" tIns="0" rIns="0" bIns="0" rtlCol="0" anchor="t"/>
          <a:lstStyle/>
          <a:p>
            <a:pPr indent="0" marL="0">
              <a:buNone/>
            </a:pPr>
            <a:r>
              <a:rPr lang="en-US" sz="1500" dirty="0">
                <a:solidFill>
                  <a:schemeClr val="tx1"/>
                </a:solidFill>
              </a:rPr>
              <a:t>“Đã 7 ngày kể từ lần cuối nhập dầu ăn, lên đơn ngay để hàng về trước cuối tuần.”</a:t>
            </a:r>
            <a:endParaRPr lang="en-US" sz="1500" dirty="0"/>
          </a:p>
        </p:txBody>
      </p:sp>
      <p:sp>
        <p:nvSpPr>
          <p:cNvPr id="22" name="Shape 152"/>
          <p:cNvSpPr/>
          <p:nvPr/>
        </p:nvSpPr>
        <p:spPr>
          <a:xfrm>
            <a:off x="8125968" y="1554480"/>
            <a:ext cx="3514344" cy="4709160"/>
          </a:xfrm>
          <a:prstGeom prst="roundRect">
            <a:avLst>
              <a:gd name="adj" fmla="val 2082"/>
            </a:avLst>
          </a:prstGeom>
          <a:solidFill>
            <a:schemeClr val="bg2"/>
          </a:solidFill>
          <a:ln/>
        </p:spPr>
      </p:sp>
      <p:sp>
        <p:nvSpPr>
          <p:cNvPr id="23" name="Shape 153"/>
          <p:cNvSpPr/>
          <p:nvPr/>
        </p:nvSpPr>
        <p:spPr>
          <a:xfrm>
            <a:off x="8354568" y="1828800"/>
            <a:ext cx="731520" cy="731520"/>
          </a:xfrm>
          <a:prstGeom prst="ellipse">
            <a:avLst/>
          </a:prstGeom>
          <a:solidFill>
            <a:schemeClr val="accent1"/>
          </a:solidFill>
          <a:ln/>
        </p:spPr>
      </p:sp>
      <p:pic>
        <p:nvPicPr>
          <p:cNvPr id="24" name="Icon 154" descr="Gift">    </p:cNvPr>
          <p:cNvPicPr>
            <a:picLocks noChangeAspect="1"/>
          </p:cNvPicPr>
          <p:nvPr/>
        </p:nvPicPr>
        <p:blipFill>
          <a:blip r:embed="rId3"/>
          <a:stretch>
            <a:fillRect/>
          </a:stretch>
        </p:blipFill>
        <p:spPr>
          <a:xfrm>
            <a:off x="8537448" y="2011680"/>
            <a:ext cx="365760" cy="365760"/>
          </a:xfrm>
          <a:prstGeom prst="rect">
            <a:avLst/>
          </a:prstGeom>
        </p:spPr>
      </p:pic>
      <p:sp>
        <p:nvSpPr>
          <p:cNvPr id="25" name="Pill 155"/>
          <p:cNvSpPr/>
          <p:nvPr/>
        </p:nvSpPr>
        <p:spPr>
          <a:xfrm>
            <a:off x="9314688" y="1847088"/>
            <a:ext cx="749808" cy="292608"/>
          </a:xfrm>
          <a:prstGeom prst="roundRect">
            <a:avLst>
              <a:gd name="adj" fmla="val 53125"/>
            </a:avLst>
          </a:prstGeom>
          <a:solidFill>
            <a:schemeClr val="accent1"/>
          </a:solidFill>
          <a:ln/>
        </p:spPr>
        <p:txBody>
          <a:bodyPr wrap="square" lIns="0" tIns="0" rIns="0" bIns="0" rtlCol="0" anchor="ctr"/>
          <a:lstStyle/>
          <a:p>
            <a:pPr algn="ctr" indent="0" marL="0">
              <a:buNone/>
            </a:pPr>
            <a:r>
              <a:rPr lang="en-US" sz="1400" b="1" dirty="0">
                <a:solidFill>
                  <a:schemeClr val="bg1"/>
                </a:solidFill>
              </a:rPr>
              <a:t>1.6.3</a:t>
            </a:r>
            <a:endParaRPr lang="en-US" sz="1400" dirty="0"/>
          </a:p>
        </p:txBody>
      </p:sp>
      <p:sp>
        <p:nvSpPr>
          <p:cNvPr id="26" name="Text 156"/>
          <p:cNvSpPr txBox="1"/>
          <p:nvPr/>
        </p:nvSpPr>
        <p:spPr>
          <a:xfrm>
            <a:off x="9314688"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Seasonal Order Suggestion</a:t>
            </a:r>
            <a:endParaRPr lang="en-US" sz="1600" dirty="0"/>
          </a:p>
        </p:txBody>
      </p:sp>
      <p:sp>
        <p:nvSpPr>
          <p:cNvPr id="27" name="Text 157"/>
          <p:cNvSpPr txBox="1"/>
          <p:nvPr/>
        </p:nvSpPr>
        <p:spPr>
          <a:xfrm>
            <a:off x="8354568" y="2880360"/>
            <a:ext cx="3057144" cy="1818513"/>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Chủ động đẩy Order Template đón đầu dịp đặc biệt.</a:t>
            </a:r>
            <a:endParaRPr lang="en-US" sz="1500" dirty="0"/>
          </a:p>
          <a:p>
            <a:pPr marL="177800" indent="-177800">
              <a:spcAft>
                <a:spcPts val="600"/>
              </a:spcAft>
              <a:buSzPct val="100000"/>
              <a:buChar char="•"/>
            </a:pPr>
            <a:r>
              <a:rPr lang="en-US" sz="1500" dirty="0">
                <a:solidFill>
                  <a:schemeClr val="tx1"/>
                </a:solidFill>
              </a:rPr>
              <a:t>Bánh kẹo/mứt/bia trước Tết 1 tháng; nước giải khát/kem trước đợt nắng nóng; đồ dùng học tập trước mùa tựu trường.</a:t>
            </a:r>
            <a:endParaRPr lang="en-US" sz="1500" dirty="0"/>
          </a:p>
        </p:txBody>
      </p:sp>
      <p:sp>
        <p:nvSpPr>
          <p:cNvPr id="28" name="Shape 158"/>
          <p:cNvSpPr/>
          <p:nvPr/>
        </p:nvSpPr>
        <p:spPr>
          <a:xfrm>
            <a:off x="8354568" y="4790313"/>
            <a:ext cx="3057144" cy="1244727"/>
          </a:xfrm>
          <a:prstGeom prst="roundRect">
            <a:avLst>
              <a:gd name="adj" fmla="val 5877"/>
            </a:avLst>
          </a:prstGeom>
          <a:solidFill>
            <a:schemeClr val="bg1"/>
          </a:solidFill>
          <a:ln/>
        </p:spPr>
      </p:sp>
      <p:sp>
        <p:nvSpPr>
          <p:cNvPr id="29" name="Text 159"/>
          <p:cNvSpPr txBox="1"/>
          <p:nvPr/>
        </p:nvSpPr>
        <p:spPr>
          <a:xfrm>
            <a:off x="8537448" y="4900041"/>
            <a:ext cx="2691384" cy="201168"/>
          </a:xfrm>
          <a:prstGeom prst="rect">
            <a:avLst/>
          </a:prstGeom>
          <a:noFill/>
          <a:ln/>
        </p:spPr>
        <p:txBody>
          <a:bodyPr wrap="square" lIns="0" tIns="0" rIns="0" bIns="0" rtlCol="0" anchor="t"/>
          <a:lstStyle/>
          <a:p>
            <a:pPr indent="0" marL="0">
              <a:buNone/>
            </a:pPr>
            <a:r>
              <a:rPr lang="en-US" sz="1200" b="1" dirty="0">
                <a:solidFill>
                  <a:schemeClr val="accent1"/>
                </a:solidFill>
              </a:rPr>
              <a:t>GIÁ TRỊ</a:t>
            </a:r>
            <a:endParaRPr lang="en-US" sz="1200" dirty="0"/>
          </a:p>
        </p:txBody>
      </p:sp>
      <p:sp>
        <p:nvSpPr>
          <p:cNvPr id="30" name="Text 160"/>
          <p:cNvSpPr txBox="1"/>
          <p:nvPr/>
        </p:nvSpPr>
        <p:spPr>
          <a:xfrm>
            <a:off x="8537448" y="5137785"/>
            <a:ext cx="2691384" cy="805815"/>
          </a:xfrm>
          <a:prstGeom prst="rect">
            <a:avLst/>
          </a:prstGeom>
          <a:noFill/>
          <a:ln/>
        </p:spPr>
        <p:txBody>
          <a:bodyPr wrap="square" lIns="0" tIns="0" rIns="0" bIns="0" rtlCol="0" anchor="t"/>
          <a:lstStyle/>
          <a:p>
            <a:pPr indent="0" marL="0">
              <a:buNone/>
            </a:pPr>
            <a:r>
              <a:rPr lang="en-US" sz="1500" dirty="0">
                <a:solidFill>
                  <a:schemeClr val="tx1"/>
                </a:solidFill>
              </a:rPr>
              <a:t>Số hóa vai trò “nhắc đơn” của Sales, biến app thành trợ lý nhập hàng tự động.</a:t>
            </a:r>
            <a:endParaRPr lang="en-US" sz="15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TRỤ CỘT 1  ·  BUYING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1"/>
                </a:solidFill>
              </a:rPr>
              <a:t>Flash-Sale &amp; Brand Dedicated Storefront</a:t>
            </a:r>
            <a:endParaRPr lang="en-US" sz="3200" dirty="0"/>
          </a:p>
        </p:txBody>
      </p:sp>
      <p:sp>
        <p:nvSpPr>
          <p:cNvPr id="4" name="Shape 161"/>
          <p:cNvSpPr/>
          <p:nvPr/>
        </p:nvSpPr>
        <p:spPr>
          <a:xfrm>
            <a:off x="548640" y="1554480"/>
            <a:ext cx="5408676" cy="4709160"/>
          </a:xfrm>
          <a:prstGeom prst="roundRect">
            <a:avLst>
              <a:gd name="adj" fmla="val 1553"/>
            </a:avLst>
          </a:prstGeom>
          <a:solidFill>
            <a:schemeClr val="bg2"/>
          </a:solidFill>
          <a:ln/>
        </p:spPr>
      </p:sp>
      <p:sp>
        <p:nvSpPr>
          <p:cNvPr id="5" name="Pill 162"/>
          <p:cNvSpPr/>
          <p:nvPr/>
        </p:nvSpPr>
        <p:spPr>
          <a:xfrm>
            <a:off x="777240"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1.7</a:t>
            </a:r>
            <a:endParaRPr lang="en-US" sz="1400" dirty="0"/>
          </a:p>
        </p:txBody>
      </p:sp>
      <p:sp>
        <p:nvSpPr>
          <p:cNvPr id="6" name="Text 163"/>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Flash-Sales &amp; Exclusive Vouchers</a:t>
            </a:r>
            <a:endParaRPr lang="en-US" sz="1800" dirty="0"/>
          </a:p>
        </p:txBody>
      </p:sp>
      <p:sp>
        <p:nvSpPr>
          <p:cNvPr id="7" name="Shape 164"/>
          <p:cNvSpPr/>
          <p:nvPr/>
        </p:nvSpPr>
        <p:spPr>
          <a:xfrm>
            <a:off x="777240" y="2331720"/>
            <a:ext cx="4951476" cy="1280160"/>
          </a:xfrm>
          <a:prstGeom prst="roundRect">
            <a:avLst>
              <a:gd name="adj" fmla="val 5714"/>
            </a:avLst>
          </a:prstGeom>
          <a:solidFill>
            <a:schemeClr val="bg1"/>
          </a:solidFill>
          <a:ln/>
        </p:spPr>
      </p:sp>
      <p:sp>
        <p:nvSpPr>
          <p:cNvPr id="8" name="Shape 165"/>
          <p:cNvSpPr/>
          <p:nvPr/>
        </p:nvSpPr>
        <p:spPr>
          <a:xfrm>
            <a:off x="1333652" y="2474366"/>
            <a:ext cx="537667" cy="537667"/>
          </a:xfrm>
          <a:prstGeom prst="ellipse">
            <a:avLst/>
          </a:prstGeom>
          <a:solidFill>
            <a:schemeClr val="accent1"/>
          </a:solidFill>
          <a:ln/>
        </p:spPr>
      </p:sp>
      <p:pic>
        <p:nvPicPr>
          <p:cNvPr id="9" name="Icon 166" descr="Bolt">    </p:cNvPr>
          <p:cNvPicPr>
            <a:picLocks noChangeAspect="1"/>
          </p:cNvPicPr>
          <p:nvPr/>
        </p:nvPicPr>
        <p:blipFill>
          <a:blip r:embed="rId1"/>
          <a:stretch>
            <a:fillRect/>
          </a:stretch>
        </p:blipFill>
        <p:spPr>
          <a:xfrm>
            <a:off x="1468069" y="2608783"/>
            <a:ext cx="268834" cy="268834"/>
          </a:xfrm>
          <a:prstGeom prst="rect">
            <a:avLst/>
          </a:prstGeom>
        </p:spPr>
      </p:pic>
      <p:sp>
        <p:nvSpPr>
          <p:cNvPr id="10" name="Text 167"/>
          <p:cNvSpPr txBox="1"/>
          <p:nvPr/>
        </p:nvSpPr>
        <p:spPr>
          <a:xfrm>
            <a:off x="85039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Flash-sale giờ cố định</a:t>
            </a:r>
            <a:endParaRPr lang="en-US" sz="1200" dirty="0"/>
          </a:p>
        </p:txBody>
      </p:sp>
      <p:pic>
        <p:nvPicPr>
          <p:cNvPr id="11" name="Icon 168" descr="ChevronRight">    </p:cNvPr>
          <p:cNvPicPr>
            <a:picLocks noChangeAspect="1"/>
          </p:cNvPicPr>
          <p:nvPr/>
        </p:nvPicPr>
        <p:blipFill>
          <a:blip r:embed="rId2"/>
          <a:stretch>
            <a:fillRect/>
          </a:stretch>
        </p:blipFill>
        <p:spPr>
          <a:xfrm>
            <a:off x="2318004" y="2633472"/>
            <a:ext cx="219456" cy="219456"/>
          </a:xfrm>
          <a:prstGeom prst="rect">
            <a:avLst/>
          </a:prstGeom>
        </p:spPr>
      </p:pic>
      <p:sp>
        <p:nvSpPr>
          <p:cNvPr id="12" name="Shape 169"/>
          <p:cNvSpPr/>
          <p:nvPr/>
        </p:nvSpPr>
        <p:spPr>
          <a:xfrm>
            <a:off x="2984144" y="2474366"/>
            <a:ext cx="537667" cy="537667"/>
          </a:xfrm>
          <a:prstGeom prst="ellipse">
            <a:avLst/>
          </a:prstGeom>
          <a:solidFill>
            <a:schemeClr val="accent1"/>
          </a:solidFill>
          <a:ln/>
        </p:spPr>
      </p:sp>
      <p:pic>
        <p:nvPicPr>
          <p:cNvPr id="13" name="Icon 170" descr="Tag">    </p:cNvPr>
          <p:cNvPicPr>
            <a:picLocks noChangeAspect="1"/>
          </p:cNvPicPr>
          <p:nvPr/>
        </p:nvPicPr>
        <p:blipFill>
          <a:blip r:embed="rId3"/>
          <a:stretch>
            <a:fillRect/>
          </a:stretch>
        </p:blipFill>
        <p:spPr>
          <a:xfrm>
            <a:off x="3118561" y="2608783"/>
            <a:ext cx="268834" cy="268834"/>
          </a:xfrm>
          <a:prstGeom prst="rect">
            <a:avLst/>
          </a:prstGeom>
        </p:spPr>
      </p:pic>
      <p:sp>
        <p:nvSpPr>
          <p:cNvPr id="14" name="Text 171"/>
          <p:cNvSpPr txBox="1"/>
          <p:nvPr/>
        </p:nvSpPr>
        <p:spPr>
          <a:xfrm>
            <a:off x="2500884"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Voucher Hub</a:t>
            </a:r>
            <a:endParaRPr lang="en-US" sz="1200" dirty="0"/>
          </a:p>
        </p:txBody>
      </p:sp>
      <p:pic>
        <p:nvPicPr>
          <p:cNvPr id="15" name="Icon 172" descr="ChevronRight">    </p:cNvPr>
          <p:cNvPicPr>
            <a:picLocks noChangeAspect="1"/>
          </p:cNvPicPr>
          <p:nvPr/>
        </p:nvPicPr>
        <p:blipFill>
          <a:blip r:embed="rId4"/>
          <a:stretch>
            <a:fillRect/>
          </a:stretch>
        </p:blipFill>
        <p:spPr>
          <a:xfrm>
            <a:off x="3968496" y="2633472"/>
            <a:ext cx="219456" cy="219456"/>
          </a:xfrm>
          <a:prstGeom prst="rect">
            <a:avLst/>
          </a:prstGeom>
        </p:spPr>
      </p:pic>
      <p:sp>
        <p:nvSpPr>
          <p:cNvPr id="16" name="Shape 173"/>
          <p:cNvSpPr/>
          <p:nvPr/>
        </p:nvSpPr>
        <p:spPr>
          <a:xfrm>
            <a:off x="4634636" y="2474366"/>
            <a:ext cx="537667" cy="537667"/>
          </a:xfrm>
          <a:prstGeom prst="ellipse">
            <a:avLst/>
          </a:prstGeom>
          <a:solidFill>
            <a:schemeClr val="accent1"/>
          </a:solidFill>
          <a:ln/>
        </p:spPr>
      </p:sp>
      <p:pic>
        <p:nvPicPr>
          <p:cNvPr id="17" name="Icon 174" descr="MobileAlt">    </p:cNvPr>
          <p:cNvPicPr>
            <a:picLocks noChangeAspect="1"/>
          </p:cNvPicPr>
          <p:nvPr/>
        </p:nvPicPr>
        <p:blipFill>
          <a:blip r:embed="rId5"/>
          <a:stretch>
            <a:fillRect/>
          </a:stretch>
        </p:blipFill>
        <p:spPr>
          <a:xfrm>
            <a:off x="4769053" y="2608783"/>
            <a:ext cx="268834" cy="268834"/>
          </a:xfrm>
          <a:prstGeom prst="rect">
            <a:avLst/>
          </a:prstGeom>
        </p:spPr>
      </p:pic>
      <p:sp>
        <p:nvSpPr>
          <p:cNvPr id="18" name="Text 175"/>
          <p:cNvSpPr txBox="1"/>
          <p:nvPr/>
        </p:nvSpPr>
        <p:spPr>
          <a:xfrm>
            <a:off x="4151376"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Tự đặt trên app</a:t>
            </a:r>
            <a:endParaRPr lang="en-US" sz="1200" dirty="0"/>
          </a:p>
        </p:txBody>
      </p:sp>
      <p:sp>
        <p:nvSpPr>
          <p:cNvPr id="19" name="Text 176"/>
          <p:cNvSpPr txBox="1"/>
          <p:nvPr/>
        </p:nvSpPr>
        <p:spPr>
          <a:xfrm>
            <a:off x="777240"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Flash-sale khung giờ cố định (ví dụ 10h sáng Thứ Ba &amp; Thứ Năm), số suất giới hạn mỗi điểm bán.</a:t>
            </a:r>
            <a:endParaRPr lang="en-US" sz="1400" dirty="0"/>
          </a:p>
          <a:p>
            <a:pPr marL="177800" indent="-177800">
              <a:spcAft>
                <a:spcPts val="600"/>
              </a:spcAft>
              <a:buSzPct val="100000"/>
              <a:buChar char="•"/>
            </a:pPr>
            <a:r>
              <a:rPr lang="en-US" sz="1400" dirty="0">
                <a:solidFill>
                  <a:schemeClr val="tx1"/>
                </a:solidFill>
              </a:rPr>
              <a:t>Voucher Hub: giảm trực tiếp vào đơn, hoàn tiền về ví, hỗ trợ cước vận chuyển; Sales không được áp hộ.</a:t>
            </a:r>
            <a:endParaRPr lang="en-US" sz="1400" dirty="0"/>
          </a:p>
        </p:txBody>
      </p:sp>
      <p:sp>
        <p:nvSpPr>
          <p:cNvPr id="20" name="Shape 177"/>
          <p:cNvSpPr/>
          <p:nvPr/>
        </p:nvSpPr>
        <p:spPr>
          <a:xfrm>
            <a:off x="777240" y="5060188"/>
            <a:ext cx="4951476" cy="974852"/>
          </a:xfrm>
          <a:prstGeom prst="roundRect">
            <a:avLst>
              <a:gd name="adj" fmla="val 7504"/>
            </a:avLst>
          </a:prstGeom>
          <a:solidFill>
            <a:schemeClr val="bg1"/>
          </a:solidFill>
          <a:ln/>
        </p:spPr>
      </p:sp>
      <p:sp>
        <p:nvSpPr>
          <p:cNvPr id="21" name="Text 178"/>
          <p:cNvSpPr txBox="1"/>
          <p:nvPr/>
        </p:nvSpPr>
        <p:spPr>
          <a:xfrm>
            <a:off x="960120" y="5169916"/>
            <a:ext cx="4585716" cy="201168"/>
          </a:xfrm>
          <a:prstGeom prst="rect">
            <a:avLst/>
          </a:prstGeom>
          <a:noFill/>
          <a:ln/>
        </p:spPr>
        <p:txBody>
          <a:bodyPr wrap="square" lIns="0" tIns="0" rIns="0" bIns="0" rtlCol="0" anchor="t"/>
          <a:lstStyle/>
          <a:p>
            <a:pPr indent="0" marL="0">
              <a:buNone/>
            </a:pPr>
            <a:r>
              <a:rPr lang="en-US" sz="1200" b="1" dirty="0">
                <a:solidFill>
                  <a:schemeClr val="accent1"/>
                </a:solidFill>
              </a:rPr>
              <a:t>GIÁ TRỊ</a:t>
            </a:r>
            <a:endParaRPr lang="en-US" sz="1200" dirty="0"/>
          </a:p>
        </p:txBody>
      </p:sp>
      <p:sp>
        <p:nvSpPr>
          <p:cNvPr id="22" name="Text 179"/>
          <p:cNvSpPr txBox="1"/>
          <p:nvPr/>
        </p:nvSpPr>
        <p:spPr>
          <a:xfrm>
            <a:off x="960120"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Gọi Sales hay bấm app cùng giá thì Merchant chọn gọi Sales; ưu đãi độc quyền tạo động lực tự đặt.</a:t>
            </a:r>
            <a:endParaRPr lang="en-US" sz="1400" dirty="0"/>
          </a:p>
        </p:txBody>
      </p:sp>
      <p:sp>
        <p:nvSpPr>
          <p:cNvPr id="23" name="Shape 180"/>
          <p:cNvSpPr/>
          <p:nvPr/>
        </p:nvSpPr>
        <p:spPr>
          <a:xfrm>
            <a:off x="6231636" y="1554480"/>
            <a:ext cx="5408676" cy="4709160"/>
          </a:xfrm>
          <a:prstGeom prst="roundRect">
            <a:avLst>
              <a:gd name="adj" fmla="val 1553"/>
            </a:avLst>
          </a:prstGeom>
          <a:solidFill>
            <a:schemeClr val="bg2"/>
          </a:solidFill>
          <a:ln/>
        </p:spPr>
      </p:sp>
      <p:sp>
        <p:nvSpPr>
          <p:cNvPr id="24" name="Pill 181"/>
          <p:cNvSpPr/>
          <p:nvPr/>
        </p:nvSpPr>
        <p:spPr>
          <a:xfrm>
            <a:off x="6460236" y="1828800"/>
            <a:ext cx="566928"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dirty="0">
                <a:solidFill>
                  <a:schemeClr val="bg1"/>
                </a:solidFill>
              </a:rPr>
              <a:t>1.8</a:t>
            </a:r>
            <a:endParaRPr lang="en-US" sz="1400" dirty="0"/>
          </a:p>
        </p:txBody>
      </p:sp>
      <p:sp>
        <p:nvSpPr>
          <p:cNvPr id="25" name="Text 182"/>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Brand Dedicated Storefront</a:t>
            </a:r>
            <a:endParaRPr lang="en-US" sz="1800" dirty="0"/>
          </a:p>
        </p:txBody>
      </p:sp>
      <p:sp>
        <p:nvSpPr>
          <p:cNvPr id="26" name="Shape 183"/>
          <p:cNvSpPr/>
          <p:nvPr/>
        </p:nvSpPr>
        <p:spPr>
          <a:xfrm>
            <a:off x="6460236" y="2331720"/>
            <a:ext cx="4951476" cy="1280160"/>
          </a:xfrm>
          <a:prstGeom prst="roundRect">
            <a:avLst>
              <a:gd name="adj" fmla="val 5714"/>
            </a:avLst>
          </a:prstGeom>
          <a:solidFill>
            <a:schemeClr val="bg1"/>
          </a:solidFill>
          <a:ln/>
        </p:spPr>
      </p:sp>
      <p:sp>
        <p:nvSpPr>
          <p:cNvPr id="27" name="Shape 184"/>
          <p:cNvSpPr/>
          <p:nvPr/>
        </p:nvSpPr>
        <p:spPr>
          <a:xfrm>
            <a:off x="7016648" y="2474366"/>
            <a:ext cx="537667" cy="537667"/>
          </a:xfrm>
          <a:prstGeom prst="ellipse">
            <a:avLst/>
          </a:prstGeom>
          <a:solidFill>
            <a:schemeClr val="accent1"/>
          </a:solidFill>
          <a:ln/>
        </p:spPr>
      </p:sp>
      <p:pic>
        <p:nvPicPr>
          <p:cNvPr id="28" name="Icon 185" descr="Users">    </p:cNvPr>
          <p:cNvPicPr>
            <a:picLocks noChangeAspect="1"/>
          </p:cNvPicPr>
          <p:nvPr/>
        </p:nvPicPr>
        <p:blipFill>
          <a:blip r:embed="rId6"/>
          <a:stretch>
            <a:fillRect/>
          </a:stretch>
        </p:blipFill>
        <p:spPr>
          <a:xfrm>
            <a:off x="7151065" y="2608783"/>
            <a:ext cx="268834" cy="268834"/>
          </a:xfrm>
          <a:prstGeom prst="rect">
            <a:avLst/>
          </a:prstGeom>
        </p:spPr>
      </p:pic>
      <p:sp>
        <p:nvSpPr>
          <p:cNvPr id="29" name="Text 186"/>
          <p:cNvSpPr txBox="1"/>
          <p:nvPr/>
        </p:nvSpPr>
        <p:spPr>
          <a:xfrm>
            <a:off x="6533388"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Tài khoản franchise</a:t>
            </a:r>
            <a:endParaRPr lang="en-US" sz="1200" dirty="0"/>
          </a:p>
        </p:txBody>
      </p:sp>
      <p:pic>
        <p:nvPicPr>
          <p:cNvPr id="30" name="Icon 187" descr="ChevronRight">    </p:cNvPr>
          <p:cNvPicPr>
            <a:picLocks noChangeAspect="1"/>
          </p:cNvPicPr>
          <p:nvPr/>
        </p:nvPicPr>
        <p:blipFill>
          <a:blip r:embed="rId7"/>
          <a:stretch>
            <a:fillRect/>
          </a:stretch>
        </p:blipFill>
        <p:spPr>
          <a:xfrm>
            <a:off x="8001000" y="2633472"/>
            <a:ext cx="219456" cy="219456"/>
          </a:xfrm>
          <a:prstGeom prst="rect">
            <a:avLst/>
          </a:prstGeom>
        </p:spPr>
      </p:pic>
      <p:sp>
        <p:nvSpPr>
          <p:cNvPr id="31" name="Shape 188"/>
          <p:cNvSpPr/>
          <p:nvPr/>
        </p:nvSpPr>
        <p:spPr>
          <a:xfrm>
            <a:off x="8667140" y="2474366"/>
            <a:ext cx="537667" cy="537667"/>
          </a:xfrm>
          <a:prstGeom prst="ellipse">
            <a:avLst/>
          </a:prstGeom>
          <a:solidFill>
            <a:schemeClr val="accent1"/>
          </a:solidFill>
          <a:ln/>
        </p:spPr>
      </p:sp>
      <p:pic>
        <p:nvPicPr>
          <p:cNvPr id="32" name="Icon 189" descr="LayerGroup">    </p:cNvPr>
          <p:cNvPicPr>
            <a:picLocks noChangeAspect="1"/>
          </p:cNvPicPr>
          <p:nvPr/>
        </p:nvPicPr>
        <p:blipFill>
          <a:blip r:embed="rId8"/>
          <a:stretch>
            <a:fillRect/>
          </a:stretch>
        </p:blipFill>
        <p:spPr>
          <a:xfrm>
            <a:off x="8801557" y="2608783"/>
            <a:ext cx="268834" cy="268834"/>
          </a:xfrm>
          <a:prstGeom prst="rect">
            <a:avLst/>
          </a:prstGeom>
        </p:spPr>
      </p:pic>
      <p:sp>
        <p:nvSpPr>
          <p:cNvPr id="33" name="Text 190"/>
          <p:cNvSpPr txBox="1"/>
          <p:nvPr/>
        </p:nvSpPr>
        <p:spPr>
          <a:xfrm>
            <a:off x="8183880"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Segmentation</a:t>
            </a:r>
            <a:endParaRPr lang="en-US" sz="1200" dirty="0"/>
          </a:p>
        </p:txBody>
      </p:sp>
      <p:pic>
        <p:nvPicPr>
          <p:cNvPr id="34" name="Icon 191" descr="ChevronRight">    </p:cNvPr>
          <p:cNvPicPr>
            <a:picLocks noChangeAspect="1"/>
          </p:cNvPicPr>
          <p:nvPr/>
        </p:nvPicPr>
        <p:blipFill>
          <a:blip r:embed="rId9"/>
          <a:stretch>
            <a:fillRect/>
          </a:stretch>
        </p:blipFill>
        <p:spPr>
          <a:xfrm>
            <a:off x="9651492" y="2633472"/>
            <a:ext cx="219456" cy="219456"/>
          </a:xfrm>
          <a:prstGeom prst="rect">
            <a:avLst/>
          </a:prstGeom>
        </p:spPr>
      </p:pic>
      <p:sp>
        <p:nvSpPr>
          <p:cNvPr id="35" name="Shape 192"/>
          <p:cNvSpPr/>
          <p:nvPr/>
        </p:nvSpPr>
        <p:spPr>
          <a:xfrm>
            <a:off x="10317632" y="2474366"/>
            <a:ext cx="537667" cy="537667"/>
          </a:xfrm>
          <a:prstGeom prst="ellipse">
            <a:avLst/>
          </a:prstGeom>
          <a:solidFill>
            <a:schemeClr val="accent1"/>
          </a:solidFill>
          <a:ln/>
        </p:spPr>
      </p:sp>
      <p:pic>
        <p:nvPicPr>
          <p:cNvPr id="36" name="Icon 193" descr="Store">    </p:cNvPr>
          <p:cNvPicPr>
            <a:picLocks noChangeAspect="1"/>
          </p:cNvPicPr>
          <p:nvPr/>
        </p:nvPicPr>
        <p:blipFill>
          <a:blip r:embed="rId10"/>
          <a:stretch>
            <a:fillRect/>
          </a:stretch>
        </p:blipFill>
        <p:spPr>
          <a:xfrm>
            <a:off x="10452049" y="2608783"/>
            <a:ext cx="268834" cy="268834"/>
          </a:xfrm>
          <a:prstGeom prst="rect">
            <a:avLst/>
          </a:prstGeom>
        </p:spPr>
      </p:pic>
      <p:sp>
        <p:nvSpPr>
          <p:cNvPr id="37" name="Text 194"/>
          <p:cNvSpPr txBox="1"/>
          <p:nvPr/>
        </p:nvSpPr>
        <p:spPr>
          <a:xfrm>
            <a:off x="983437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Storefront riêng</a:t>
            </a:r>
            <a:endParaRPr lang="en-US" sz="1200" dirty="0"/>
          </a:p>
        </p:txBody>
      </p:sp>
      <p:sp>
        <p:nvSpPr>
          <p:cNvPr id="38" name="Text 195"/>
          <p:cNvSpPr txBox="1"/>
          <p:nvPr/>
        </p:nvSpPr>
        <p:spPr>
          <a:xfrm>
            <a:off x="6460236"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Whitelabel Storefront cho chuỗi điểm bán/đại lý nhượng quyền theo Brand (ví dụ chuỗi bánh bao Thọ Phát, đại lý kem/sữa).</a:t>
            </a:r>
            <a:endParaRPr lang="en-US" sz="1400" dirty="0"/>
          </a:p>
          <a:p>
            <a:pPr marL="177800" indent="-177800">
              <a:spcAft>
                <a:spcPts val="600"/>
              </a:spcAft>
              <a:buSzPct val="100000"/>
              <a:buChar char="•"/>
            </a:pPr>
            <a:r>
              <a:rPr lang="en-US" sz="1400" dirty="0">
                <a:solidFill>
                  <a:schemeClr val="tx1"/>
                </a:solidFill>
              </a:rPr>
              <a:t>Chỉ hiện catalog, giá sỉ, chương trình hỗ trợ của Brand đó; ẩn danh mục tạp hóa chung.</a:t>
            </a:r>
            <a:endParaRPr lang="en-US" sz="1400" dirty="0"/>
          </a:p>
        </p:txBody>
      </p:sp>
      <p:sp>
        <p:nvSpPr>
          <p:cNvPr id="39" name="Shape 196"/>
          <p:cNvSpPr/>
          <p:nvPr/>
        </p:nvSpPr>
        <p:spPr>
          <a:xfrm>
            <a:off x="6460236" y="5060188"/>
            <a:ext cx="4951476" cy="974852"/>
          </a:xfrm>
          <a:prstGeom prst="roundRect">
            <a:avLst>
              <a:gd name="adj" fmla="val 7504"/>
            </a:avLst>
          </a:prstGeom>
          <a:solidFill>
            <a:schemeClr val="bg1"/>
          </a:solidFill>
          <a:ln/>
        </p:spPr>
      </p:sp>
      <p:sp>
        <p:nvSpPr>
          <p:cNvPr id="40" name="Text 197"/>
          <p:cNvSpPr txBox="1"/>
          <p:nvPr/>
        </p:nvSpPr>
        <p:spPr>
          <a:xfrm>
            <a:off x="6643116" y="5169916"/>
            <a:ext cx="4585716" cy="201168"/>
          </a:xfrm>
          <a:prstGeom prst="rect">
            <a:avLst/>
          </a:prstGeom>
          <a:noFill/>
          <a:ln/>
        </p:spPr>
        <p:txBody>
          <a:bodyPr wrap="square" lIns="0" tIns="0" rIns="0" bIns="0" rtlCol="0" anchor="t"/>
          <a:lstStyle/>
          <a:p>
            <a:pPr indent="0" marL="0">
              <a:buNone/>
            </a:pPr>
            <a:r>
              <a:rPr lang="en-US" sz="1200" b="1" dirty="0">
                <a:solidFill>
                  <a:schemeClr val="accent1"/>
                </a:solidFill>
              </a:rPr>
              <a:t>GIÁ TRỊ</a:t>
            </a:r>
            <a:endParaRPr lang="en-US" sz="1200" dirty="0"/>
          </a:p>
        </p:txBody>
      </p:sp>
      <p:sp>
        <p:nvSpPr>
          <p:cNvPr id="41" name="Text 198"/>
          <p:cNvSpPr txBox="1"/>
          <p:nvPr/>
        </p:nvSpPr>
        <p:spPr>
          <a:xfrm>
            <a:off x="6643116"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Brand kiểm soát luồng hàng, tránh hàng cạnh tranh; Bonbon mở rộng sang chuỗi F&amp;B/bán lẻ chuyên biệt.</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TRỤ CỘT 2  ·  SELLING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2"/>
                </a:solidFill>
              </a:rPr>
              <a:t>E-invoice &amp; Auto-sync Catalog</a:t>
            </a:r>
            <a:endParaRPr lang="en-US" sz="3200" dirty="0"/>
          </a:p>
        </p:txBody>
      </p:sp>
      <p:sp>
        <p:nvSpPr>
          <p:cNvPr id="4" name="Shape 199"/>
          <p:cNvSpPr/>
          <p:nvPr/>
        </p:nvSpPr>
        <p:spPr>
          <a:xfrm>
            <a:off x="548640" y="1554480"/>
            <a:ext cx="5408676" cy="4709160"/>
          </a:xfrm>
          <a:prstGeom prst="roundRect">
            <a:avLst>
              <a:gd name="adj" fmla="val 1553"/>
            </a:avLst>
          </a:prstGeom>
          <a:solidFill>
            <a:schemeClr val="bg2"/>
          </a:solidFill>
          <a:ln/>
        </p:spPr>
      </p:sp>
      <p:sp>
        <p:nvSpPr>
          <p:cNvPr id="5" name="Pill 200"/>
          <p:cNvSpPr/>
          <p:nvPr/>
        </p:nvSpPr>
        <p:spPr>
          <a:xfrm>
            <a:off x="777240" y="1828800"/>
            <a:ext cx="566928" cy="329184"/>
          </a:xfrm>
          <a:prstGeom prst="roundRect">
            <a:avLst>
              <a:gd name="adj" fmla="val 47222"/>
            </a:avLst>
          </a:prstGeom>
          <a:solidFill>
            <a:schemeClr val="accent2"/>
          </a:solidFill>
          <a:ln/>
        </p:spPr>
        <p:txBody>
          <a:bodyPr wrap="square" lIns="0" tIns="0" rIns="0" bIns="0" rtlCol="0" anchor="ctr"/>
          <a:lstStyle/>
          <a:p>
            <a:pPr algn="ctr" indent="0" marL="0">
              <a:buNone/>
            </a:pPr>
            <a:r>
              <a:rPr lang="en-US" sz="1400" b="1" dirty="0">
                <a:solidFill>
                  <a:schemeClr val="bg1"/>
                </a:solidFill>
              </a:rPr>
              <a:t>2.1</a:t>
            </a:r>
            <a:endParaRPr lang="en-US" sz="1400" dirty="0"/>
          </a:p>
        </p:txBody>
      </p:sp>
      <p:sp>
        <p:nvSpPr>
          <p:cNvPr id="6" name="Text 201"/>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E-invoice &amp; Digital Signature</a:t>
            </a:r>
            <a:endParaRPr lang="en-US" sz="1800" dirty="0"/>
          </a:p>
        </p:txBody>
      </p:sp>
      <p:sp>
        <p:nvSpPr>
          <p:cNvPr id="7" name="Shape 202"/>
          <p:cNvSpPr/>
          <p:nvPr/>
        </p:nvSpPr>
        <p:spPr>
          <a:xfrm>
            <a:off x="777240" y="2331720"/>
            <a:ext cx="4951476" cy="1280160"/>
          </a:xfrm>
          <a:prstGeom prst="roundRect">
            <a:avLst>
              <a:gd name="adj" fmla="val 5714"/>
            </a:avLst>
          </a:prstGeom>
          <a:solidFill>
            <a:schemeClr val="bg1"/>
          </a:solidFill>
          <a:ln/>
        </p:spPr>
      </p:sp>
      <p:sp>
        <p:nvSpPr>
          <p:cNvPr id="8" name="Shape 203"/>
          <p:cNvSpPr/>
          <p:nvPr/>
        </p:nvSpPr>
        <p:spPr>
          <a:xfrm>
            <a:off x="1333652" y="2474366"/>
            <a:ext cx="537667" cy="537667"/>
          </a:xfrm>
          <a:prstGeom prst="ellipse">
            <a:avLst/>
          </a:prstGeom>
          <a:solidFill>
            <a:schemeClr val="accent2"/>
          </a:solidFill>
          <a:ln/>
        </p:spPr>
      </p:sp>
      <p:pic>
        <p:nvPicPr>
          <p:cNvPr id="9" name="Icon 204" descr="CashRegister">    </p:cNvPr>
          <p:cNvPicPr>
            <a:picLocks noChangeAspect="1"/>
          </p:cNvPicPr>
          <p:nvPr/>
        </p:nvPicPr>
        <p:blipFill>
          <a:blip r:embed="rId1"/>
          <a:stretch>
            <a:fillRect/>
          </a:stretch>
        </p:blipFill>
        <p:spPr>
          <a:xfrm>
            <a:off x="1468069" y="2608783"/>
            <a:ext cx="268834" cy="268834"/>
          </a:xfrm>
          <a:prstGeom prst="rect">
            <a:avLst/>
          </a:prstGeom>
        </p:spPr>
      </p:pic>
      <p:sp>
        <p:nvSpPr>
          <p:cNvPr id="10" name="Text 205"/>
          <p:cNvSpPr txBox="1"/>
          <p:nvPr/>
        </p:nvSpPr>
        <p:spPr>
          <a:xfrm>
            <a:off x="85039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POS Transaction</a:t>
            </a:r>
            <a:endParaRPr lang="en-US" sz="1200" dirty="0"/>
          </a:p>
        </p:txBody>
      </p:sp>
      <p:pic>
        <p:nvPicPr>
          <p:cNvPr id="11" name="Icon 206" descr="ChevronRight">    </p:cNvPr>
          <p:cNvPicPr>
            <a:picLocks noChangeAspect="1"/>
          </p:cNvPicPr>
          <p:nvPr/>
        </p:nvPicPr>
        <p:blipFill>
          <a:blip r:embed="rId2"/>
          <a:stretch>
            <a:fillRect/>
          </a:stretch>
        </p:blipFill>
        <p:spPr>
          <a:xfrm>
            <a:off x="2318004" y="2633472"/>
            <a:ext cx="219456" cy="219456"/>
          </a:xfrm>
          <a:prstGeom prst="rect">
            <a:avLst/>
          </a:prstGeom>
        </p:spPr>
      </p:pic>
      <p:sp>
        <p:nvSpPr>
          <p:cNvPr id="12" name="Shape 207"/>
          <p:cNvSpPr/>
          <p:nvPr/>
        </p:nvSpPr>
        <p:spPr>
          <a:xfrm>
            <a:off x="2984144" y="2474366"/>
            <a:ext cx="537667" cy="537667"/>
          </a:xfrm>
          <a:prstGeom prst="ellipse">
            <a:avLst/>
          </a:prstGeom>
          <a:solidFill>
            <a:schemeClr val="accent2"/>
          </a:solidFill>
          <a:ln/>
        </p:spPr>
      </p:sp>
      <p:pic>
        <p:nvPicPr>
          <p:cNvPr id="13" name="Icon 208" descr="Server">    </p:cNvPr>
          <p:cNvPicPr>
            <a:picLocks noChangeAspect="1"/>
          </p:cNvPicPr>
          <p:nvPr/>
        </p:nvPicPr>
        <p:blipFill>
          <a:blip r:embed="rId3"/>
          <a:stretch>
            <a:fillRect/>
          </a:stretch>
        </p:blipFill>
        <p:spPr>
          <a:xfrm>
            <a:off x="3118561" y="2608783"/>
            <a:ext cx="268834" cy="268834"/>
          </a:xfrm>
          <a:prstGeom prst="rect">
            <a:avLst/>
          </a:prstGeom>
        </p:spPr>
      </p:pic>
      <p:sp>
        <p:nvSpPr>
          <p:cNvPr id="14" name="Text 209"/>
          <p:cNvSpPr txBox="1"/>
          <p:nvPr/>
        </p:nvSpPr>
        <p:spPr>
          <a:xfrm>
            <a:off x="2500884"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Cloud HSM</a:t>
            </a:r>
            <a:endParaRPr lang="en-US" sz="1200" dirty="0"/>
          </a:p>
        </p:txBody>
      </p:sp>
      <p:pic>
        <p:nvPicPr>
          <p:cNvPr id="15" name="Icon 210" descr="ChevronRight">    </p:cNvPr>
          <p:cNvPicPr>
            <a:picLocks noChangeAspect="1"/>
          </p:cNvPicPr>
          <p:nvPr/>
        </p:nvPicPr>
        <p:blipFill>
          <a:blip r:embed="rId4"/>
          <a:stretch>
            <a:fillRect/>
          </a:stretch>
        </p:blipFill>
        <p:spPr>
          <a:xfrm>
            <a:off x="3968496" y="2633472"/>
            <a:ext cx="219456" cy="219456"/>
          </a:xfrm>
          <a:prstGeom prst="rect">
            <a:avLst/>
          </a:prstGeom>
        </p:spPr>
      </p:pic>
      <p:sp>
        <p:nvSpPr>
          <p:cNvPr id="16" name="Shape 211"/>
          <p:cNvSpPr/>
          <p:nvPr/>
        </p:nvSpPr>
        <p:spPr>
          <a:xfrm>
            <a:off x="4634636" y="2474366"/>
            <a:ext cx="537667" cy="537667"/>
          </a:xfrm>
          <a:prstGeom prst="ellipse">
            <a:avLst/>
          </a:prstGeom>
          <a:solidFill>
            <a:schemeClr val="accent2"/>
          </a:solidFill>
          <a:ln/>
        </p:spPr>
      </p:sp>
      <p:pic>
        <p:nvPicPr>
          <p:cNvPr id="17" name="Icon 212" descr="FileInvoice">    </p:cNvPr>
          <p:cNvPicPr>
            <a:picLocks noChangeAspect="1"/>
          </p:cNvPicPr>
          <p:nvPr/>
        </p:nvPicPr>
        <p:blipFill>
          <a:blip r:embed="rId5"/>
          <a:stretch>
            <a:fillRect/>
          </a:stretch>
        </p:blipFill>
        <p:spPr>
          <a:xfrm>
            <a:off x="4769053" y="2608783"/>
            <a:ext cx="268834" cy="268834"/>
          </a:xfrm>
          <a:prstGeom prst="rect">
            <a:avLst/>
          </a:prstGeom>
        </p:spPr>
      </p:pic>
      <p:sp>
        <p:nvSpPr>
          <p:cNvPr id="18" name="Text 213"/>
          <p:cNvSpPr txBox="1"/>
          <p:nvPr/>
        </p:nvSpPr>
        <p:spPr>
          <a:xfrm>
            <a:off x="4151376"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E-invoice (dấu thuế)</a:t>
            </a:r>
            <a:endParaRPr lang="en-US" sz="1200" dirty="0"/>
          </a:p>
        </p:txBody>
      </p:sp>
      <p:sp>
        <p:nvSpPr>
          <p:cNvPr id="19" name="Text 214"/>
          <p:cNvSpPr txBox="1"/>
          <p:nvPr/>
        </p:nvSpPr>
        <p:spPr>
          <a:xfrm>
            <a:off x="777240" y="3749040"/>
            <a:ext cx="4951476" cy="99745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Tích hợp Remote Signing / Cloud HSM và E-invoice từ máy tính tiền (Thông tư 78 &amp; Nghị định 123) trên phân hệ bán lẻ.</a:t>
            </a:r>
            <a:endParaRPr lang="en-US" sz="1400" dirty="0"/>
          </a:p>
          <a:p>
            <a:pPr marL="177800" indent="-177800">
              <a:spcAft>
                <a:spcPts val="600"/>
              </a:spcAft>
              <a:buSzPct val="100000"/>
              <a:buChar char="•"/>
            </a:pPr>
            <a:r>
              <a:rPr lang="en-US" sz="1400" dirty="0">
                <a:solidFill>
                  <a:schemeClr val="tx1"/>
                </a:solidFill>
              </a:rPr>
              <a:t>Tự ký số và truyền hóa đơn có mã của cơ quan Thuế chỉ với 1 chạm.</a:t>
            </a:r>
            <a:endParaRPr lang="en-US" sz="1400" dirty="0"/>
          </a:p>
        </p:txBody>
      </p:sp>
      <p:sp>
        <p:nvSpPr>
          <p:cNvPr id="20" name="Shape 215"/>
          <p:cNvSpPr/>
          <p:nvPr/>
        </p:nvSpPr>
        <p:spPr>
          <a:xfrm>
            <a:off x="777240" y="4837938"/>
            <a:ext cx="4951476" cy="1197102"/>
          </a:xfrm>
          <a:prstGeom prst="roundRect">
            <a:avLst>
              <a:gd name="adj" fmla="val 6111"/>
            </a:avLst>
          </a:prstGeom>
          <a:solidFill>
            <a:schemeClr val="bg1"/>
          </a:solidFill>
          <a:ln/>
        </p:spPr>
      </p:sp>
      <p:sp>
        <p:nvSpPr>
          <p:cNvPr id="21" name="Text 216"/>
          <p:cNvSpPr txBox="1"/>
          <p:nvPr/>
        </p:nvSpPr>
        <p:spPr>
          <a:xfrm>
            <a:off x="960120" y="4947666"/>
            <a:ext cx="4585716" cy="201168"/>
          </a:xfrm>
          <a:prstGeom prst="rect">
            <a:avLst/>
          </a:prstGeom>
          <a:noFill/>
          <a:ln/>
        </p:spPr>
        <p:txBody>
          <a:bodyPr wrap="square" lIns="0" tIns="0" rIns="0" bIns="0" rtlCol="0" anchor="t"/>
          <a:lstStyle/>
          <a:p>
            <a:pPr indent="0" marL="0">
              <a:buNone/>
            </a:pPr>
            <a:r>
              <a:rPr lang="en-US" sz="1200" b="1" dirty="0">
                <a:solidFill>
                  <a:schemeClr val="accent2"/>
                </a:solidFill>
              </a:rPr>
              <a:t>VÌ SAO</a:t>
            </a:r>
            <a:endParaRPr lang="en-US" sz="1200" dirty="0"/>
          </a:p>
        </p:txBody>
      </p:sp>
      <p:sp>
        <p:nvSpPr>
          <p:cNvPr id="22" name="Text 217"/>
          <p:cNvSpPr txBox="1"/>
          <p:nvPr/>
        </p:nvSpPr>
        <p:spPr>
          <a:xfrm>
            <a:off x="960120" y="5185410"/>
            <a:ext cx="4585716" cy="758190"/>
          </a:xfrm>
          <a:prstGeom prst="rect">
            <a:avLst/>
          </a:prstGeom>
          <a:noFill/>
          <a:ln/>
        </p:spPr>
        <p:txBody>
          <a:bodyPr wrap="square" lIns="0" tIns="0" rIns="0" bIns="0" rtlCol="0" anchor="t"/>
          <a:lstStyle/>
          <a:p>
            <a:pPr indent="0" marL="0">
              <a:buNone/>
            </a:pPr>
            <a:r>
              <a:rPr lang="en-US" sz="1400" dirty="0">
                <a:solidFill>
                  <a:schemeClr val="tx1"/>
                </a:solidFill>
              </a:rPr>
              <a:t>Hộ kinh doanh trên 1 tỷ đồng/năm bắt buộc dùng E-invoice từ máy tính tiền; không cần mua thiết bị ký số cồng kềnh.</a:t>
            </a:r>
            <a:endParaRPr lang="en-US" sz="1400" dirty="0"/>
          </a:p>
        </p:txBody>
      </p:sp>
      <p:sp>
        <p:nvSpPr>
          <p:cNvPr id="23" name="Shape 218"/>
          <p:cNvSpPr/>
          <p:nvPr/>
        </p:nvSpPr>
        <p:spPr>
          <a:xfrm>
            <a:off x="6231636" y="1554480"/>
            <a:ext cx="5408676" cy="4709160"/>
          </a:xfrm>
          <a:prstGeom prst="roundRect">
            <a:avLst>
              <a:gd name="adj" fmla="val 1553"/>
            </a:avLst>
          </a:prstGeom>
          <a:solidFill>
            <a:schemeClr val="bg2"/>
          </a:solidFill>
          <a:ln/>
        </p:spPr>
      </p:sp>
      <p:sp>
        <p:nvSpPr>
          <p:cNvPr id="24" name="Pill 219"/>
          <p:cNvSpPr/>
          <p:nvPr/>
        </p:nvSpPr>
        <p:spPr>
          <a:xfrm>
            <a:off x="6460236" y="1828800"/>
            <a:ext cx="566928" cy="329184"/>
          </a:xfrm>
          <a:prstGeom prst="roundRect">
            <a:avLst>
              <a:gd name="adj" fmla="val 47222"/>
            </a:avLst>
          </a:prstGeom>
          <a:solidFill>
            <a:schemeClr val="accent2"/>
          </a:solidFill>
          <a:ln/>
        </p:spPr>
        <p:txBody>
          <a:bodyPr wrap="square" lIns="0" tIns="0" rIns="0" bIns="0" rtlCol="0" anchor="ctr"/>
          <a:lstStyle/>
          <a:p>
            <a:pPr algn="ctr" indent="0" marL="0">
              <a:buNone/>
            </a:pPr>
            <a:r>
              <a:rPr lang="en-US" sz="1400" b="1" dirty="0">
                <a:solidFill>
                  <a:schemeClr val="bg1"/>
                </a:solidFill>
              </a:rPr>
              <a:t>2.2</a:t>
            </a:r>
            <a:endParaRPr lang="en-US" sz="1400" dirty="0"/>
          </a:p>
        </p:txBody>
      </p:sp>
      <p:sp>
        <p:nvSpPr>
          <p:cNvPr id="25" name="Text 220"/>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Auto-Sync Catalog</a:t>
            </a:r>
            <a:endParaRPr lang="en-US" sz="1800" dirty="0"/>
          </a:p>
        </p:txBody>
      </p:sp>
      <p:sp>
        <p:nvSpPr>
          <p:cNvPr id="26" name="Shape 221"/>
          <p:cNvSpPr/>
          <p:nvPr/>
        </p:nvSpPr>
        <p:spPr>
          <a:xfrm>
            <a:off x="6460236" y="2331720"/>
            <a:ext cx="4951476" cy="1280160"/>
          </a:xfrm>
          <a:prstGeom prst="roundRect">
            <a:avLst>
              <a:gd name="adj" fmla="val 5714"/>
            </a:avLst>
          </a:prstGeom>
          <a:solidFill>
            <a:schemeClr val="bg1"/>
          </a:solidFill>
          <a:ln/>
        </p:spPr>
      </p:sp>
      <p:sp>
        <p:nvSpPr>
          <p:cNvPr id="27" name="Shape 222"/>
          <p:cNvSpPr/>
          <p:nvPr/>
        </p:nvSpPr>
        <p:spPr>
          <a:xfrm>
            <a:off x="7016648" y="2474366"/>
            <a:ext cx="537667" cy="537667"/>
          </a:xfrm>
          <a:prstGeom prst="ellipse">
            <a:avLst/>
          </a:prstGeom>
          <a:solidFill>
            <a:schemeClr val="accent2"/>
          </a:solidFill>
          <a:ln/>
        </p:spPr>
      </p:sp>
      <p:pic>
        <p:nvPicPr>
          <p:cNvPr id="28" name="Icon 223" descr="Boxes">    </p:cNvPr>
          <p:cNvPicPr>
            <a:picLocks noChangeAspect="1"/>
          </p:cNvPicPr>
          <p:nvPr/>
        </p:nvPicPr>
        <p:blipFill>
          <a:blip r:embed="rId6"/>
          <a:stretch>
            <a:fillRect/>
          </a:stretch>
        </p:blipFill>
        <p:spPr>
          <a:xfrm>
            <a:off x="7151065" y="2608783"/>
            <a:ext cx="268834" cy="268834"/>
          </a:xfrm>
          <a:prstGeom prst="rect">
            <a:avLst/>
          </a:prstGeom>
        </p:spPr>
      </p:pic>
      <p:sp>
        <p:nvSpPr>
          <p:cNvPr id="29" name="Text 224"/>
          <p:cNvSpPr txBox="1"/>
          <p:nvPr/>
        </p:nvSpPr>
        <p:spPr>
          <a:xfrm>
            <a:off x="6533388"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Wholesale Order</a:t>
            </a:r>
            <a:endParaRPr lang="en-US" sz="1200" dirty="0"/>
          </a:p>
        </p:txBody>
      </p:sp>
      <p:pic>
        <p:nvPicPr>
          <p:cNvPr id="30" name="Icon 225" descr="ChevronRight">    </p:cNvPr>
          <p:cNvPicPr>
            <a:picLocks noChangeAspect="1"/>
          </p:cNvPicPr>
          <p:nvPr/>
        </p:nvPicPr>
        <p:blipFill>
          <a:blip r:embed="rId7"/>
          <a:stretch>
            <a:fillRect/>
          </a:stretch>
        </p:blipFill>
        <p:spPr>
          <a:xfrm>
            <a:off x="8001000" y="2633472"/>
            <a:ext cx="219456" cy="219456"/>
          </a:xfrm>
          <a:prstGeom prst="rect">
            <a:avLst/>
          </a:prstGeom>
        </p:spPr>
      </p:pic>
      <p:sp>
        <p:nvSpPr>
          <p:cNvPr id="31" name="Shape 226"/>
          <p:cNvSpPr/>
          <p:nvPr/>
        </p:nvSpPr>
        <p:spPr>
          <a:xfrm>
            <a:off x="8667140" y="2474366"/>
            <a:ext cx="537667" cy="537667"/>
          </a:xfrm>
          <a:prstGeom prst="ellipse">
            <a:avLst/>
          </a:prstGeom>
          <a:solidFill>
            <a:schemeClr val="accent2"/>
          </a:solidFill>
          <a:ln/>
        </p:spPr>
      </p:sp>
      <p:pic>
        <p:nvPicPr>
          <p:cNvPr id="32" name="Icon 227" descr="SyncAlt">    </p:cNvPr>
          <p:cNvPicPr>
            <a:picLocks noChangeAspect="1"/>
          </p:cNvPicPr>
          <p:nvPr/>
        </p:nvPicPr>
        <p:blipFill>
          <a:blip r:embed="rId8"/>
          <a:stretch>
            <a:fillRect/>
          </a:stretch>
        </p:blipFill>
        <p:spPr>
          <a:xfrm>
            <a:off x="8801557" y="2608783"/>
            <a:ext cx="268834" cy="268834"/>
          </a:xfrm>
          <a:prstGeom prst="rect">
            <a:avLst/>
          </a:prstGeom>
        </p:spPr>
      </p:pic>
      <p:sp>
        <p:nvSpPr>
          <p:cNvPr id="33" name="Text 228"/>
          <p:cNvSpPr txBox="1"/>
          <p:nvPr/>
        </p:nvSpPr>
        <p:spPr>
          <a:xfrm>
            <a:off x="8183880"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Auto-sync</a:t>
            </a:r>
            <a:endParaRPr lang="en-US" sz="1200" dirty="0"/>
          </a:p>
        </p:txBody>
      </p:sp>
      <p:pic>
        <p:nvPicPr>
          <p:cNvPr id="34" name="Icon 229" descr="ChevronRight">    </p:cNvPr>
          <p:cNvPicPr>
            <a:picLocks noChangeAspect="1"/>
          </p:cNvPicPr>
          <p:nvPr/>
        </p:nvPicPr>
        <p:blipFill>
          <a:blip r:embed="rId9"/>
          <a:stretch>
            <a:fillRect/>
          </a:stretch>
        </p:blipFill>
        <p:spPr>
          <a:xfrm>
            <a:off x="9651492" y="2633472"/>
            <a:ext cx="219456" cy="219456"/>
          </a:xfrm>
          <a:prstGeom prst="rect">
            <a:avLst/>
          </a:prstGeom>
        </p:spPr>
      </p:pic>
      <p:sp>
        <p:nvSpPr>
          <p:cNvPr id="35" name="Shape 230"/>
          <p:cNvSpPr/>
          <p:nvPr/>
        </p:nvSpPr>
        <p:spPr>
          <a:xfrm>
            <a:off x="10317632" y="2474366"/>
            <a:ext cx="537667" cy="537667"/>
          </a:xfrm>
          <a:prstGeom prst="ellipse">
            <a:avLst/>
          </a:prstGeom>
          <a:solidFill>
            <a:schemeClr val="accent2"/>
          </a:solidFill>
          <a:ln/>
        </p:spPr>
      </p:sp>
      <p:pic>
        <p:nvPicPr>
          <p:cNvPr id="36" name="Icon 231" descr="Warehouse">    </p:cNvPr>
          <p:cNvPicPr>
            <a:picLocks noChangeAspect="1"/>
          </p:cNvPicPr>
          <p:nvPr/>
        </p:nvPicPr>
        <p:blipFill>
          <a:blip r:embed="rId10"/>
          <a:stretch>
            <a:fillRect/>
          </a:stretch>
        </p:blipFill>
        <p:spPr>
          <a:xfrm>
            <a:off x="10452049" y="2608783"/>
            <a:ext cx="268834" cy="268834"/>
          </a:xfrm>
          <a:prstGeom prst="rect">
            <a:avLst/>
          </a:prstGeom>
        </p:spPr>
      </p:pic>
      <p:sp>
        <p:nvSpPr>
          <p:cNvPr id="37" name="Text 232"/>
          <p:cNvSpPr txBox="1"/>
          <p:nvPr/>
        </p:nvSpPr>
        <p:spPr>
          <a:xfrm>
            <a:off x="983437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Retail Inventory</a:t>
            </a:r>
            <a:endParaRPr lang="en-US" sz="1200" dirty="0"/>
          </a:p>
        </p:txBody>
      </p:sp>
      <p:sp>
        <p:nvSpPr>
          <p:cNvPr id="38" name="Text 233"/>
          <p:cNvSpPr txBox="1"/>
          <p:nvPr/>
        </p:nvSpPr>
        <p:spPr>
          <a:xfrm>
            <a:off x="6460236" y="3749040"/>
            <a:ext cx="4951476" cy="99745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Mọi đơn nhập sỉ thành công từ Distributor tự đồng bộ vào kho bán lẻ của tiệm.</a:t>
            </a:r>
            <a:endParaRPr lang="en-US" sz="1400" dirty="0"/>
          </a:p>
          <a:p>
            <a:pPr marL="177800" indent="-177800">
              <a:spcAft>
                <a:spcPts val="600"/>
              </a:spcAft>
              <a:buSzPct val="100000"/>
              <a:buChar char="•"/>
            </a:pPr>
            <a:r>
              <a:rPr lang="en-US" sz="1400" dirty="0">
                <a:solidFill>
                  <a:schemeClr val="tx1"/>
                </a:solidFill>
              </a:rPr>
              <a:t>Điền sẵn tên chuẩn, barcode, hình ảnh và gợi ý giá bán lẻ (SRP).</a:t>
            </a:r>
            <a:endParaRPr lang="en-US" sz="1400" dirty="0"/>
          </a:p>
        </p:txBody>
      </p:sp>
      <p:sp>
        <p:nvSpPr>
          <p:cNvPr id="39" name="Shape 234"/>
          <p:cNvSpPr/>
          <p:nvPr/>
        </p:nvSpPr>
        <p:spPr>
          <a:xfrm>
            <a:off x="6460236" y="4837938"/>
            <a:ext cx="4951476" cy="1197102"/>
          </a:xfrm>
          <a:prstGeom prst="roundRect">
            <a:avLst>
              <a:gd name="adj" fmla="val 6111"/>
            </a:avLst>
          </a:prstGeom>
          <a:solidFill>
            <a:schemeClr val="bg1"/>
          </a:solidFill>
          <a:ln/>
        </p:spPr>
      </p:sp>
      <p:sp>
        <p:nvSpPr>
          <p:cNvPr id="40" name="Text 235"/>
          <p:cNvSpPr txBox="1"/>
          <p:nvPr/>
        </p:nvSpPr>
        <p:spPr>
          <a:xfrm>
            <a:off x="6643116" y="4947666"/>
            <a:ext cx="4585716" cy="201168"/>
          </a:xfrm>
          <a:prstGeom prst="rect">
            <a:avLst/>
          </a:prstGeom>
          <a:noFill/>
          <a:ln/>
        </p:spPr>
        <p:txBody>
          <a:bodyPr wrap="square" lIns="0" tIns="0" rIns="0" bIns="0" rtlCol="0" anchor="t"/>
          <a:lstStyle/>
          <a:p>
            <a:pPr indent="0" marL="0">
              <a:buNone/>
            </a:pPr>
            <a:r>
              <a:rPr lang="en-US" sz="1200" b="1" dirty="0">
                <a:solidFill>
                  <a:schemeClr val="accent2"/>
                </a:solidFill>
              </a:rPr>
              <a:t>KẾT QUẢ</a:t>
            </a:r>
            <a:endParaRPr lang="en-US" sz="1200" dirty="0"/>
          </a:p>
        </p:txBody>
      </p:sp>
      <p:sp>
        <p:nvSpPr>
          <p:cNvPr id="41" name="Text 236"/>
          <p:cNvSpPr txBox="1"/>
          <p:nvPr/>
        </p:nvSpPr>
        <p:spPr>
          <a:xfrm>
            <a:off x="6643116" y="5185410"/>
            <a:ext cx="4585716" cy="758190"/>
          </a:xfrm>
          <a:prstGeom prst="rect">
            <a:avLst/>
          </a:prstGeom>
          <a:noFill/>
          <a:ln/>
        </p:spPr>
        <p:txBody>
          <a:bodyPr wrap="square" lIns="0" tIns="0" rIns="0" bIns="0" rtlCol="0" anchor="t"/>
          <a:lstStyle/>
          <a:p>
            <a:pPr indent="0" marL="0">
              <a:buNone/>
            </a:pPr>
            <a:r>
              <a:rPr lang="en-US" sz="1400" dirty="0">
                <a:solidFill>
                  <a:schemeClr val="tx1"/>
                </a:solidFill>
              </a:rPr>
              <a:t>Tiết kiệm 90% công sức setup: chủ tiệm không phải gõ tay từng mặt hàng trong hàng nghìn SKU, bán lẻ được ngay.</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TRỤ CỘT 2  ·  SELLING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2"/>
                </a:solidFill>
              </a:rPr>
              <a:t>Smart QR &amp; Digital Debt Ledger</a:t>
            </a:r>
            <a:endParaRPr lang="en-US" sz="3200" dirty="0"/>
          </a:p>
        </p:txBody>
      </p:sp>
      <p:sp>
        <p:nvSpPr>
          <p:cNvPr id="4" name="Shape 237"/>
          <p:cNvSpPr/>
          <p:nvPr/>
        </p:nvSpPr>
        <p:spPr>
          <a:xfrm>
            <a:off x="548640" y="1554480"/>
            <a:ext cx="5408676" cy="4709160"/>
          </a:xfrm>
          <a:prstGeom prst="roundRect">
            <a:avLst>
              <a:gd name="adj" fmla="val 1553"/>
            </a:avLst>
          </a:prstGeom>
          <a:solidFill>
            <a:schemeClr val="bg2"/>
          </a:solidFill>
          <a:ln/>
        </p:spPr>
      </p:sp>
      <p:sp>
        <p:nvSpPr>
          <p:cNvPr id="5" name="Pill 238"/>
          <p:cNvSpPr/>
          <p:nvPr/>
        </p:nvSpPr>
        <p:spPr>
          <a:xfrm>
            <a:off x="777240" y="1828800"/>
            <a:ext cx="566928" cy="329184"/>
          </a:xfrm>
          <a:prstGeom prst="roundRect">
            <a:avLst>
              <a:gd name="adj" fmla="val 47222"/>
            </a:avLst>
          </a:prstGeom>
          <a:solidFill>
            <a:schemeClr val="accent2"/>
          </a:solidFill>
          <a:ln/>
        </p:spPr>
        <p:txBody>
          <a:bodyPr wrap="square" lIns="0" tIns="0" rIns="0" bIns="0" rtlCol="0" anchor="ctr"/>
          <a:lstStyle/>
          <a:p>
            <a:pPr algn="ctr" indent="0" marL="0">
              <a:buNone/>
            </a:pPr>
            <a:r>
              <a:rPr lang="en-US" sz="1400" b="1" dirty="0">
                <a:solidFill>
                  <a:schemeClr val="bg1"/>
                </a:solidFill>
              </a:rPr>
              <a:t>2.3</a:t>
            </a:r>
            <a:endParaRPr lang="en-US" sz="1400" dirty="0"/>
          </a:p>
        </p:txBody>
      </p:sp>
      <p:sp>
        <p:nvSpPr>
          <p:cNvPr id="6" name="Text 239"/>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Dynamic VietQR &amp; Voice Box</a:t>
            </a:r>
            <a:endParaRPr lang="en-US" sz="1800" dirty="0"/>
          </a:p>
        </p:txBody>
      </p:sp>
      <p:sp>
        <p:nvSpPr>
          <p:cNvPr id="7" name="Shape 240"/>
          <p:cNvSpPr/>
          <p:nvPr/>
        </p:nvSpPr>
        <p:spPr>
          <a:xfrm>
            <a:off x="777240" y="2331720"/>
            <a:ext cx="4951476" cy="1280160"/>
          </a:xfrm>
          <a:prstGeom prst="roundRect">
            <a:avLst>
              <a:gd name="adj" fmla="val 5714"/>
            </a:avLst>
          </a:prstGeom>
          <a:solidFill>
            <a:schemeClr val="bg1"/>
          </a:solidFill>
          <a:ln/>
        </p:spPr>
      </p:sp>
      <p:sp>
        <p:nvSpPr>
          <p:cNvPr id="8" name="Shape 241"/>
          <p:cNvSpPr/>
          <p:nvPr/>
        </p:nvSpPr>
        <p:spPr>
          <a:xfrm>
            <a:off x="1333652" y="2474366"/>
            <a:ext cx="537667" cy="537667"/>
          </a:xfrm>
          <a:prstGeom prst="ellipse">
            <a:avLst/>
          </a:prstGeom>
          <a:solidFill>
            <a:schemeClr val="accent2"/>
          </a:solidFill>
          <a:ln/>
        </p:spPr>
      </p:sp>
      <p:pic>
        <p:nvPicPr>
          <p:cNvPr id="9" name="Icon 242" descr="Qrcode">    </p:cNvPr>
          <p:cNvPicPr>
            <a:picLocks noChangeAspect="1"/>
          </p:cNvPicPr>
          <p:nvPr/>
        </p:nvPicPr>
        <p:blipFill>
          <a:blip r:embed="rId1"/>
          <a:stretch>
            <a:fillRect/>
          </a:stretch>
        </p:blipFill>
        <p:spPr>
          <a:xfrm>
            <a:off x="1468069" y="2608783"/>
            <a:ext cx="268834" cy="268834"/>
          </a:xfrm>
          <a:prstGeom prst="rect">
            <a:avLst/>
          </a:prstGeom>
        </p:spPr>
      </p:pic>
      <p:sp>
        <p:nvSpPr>
          <p:cNvPr id="10" name="Text 243"/>
          <p:cNvSpPr txBox="1"/>
          <p:nvPr/>
        </p:nvSpPr>
        <p:spPr>
          <a:xfrm>
            <a:off x="85039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QR đúng số tiền</a:t>
            </a:r>
            <a:endParaRPr lang="en-US" sz="1200" dirty="0"/>
          </a:p>
        </p:txBody>
      </p:sp>
      <p:pic>
        <p:nvPicPr>
          <p:cNvPr id="11" name="Icon 244" descr="ChevronRight">    </p:cNvPr>
          <p:cNvPicPr>
            <a:picLocks noChangeAspect="1"/>
          </p:cNvPicPr>
          <p:nvPr/>
        </p:nvPicPr>
        <p:blipFill>
          <a:blip r:embed="rId2"/>
          <a:stretch>
            <a:fillRect/>
          </a:stretch>
        </p:blipFill>
        <p:spPr>
          <a:xfrm>
            <a:off x="2318004" y="2633472"/>
            <a:ext cx="219456" cy="219456"/>
          </a:xfrm>
          <a:prstGeom prst="rect">
            <a:avLst/>
          </a:prstGeom>
        </p:spPr>
      </p:pic>
      <p:sp>
        <p:nvSpPr>
          <p:cNvPr id="12" name="Shape 245"/>
          <p:cNvSpPr/>
          <p:nvPr/>
        </p:nvSpPr>
        <p:spPr>
          <a:xfrm>
            <a:off x="2984144" y="2474366"/>
            <a:ext cx="537667" cy="537667"/>
          </a:xfrm>
          <a:prstGeom prst="ellipse">
            <a:avLst/>
          </a:prstGeom>
          <a:solidFill>
            <a:schemeClr val="accent2"/>
          </a:solidFill>
          <a:ln/>
        </p:spPr>
      </p:sp>
      <p:pic>
        <p:nvPicPr>
          <p:cNvPr id="13" name="Icon 246" descr="Coins">    </p:cNvPr>
          <p:cNvPicPr>
            <a:picLocks noChangeAspect="1"/>
          </p:cNvPicPr>
          <p:nvPr/>
        </p:nvPicPr>
        <p:blipFill>
          <a:blip r:embed="rId3"/>
          <a:stretch>
            <a:fillRect/>
          </a:stretch>
        </p:blipFill>
        <p:spPr>
          <a:xfrm>
            <a:off x="3118561" y="2608783"/>
            <a:ext cx="268834" cy="268834"/>
          </a:xfrm>
          <a:prstGeom prst="rect">
            <a:avLst/>
          </a:prstGeom>
        </p:spPr>
      </p:pic>
      <p:sp>
        <p:nvSpPr>
          <p:cNvPr id="14" name="Text 247"/>
          <p:cNvSpPr txBox="1"/>
          <p:nvPr/>
        </p:nvSpPr>
        <p:spPr>
          <a:xfrm>
            <a:off x="2500884"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Tài khoản ghi có</a:t>
            </a:r>
            <a:endParaRPr lang="en-US" sz="1200" dirty="0"/>
          </a:p>
        </p:txBody>
      </p:sp>
      <p:pic>
        <p:nvPicPr>
          <p:cNvPr id="15" name="Icon 248" descr="ChevronRight">    </p:cNvPr>
          <p:cNvPicPr>
            <a:picLocks noChangeAspect="1"/>
          </p:cNvPicPr>
          <p:nvPr/>
        </p:nvPicPr>
        <p:blipFill>
          <a:blip r:embed="rId4"/>
          <a:stretch>
            <a:fillRect/>
          </a:stretch>
        </p:blipFill>
        <p:spPr>
          <a:xfrm>
            <a:off x="3968496" y="2633472"/>
            <a:ext cx="219456" cy="219456"/>
          </a:xfrm>
          <a:prstGeom prst="rect">
            <a:avLst/>
          </a:prstGeom>
        </p:spPr>
      </p:pic>
      <p:sp>
        <p:nvSpPr>
          <p:cNvPr id="16" name="Shape 249"/>
          <p:cNvSpPr/>
          <p:nvPr/>
        </p:nvSpPr>
        <p:spPr>
          <a:xfrm>
            <a:off x="4634636" y="2474366"/>
            <a:ext cx="537667" cy="537667"/>
          </a:xfrm>
          <a:prstGeom prst="ellipse">
            <a:avLst/>
          </a:prstGeom>
          <a:solidFill>
            <a:schemeClr val="accent2"/>
          </a:solidFill>
          <a:ln/>
        </p:spPr>
      </p:sp>
      <p:pic>
        <p:nvPicPr>
          <p:cNvPr id="17" name="Icon 250" descr="VolumeUp">    </p:cNvPr>
          <p:cNvPicPr>
            <a:picLocks noChangeAspect="1"/>
          </p:cNvPicPr>
          <p:nvPr/>
        </p:nvPicPr>
        <p:blipFill>
          <a:blip r:embed="rId5"/>
          <a:stretch>
            <a:fillRect/>
          </a:stretch>
        </p:blipFill>
        <p:spPr>
          <a:xfrm>
            <a:off x="4769053" y="2608783"/>
            <a:ext cx="268834" cy="268834"/>
          </a:xfrm>
          <a:prstGeom prst="rect">
            <a:avLst/>
          </a:prstGeom>
        </p:spPr>
      </p:pic>
      <p:sp>
        <p:nvSpPr>
          <p:cNvPr id="18" name="Text 251"/>
          <p:cNvSpPr txBox="1"/>
          <p:nvPr/>
        </p:nvSpPr>
        <p:spPr>
          <a:xfrm>
            <a:off x="4151376"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Loa đọc to</a:t>
            </a:r>
            <a:endParaRPr lang="en-US" sz="1200" dirty="0"/>
          </a:p>
        </p:txBody>
      </p:sp>
      <p:sp>
        <p:nvSpPr>
          <p:cNvPr id="19" name="Text 252"/>
          <p:cNvSpPr txBox="1"/>
          <p:nvPr/>
        </p:nvSpPr>
        <p:spPr>
          <a:xfrm>
            <a:off x="777240"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QR động VietQR / Napas247 tự nhảy đúng số tiền đơn hàng.</a:t>
            </a:r>
            <a:endParaRPr lang="en-US" sz="1400" dirty="0"/>
          </a:p>
          <a:p>
            <a:pPr marL="177800" indent="-177800">
              <a:spcAft>
                <a:spcPts val="600"/>
              </a:spcAft>
              <a:buSzPct val="100000"/>
              <a:buChar char="•"/>
            </a:pPr>
            <a:r>
              <a:rPr lang="en-US" sz="1400" dirty="0">
                <a:solidFill>
                  <a:schemeClr val="tx1"/>
                </a:solidFill>
              </a:rPr>
              <a:t>Smart Soundbox hoặc loa điện thoại/Bluetooth đọc to khi tài khoản ghi có; chống biên lai chuyển khoản giả.</a:t>
            </a:r>
            <a:endParaRPr lang="en-US" sz="1400" dirty="0"/>
          </a:p>
        </p:txBody>
      </p:sp>
      <p:sp>
        <p:nvSpPr>
          <p:cNvPr id="20" name="Shape 253"/>
          <p:cNvSpPr/>
          <p:nvPr/>
        </p:nvSpPr>
        <p:spPr>
          <a:xfrm>
            <a:off x="777240" y="5060188"/>
            <a:ext cx="4951476" cy="974852"/>
          </a:xfrm>
          <a:prstGeom prst="roundRect">
            <a:avLst>
              <a:gd name="adj" fmla="val 7504"/>
            </a:avLst>
          </a:prstGeom>
          <a:solidFill>
            <a:schemeClr val="bg1"/>
          </a:solidFill>
          <a:ln/>
        </p:spPr>
      </p:sp>
      <p:sp>
        <p:nvSpPr>
          <p:cNvPr id="21" name="Text 254"/>
          <p:cNvSpPr txBox="1"/>
          <p:nvPr/>
        </p:nvSpPr>
        <p:spPr>
          <a:xfrm>
            <a:off x="960120" y="5169916"/>
            <a:ext cx="4585716" cy="201168"/>
          </a:xfrm>
          <a:prstGeom prst="rect">
            <a:avLst/>
          </a:prstGeom>
          <a:noFill/>
          <a:ln/>
        </p:spPr>
        <p:txBody>
          <a:bodyPr wrap="square" lIns="0" tIns="0" rIns="0" bIns="0" rtlCol="0" anchor="t"/>
          <a:lstStyle/>
          <a:p>
            <a:pPr indent="0" marL="0">
              <a:buNone/>
            </a:pPr>
            <a:r>
              <a:rPr lang="en-US" sz="1200" b="1" dirty="0">
                <a:solidFill>
                  <a:schemeClr val="accent2"/>
                </a:solidFill>
              </a:rPr>
              <a:t>VÍ DỤ</a:t>
            </a:r>
            <a:endParaRPr lang="en-US" sz="1200" dirty="0"/>
          </a:p>
        </p:txBody>
      </p:sp>
      <p:sp>
        <p:nvSpPr>
          <p:cNvPr id="22" name="Text 255"/>
          <p:cNvSpPr txBox="1"/>
          <p:nvPr/>
        </p:nvSpPr>
        <p:spPr>
          <a:xfrm>
            <a:off x="960120"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“Bonbon nhận thành công 65.000 đồng.”</a:t>
            </a:r>
            <a:endParaRPr lang="en-US" sz="1400" dirty="0"/>
          </a:p>
        </p:txBody>
      </p:sp>
      <p:sp>
        <p:nvSpPr>
          <p:cNvPr id="23" name="Shape 256"/>
          <p:cNvSpPr/>
          <p:nvPr/>
        </p:nvSpPr>
        <p:spPr>
          <a:xfrm>
            <a:off x="6231636" y="1554480"/>
            <a:ext cx="5408676" cy="4709160"/>
          </a:xfrm>
          <a:prstGeom prst="roundRect">
            <a:avLst>
              <a:gd name="adj" fmla="val 1553"/>
            </a:avLst>
          </a:prstGeom>
          <a:solidFill>
            <a:schemeClr val="bg2"/>
          </a:solidFill>
          <a:ln/>
        </p:spPr>
      </p:sp>
      <p:sp>
        <p:nvSpPr>
          <p:cNvPr id="24" name="Pill 257"/>
          <p:cNvSpPr/>
          <p:nvPr/>
        </p:nvSpPr>
        <p:spPr>
          <a:xfrm>
            <a:off x="6460236" y="1828800"/>
            <a:ext cx="566928" cy="329184"/>
          </a:xfrm>
          <a:prstGeom prst="roundRect">
            <a:avLst>
              <a:gd name="adj" fmla="val 47222"/>
            </a:avLst>
          </a:prstGeom>
          <a:solidFill>
            <a:schemeClr val="accent2"/>
          </a:solidFill>
          <a:ln/>
        </p:spPr>
        <p:txBody>
          <a:bodyPr wrap="square" lIns="0" tIns="0" rIns="0" bIns="0" rtlCol="0" anchor="ctr"/>
          <a:lstStyle/>
          <a:p>
            <a:pPr algn="ctr" indent="0" marL="0">
              <a:buNone/>
            </a:pPr>
            <a:r>
              <a:rPr lang="en-US" sz="1400" b="1" dirty="0">
                <a:solidFill>
                  <a:schemeClr val="bg1"/>
                </a:solidFill>
              </a:rPr>
              <a:t>2.4</a:t>
            </a:r>
            <a:endParaRPr lang="en-US" sz="1400" dirty="0"/>
          </a:p>
        </p:txBody>
      </p:sp>
      <p:sp>
        <p:nvSpPr>
          <p:cNvPr id="25" name="Text 258"/>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1-Tap Digital Debt Ledger</a:t>
            </a:r>
            <a:endParaRPr lang="en-US" sz="1800" dirty="0"/>
          </a:p>
        </p:txBody>
      </p:sp>
      <p:sp>
        <p:nvSpPr>
          <p:cNvPr id="26" name="Shape 259"/>
          <p:cNvSpPr/>
          <p:nvPr/>
        </p:nvSpPr>
        <p:spPr>
          <a:xfrm>
            <a:off x="6460236" y="2331720"/>
            <a:ext cx="4951476" cy="1280160"/>
          </a:xfrm>
          <a:prstGeom prst="roundRect">
            <a:avLst>
              <a:gd name="adj" fmla="val 5714"/>
            </a:avLst>
          </a:prstGeom>
          <a:solidFill>
            <a:schemeClr val="bg1"/>
          </a:solidFill>
          <a:ln/>
        </p:spPr>
      </p:sp>
      <p:sp>
        <p:nvSpPr>
          <p:cNvPr id="27" name="Shape 260"/>
          <p:cNvSpPr/>
          <p:nvPr/>
        </p:nvSpPr>
        <p:spPr>
          <a:xfrm>
            <a:off x="7016648" y="2474366"/>
            <a:ext cx="537667" cy="537667"/>
          </a:xfrm>
          <a:prstGeom prst="ellipse">
            <a:avLst/>
          </a:prstGeom>
          <a:solidFill>
            <a:schemeClr val="accent2"/>
          </a:solidFill>
          <a:ln/>
        </p:spPr>
      </p:sp>
      <p:pic>
        <p:nvPicPr>
          <p:cNvPr id="28" name="Icon 261" descr="BookOpen">    </p:cNvPr>
          <p:cNvPicPr>
            <a:picLocks noChangeAspect="1"/>
          </p:cNvPicPr>
          <p:nvPr/>
        </p:nvPicPr>
        <p:blipFill>
          <a:blip r:embed="rId6"/>
          <a:stretch>
            <a:fillRect/>
          </a:stretch>
        </p:blipFill>
        <p:spPr>
          <a:xfrm>
            <a:off x="7151065" y="2608783"/>
            <a:ext cx="268834" cy="268834"/>
          </a:xfrm>
          <a:prstGeom prst="rect">
            <a:avLst/>
          </a:prstGeom>
        </p:spPr>
      </p:pic>
      <p:sp>
        <p:nvSpPr>
          <p:cNvPr id="29" name="Text 262"/>
          <p:cNvSpPr txBox="1"/>
          <p:nvPr/>
        </p:nvSpPr>
        <p:spPr>
          <a:xfrm>
            <a:off x="6533388"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Ghi nợ 1 chạm</a:t>
            </a:r>
            <a:endParaRPr lang="en-US" sz="1200" dirty="0"/>
          </a:p>
        </p:txBody>
      </p:sp>
      <p:pic>
        <p:nvPicPr>
          <p:cNvPr id="30" name="Icon 263" descr="ChevronRight">    </p:cNvPr>
          <p:cNvPicPr>
            <a:picLocks noChangeAspect="1"/>
          </p:cNvPicPr>
          <p:nvPr/>
        </p:nvPicPr>
        <p:blipFill>
          <a:blip r:embed="rId7"/>
          <a:stretch>
            <a:fillRect/>
          </a:stretch>
        </p:blipFill>
        <p:spPr>
          <a:xfrm>
            <a:off x="8001000" y="2633472"/>
            <a:ext cx="219456" cy="219456"/>
          </a:xfrm>
          <a:prstGeom prst="rect">
            <a:avLst/>
          </a:prstGeom>
        </p:spPr>
      </p:pic>
      <p:sp>
        <p:nvSpPr>
          <p:cNvPr id="31" name="Shape 264"/>
          <p:cNvSpPr/>
          <p:nvPr/>
        </p:nvSpPr>
        <p:spPr>
          <a:xfrm>
            <a:off x="8667140" y="2474366"/>
            <a:ext cx="537667" cy="537667"/>
          </a:xfrm>
          <a:prstGeom prst="ellipse">
            <a:avLst/>
          </a:prstGeom>
          <a:solidFill>
            <a:schemeClr val="accent2"/>
          </a:solidFill>
          <a:ln/>
        </p:spPr>
      </p:sp>
      <p:pic>
        <p:nvPicPr>
          <p:cNvPr id="32" name="Icon 265" descr="Users">    </p:cNvPr>
          <p:cNvPicPr>
            <a:picLocks noChangeAspect="1"/>
          </p:cNvPicPr>
          <p:nvPr/>
        </p:nvPicPr>
        <p:blipFill>
          <a:blip r:embed="rId8"/>
          <a:stretch>
            <a:fillRect/>
          </a:stretch>
        </p:blipFill>
        <p:spPr>
          <a:xfrm>
            <a:off x="8801557" y="2608783"/>
            <a:ext cx="268834" cy="268834"/>
          </a:xfrm>
          <a:prstGeom prst="rect">
            <a:avLst/>
          </a:prstGeom>
        </p:spPr>
      </p:pic>
      <p:sp>
        <p:nvSpPr>
          <p:cNvPr id="33" name="Text 266"/>
          <p:cNvSpPr txBox="1"/>
          <p:nvPr/>
        </p:nvSpPr>
        <p:spPr>
          <a:xfrm>
            <a:off x="8183880"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Chọn từ danh bạ</a:t>
            </a:r>
            <a:endParaRPr lang="en-US" sz="1200" dirty="0"/>
          </a:p>
        </p:txBody>
      </p:sp>
      <p:pic>
        <p:nvPicPr>
          <p:cNvPr id="34" name="Icon 267" descr="ChevronRight">    </p:cNvPr>
          <p:cNvPicPr>
            <a:picLocks noChangeAspect="1"/>
          </p:cNvPicPr>
          <p:nvPr/>
        </p:nvPicPr>
        <p:blipFill>
          <a:blip r:embed="rId9"/>
          <a:stretch>
            <a:fillRect/>
          </a:stretch>
        </p:blipFill>
        <p:spPr>
          <a:xfrm>
            <a:off x="9651492" y="2633472"/>
            <a:ext cx="219456" cy="219456"/>
          </a:xfrm>
          <a:prstGeom prst="rect">
            <a:avLst/>
          </a:prstGeom>
        </p:spPr>
      </p:pic>
      <p:sp>
        <p:nvSpPr>
          <p:cNvPr id="35" name="Shape 268"/>
          <p:cNvSpPr/>
          <p:nvPr/>
        </p:nvSpPr>
        <p:spPr>
          <a:xfrm>
            <a:off x="10317632" y="2474366"/>
            <a:ext cx="537667" cy="537667"/>
          </a:xfrm>
          <a:prstGeom prst="ellipse">
            <a:avLst/>
          </a:prstGeom>
          <a:solidFill>
            <a:schemeClr val="accent2"/>
          </a:solidFill>
          <a:ln/>
        </p:spPr>
      </p:sp>
      <p:pic>
        <p:nvPicPr>
          <p:cNvPr id="36" name="Icon 269" descr="CommentDots">    </p:cNvPr>
          <p:cNvPicPr>
            <a:picLocks noChangeAspect="1"/>
          </p:cNvPicPr>
          <p:nvPr/>
        </p:nvPicPr>
        <p:blipFill>
          <a:blip r:embed="rId10"/>
          <a:stretch>
            <a:fillRect/>
          </a:stretch>
        </p:blipFill>
        <p:spPr>
          <a:xfrm>
            <a:off x="10452049" y="2608783"/>
            <a:ext cx="268834" cy="268834"/>
          </a:xfrm>
          <a:prstGeom prst="rect">
            <a:avLst/>
          </a:prstGeom>
        </p:spPr>
      </p:pic>
      <p:sp>
        <p:nvSpPr>
          <p:cNvPr id="37" name="Text 270"/>
          <p:cNvSpPr txBox="1"/>
          <p:nvPr/>
        </p:nvSpPr>
        <p:spPr>
          <a:xfrm>
            <a:off x="983437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Nhắc nợ Zalo/SMS</a:t>
            </a:r>
            <a:endParaRPr lang="en-US" sz="1200" dirty="0"/>
          </a:p>
        </p:txBody>
      </p:sp>
      <p:sp>
        <p:nvSpPr>
          <p:cNvPr id="38" name="Text 271"/>
          <p:cNvSpPr txBox="1"/>
          <p:nvPr/>
        </p:nvSpPr>
        <p:spPr>
          <a:xfrm>
            <a:off x="6460236"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“Ghi nợ” ngay tại màn thanh toán: chọn tên từ danh bạ → xác nhận, tự ghi số tiền và món hàng.</a:t>
            </a:r>
            <a:endParaRPr lang="en-US" sz="1400" dirty="0"/>
          </a:p>
          <a:p>
            <a:pPr marL="177800" indent="-177800">
              <a:spcAft>
                <a:spcPts val="600"/>
              </a:spcAft>
              <a:buSzPct val="100000"/>
              <a:buChar char="•"/>
            </a:pPr>
            <a:r>
              <a:rPr lang="en-US" sz="1400" dirty="0">
                <a:solidFill>
                  <a:schemeClr val="tx1"/>
                </a:solidFill>
              </a:rPr>
              <a:t>Gửi sao kê công nợ qua Zalo/SMS với câu từ nhã nhặn, 1 thao tác.</a:t>
            </a:r>
            <a:endParaRPr lang="en-US" sz="1400" dirty="0"/>
          </a:p>
        </p:txBody>
      </p:sp>
      <p:sp>
        <p:nvSpPr>
          <p:cNvPr id="39" name="Shape 272"/>
          <p:cNvSpPr/>
          <p:nvPr/>
        </p:nvSpPr>
        <p:spPr>
          <a:xfrm>
            <a:off x="6460236" y="5060188"/>
            <a:ext cx="4951476" cy="974852"/>
          </a:xfrm>
          <a:prstGeom prst="roundRect">
            <a:avLst>
              <a:gd name="adj" fmla="val 7504"/>
            </a:avLst>
          </a:prstGeom>
          <a:solidFill>
            <a:schemeClr val="bg1"/>
          </a:solidFill>
          <a:ln/>
        </p:spPr>
      </p:sp>
      <p:sp>
        <p:nvSpPr>
          <p:cNvPr id="40" name="Text 273"/>
          <p:cNvSpPr txBox="1"/>
          <p:nvPr/>
        </p:nvSpPr>
        <p:spPr>
          <a:xfrm>
            <a:off x="6643116" y="5169916"/>
            <a:ext cx="4585716" cy="201168"/>
          </a:xfrm>
          <a:prstGeom prst="rect">
            <a:avLst/>
          </a:prstGeom>
          <a:noFill/>
          <a:ln/>
        </p:spPr>
        <p:txBody>
          <a:bodyPr wrap="square" lIns="0" tIns="0" rIns="0" bIns="0" rtlCol="0" anchor="t"/>
          <a:lstStyle/>
          <a:p>
            <a:pPr indent="0" marL="0">
              <a:buNone/>
            </a:pPr>
            <a:r>
              <a:rPr lang="en-US" sz="1200" b="1" dirty="0">
                <a:solidFill>
                  <a:schemeClr val="accent2"/>
                </a:solidFill>
              </a:rPr>
              <a:t>KẾT QUẢ</a:t>
            </a:r>
            <a:endParaRPr lang="en-US" sz="1200" dirty="0"/>
          </a:p>
        </p:txBody>
      </p:sp>
      <p:sp>
        <p:nvSpPr>
          <p:cNvPr id="41" name="Text 274"/>
          <p:cNvSpPr txBox="1"/>
          <p:nvPr/>
        </p:nvSpPr>
        <p:spPr>
          <a:xfrm>
            <a:off x="6643116"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Thay sổ nợ giấy dễ thất lạc; thu nợ nhẹ nhàng, giảm nợ xấu mà giữ tình làng nghĩa xóm.</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2"/>
                </a:solidFill>
              </a:rPr>
              <a:t>TRỤ CỘT 2  ·  SELLING</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2"/>
                </a:solidFill>
              </a:rPr>
              <a:t>Real-time Stock Sync &amp; Alerts</a:t>
            </a:r>
            <a:endParaRPr lang="en-US" sz="3200" dirty="0"/>
          </a:p>
        </p:txBody>
      </p:sp>
      <p:sp>
        <p:nvSpPr>
          <p:cNvPr id="4" name="Shape 275"/>
          <p:cNvSpPr/>
          <p:nvPr/>
        </p:nvSpPr>
        <p:spPr>
          <a:xfrm>
            <a:off x="548640" y="1554480"/>
            <a:ext cx="5394960" cy="4709160"/>
          </a:xfrm>
          <a:prstGeom prst="roundRect">
            <a:avLst>
              <a:gd name="adj" fmla="val 1553"/>
            </a:avLst>
          </a:prstGeom>
          <a:solidFill>
            <a:schemeClr val="bg2"/>
          </a:solidFill>
          <a:ln/>
        </p:spPr>
      </p:sp>
      <p:sp>
        <p:nvSpPr>
          <p:cNvPr id="5" name="Shape 276"/>
          <p:cNvSpPr/>
          <p:nvPr/>
        </p:nvSpPr>
        <p:spPr>
          <a:xfrm>
            <a:off x="777240" y="1783080"/>
            <a:ext cx="4937760" cy="4251960"/>
          </a:xfrm>
          <a:prstGeom prst="roundRect">
            <a:avLst>
              <a:gd name="adj" fmla="val 1720"/>
            </a:avLst>
          </a:prstGeom>
          <a:solidFill>
            <a:schemeClr val="bg1"/>
          </a:solidFill>
          <a:ln/>
        </p:spPr>
      </p:sp>
      <p:sp>
        <p:nvSpPr>
          <p:cNvPr id="6" name="Shape 277"/>
          <p:cNvSpPr/>
          <p:nvPr/>
        </p:nvSpPr>
        <p:spPr>
          <a:xfrm>
            <a:off x="1188720" y="1971675"/>
            <a:ext cx="685800" cy="685800"/>
          </a:xfrm>
          <a:prstGeom prst="ellipse">
            <a:avLst/>
          </a:prstGeom>
          <a:solidFill>
            <a:schemeClr val="accent2"/>
          </a:solidFill>
          <a:ln/>
        </p:spPr>
      </p:sp>
      <p:pic>
        <p:nvPicPr>
          <p:cNvPr id="7" name="Icon 278" descr="CashRegister">    </p:cNvPr>
          <p:cNvPicPr>
            <a:picLocks noChangeAspect="1"/>
          </p:cNvPicPr>
          <p:nvPr/>
        </p:nvPicPr>
        <p:blipFill>
          <a:blip r:embed="rId1"/>
          <a:stretch>
            <a:fillRect/>
          </a:stretch>
        </p:blipFill>
        <p:spPr>
          <a:xfrm>
            <a:off x="1360170" y="2143125"/>
            <a:ext cx="342900" cy="342900"/>
          </a:xfrm>
          <a:prstGeom prst="rect">
            <a:avLst/>
          </a:prstGeom>
        </p:spPr>
      </p:pic>
      <p:sp>
        <p:nvSpPr>
          <p:cNvPr id="8" name="Text 279"/>
          <p:cNvSpPr txBox="1"/>
          <p:nvPr/>
        </p:nvSpPr>
        <p:spPr>
          <a:xfrm>
            <a:off x="2103120" y="1783080"/>
            <a:ext cx="3337560" cy="1062990"/>
          </a:xfrm>
          <a:prstGeom prst="rect">
            <a:avLst/>
          </a:prstGeom>
          <a:noFill/>
          <a:ln/>
        </p:spPr>
        <p:txBody>
          <a:bodyPr wrap="square" lIns="0" tIns="0" rIns="0" bIns="0" rtlCol="0" anchor="ctr"/>
          <a:lstStyle/>
          <a:p>
            <a:pPr indent="0" marL="0">
              <a:buNone/>
            </a:pPr>
            <a:r>
              <a:rPr lang="en-US" sz="1600" b="1" dirty="0">
                <a:solidFill>
                  <a:schemeClr val="tx1"/>
                </a:solidFill>
              </a:rPr>
              <a:t>Bán lẻ tại quầy (quét mã / chọn bán)</a:t>
            </a:r>
            <a:endParaRPr lang="en-US" sz="1600" dirty="0"/>
          </a:p>
        </p:txBody>
      </p:sp>
      <p:pic>
        <p:nvPicPr>
          <p:cNvPr id="9" name="Icon 280" descr="ChevronDown">    </p:cNvPr>
          <p:cNvPicPr>
            <a:picLocks noChangeAspect="1"/>
          </p:cNvPicPr>
          <p:nvPr/>
        </p:nvPicPr>
        <p:blipFill>
          <a:blip r:embed="rId2"/>
          <a:stretch>
            <a:fillRect/>
          </a:stretch>
        </p:blipFill>
        <p:spPr>
          <a:xfrm>
            <a:off x="1431036" y="2718054"/>
            <a:ext cx="201168" cy="201168"/>
          </a:xfrm>
          <a:prstGeom prst="rect">
            <a:avLst/>
          </a:prstGeom>
        </p:spPr>
      </p:pic>
      <p:sp>
        <p:nvSpPr>
          <p:cNvPr id="10" name="Shape 281"/>
          <p:cNvSpPr/>
          <p:nvPr/>
        </p:nvSpPr>
        <p:spPr>
          <a:xfrm>
            <a:off x="1188720" y="3034665"/>
            <a:ext cx="685800" cy="685800"/>
          </a:xfrm>
          <a:prstGeom prst="ellipse">
            <a:avLst/>
          </a:prstGeom>
          <a:solidFill>
            <a:schemeClr val="accent2"/>
          </a:solidFill>
          <a:ln/>
        </p:spPr>
      </p:sp>
      <p:pic>
        <p:nvPicPr>
          <p:cNvPr id="11" name="Icon 282" descr="SyncAlt">    </p:cNvPr>
          <p:cNvPicPr>
            <a:picLocks noChangeAspect="1"/>
          </p:cNvPicPr>
          <p:nvPr/>
        </p:nvPicPr>
        <p:blipFill>
          <a:blip r:embed="rId3"/>
          <a:stretch>
            <a:fillRect/>
          </a:stretch>
        </p:blipFill>
        <p:spPr>
          <a:xfrm>
            <a:off x="1360170" y="3206115"/>
            <a:ext cx="342900" cy="342900"/>
          </a:xfrm>
          <a:prstGeom prst="rect">
            <a:avLst/>
          </a:prstGeom>
        </p:spPr>
      </p:pic>
      <p:sp>
        <p:nvSpPr>
          <p:cNvPr id="12" name="Text 283"/>
          <p:cNvSpPr txBox="1"/>
          <p:nvPr/>
        </p:nvSpPr>
        <p:spPr>
          <a:xfrm>
            <a:off x="2103120" y="2846070"/>
            <a:ext cx="3337560" cy="1062990"/>
          </a:xfrm>
          <a:prstGeom prst="rect">
            <a:avLst/>
          </a:prstGeom>
          <a:noFill/>
          <a:ln/>
        </p:spPr>
        <p:txBody>
          <a:bodyPr wrap="square" lIns="0" tIns="0" rIns="0" bIns="0" rtlCol="0" anchor="ctr"/>
          <a:lstStyle/>
          <a:p>
            <a:pPr indent="0" marL="0">
              <a:buNone/>
            </a:pPr>
            <a:r>
              <a:rPr lang="en-US" sz="1600" b="1" dirty="0">
                <a:solidFill>
                  <a:schemeClr val="tx1"/>
                </a:solidFill>
              </a:rPr>
              <a:t>Tự trừ tồn kho theo thời gian thực</a:t>
            </a:r>
            <a:endParaRPr lang="en-US" sz="1600" dirty="0"/>
          </a:p>
        </p:txBody>
      </p:sp>
      <p:pic>
        <p:nvPicPr>
          <p:cNvPr id="13" name="Icon 284" descr="ChevronDown">    </p:cNvPr>
          <p:cNvPicPr>
            <a:picLocks noChangeAspect="1"/>
          </p:cNvPicPr>
          <p:nvPr/>
        </p:nvPicPr>
        <p:blipFill>
          <a:blip r:embed="rId4"/>
          <a:stretch>
            <a:fillRect/>
          </a:stretch>
        </p:blipFill>
        <p:spPr>
          <a:xfrm>
            <a:off x="1431036" y="3781044"/>
            <a:ext cx="201168" cy="201168"/>
          </a:xfrm>
          <a:prstGeom prst="rect">
            <a:avLst/>
          </a:prstGeom>
        </p:spPr>
      </p:pic>
      <p:sp>
        <p:nvSpPr>
          <p:cNvPr id="14" name="Shape 285"/>
          <p:cNvSpPr/>
          <p:nvPr/>
        </p:nvSpPr>
        <p:spPr>
          <a:xfrm>
            <a:off x="1188720" y="4097655"/>
            <a:ext cx="685800" cy="685800"/>
          </a:xfrm>
          <a:prstGeom prst="ellipse">
            <a:avLst/>
          </a:prstGeom>
          <a:solidFill>
            <a:schemeClr val="accent2"/>
          </a:solidFill>
          <a:ln/>
        </p:spPr>
      </p:sp>
      <p:pic>
        <p:nvPicPr>
          <p:cNvPr id="15" name="Icon 286" descr="ExclamationTriangle">    </p:cNvPr>
          <p:cNvPicPr>
            <a:picLocks noChangeAspect="1"/>
          </p:cNvPicPr>
          <p:nvPr/>
        </p:nvPicPr>
        <p:blipFill>
          <a:blip r:embed="rId5"/>
          <a:stretch>
            <a:fillRect/>
          </a:stretch>
        </p:blipFill>
        <p:spPr>
          <a:xfrm>
            <a:off x="1360170" y="4269105"/>
            <a:ext cx="342900" cy="342900"/>
          </a:xfrm>
          <a:prstGeom prst="rect">
            <a:avLst/>
          </a:prstGeom>
        </p:spPr>
      </p:pic>
      <p:sp>
        <p:nvSpPr>
          <p:cNvPr id="16" name="Text 287"/>
          <p:cNvSpPr txBox="1"/>
          <p:nvPr/>
        </p:nvSpPr>
        <p:spPr>
          <a:xfrm>
            <a:off x="2103120" y="3909060"/>
            <a:ext cx="3337560" cy="1062990"/>
          </a:xfrm>
          <a:prstGeom prst="rect">
            <a:avLst/>
          </a:prstGeom>
          <a:noFill/>
          <a:ln/>
        </p:spPr>
        <p:txBody>
          <a:bodyPr wrap="square" lIns="0" tIns="0" rIns="0" bIns="0" rtlCol="0" anchor="ctr"/>
          <a:lstStyle/>
          <a:p>
            <a:pPr indent="0" marL="0">
              <a:buNone/>
            </a:pPr>
            <a:r>
              <a:rPr lang="en-US" sz="1600" b="1" dirty="0">
                <a:solidFill>
                  <a:schemeClr val="tx1"/>
                </a:solidFill>
              </a:rPr>
              <a:t>Chạm Safety Stock → cảnh báo</a:t>
            </a:r>
            <a:endParaRPr lang="en-US" sz="1600" dirty="0"/>
          </a:p>
        </p:txBody>
      </p:sp>
      <p:pic>
        <p:nvPicPr>
          <p:cNvPr id="17" name="Icon 288" descr="ChevronDown">    </p:cNvPr>
          <p:cNvPicPr>
            <a:picLocks noChangeAspect="1"/>
          </p:cNvPicPr>
          <p:nvPr/>
        </p:nvPicPr>
        <p:blipFill>
          <a:blip r:embed="rId6"/>
          <a:stretch>
            <a:fillRect/>
          </a:stretch>
        </p:blipFill>
        <p:spPr>
          <a:xfrm>
            <a:off x="1431036" y="4844034"/>
            <a:ext cx="201168" cy="201168"/>
          </a:xfrm>
          <a:prstGeom prst="rect">
            <a:avLst/>
          </a:prstGeom>
        </p:spPr>
      </p:pic>
      <p:sp>
        <p:nvSpPr>
          <p:cNvPr id="18" name="Shape 289"/>
          <p:cNvSpPr/>
          <p:nvPr/>
        </p:nvSpPr>
        <p:spPr>
          <a:xfrm>
            <a:off x="1188720" y="5160645"/>
            <a:ext cx="685800" cy="685800"/>
          </a:xfrm>
          <a:prstGeom prst="ellipse">
            <a:avLst/>
          </a:prstGeom>
          <a:solidFill>
            <a:schemeClr val="accent2"/>
          </a:solidFill>
          <a:ln/>
        </p:spPr>
      </p:sp>
      <p:pic>
        <p:nvPicPr>
          <p:cNvPr id="19" name="Icon 290" descr="ShoppingCart">    </p:cNvPr>
          <p:cNvPicPr>
            <a:picLocks noChangeAspect="1"/>
          </p:cNvPicPr>
          <p:nvPr/>
        </p:nvPicPr>
        <p:blipFill>
          <a:blip r:embed="rId7"/>
          <a:stretch>
            <a:fillRect/>
          </a:stretch>
        </p:blipFill>
        <p:spPr>
          <a:xfrm>
            <a:off x="1360170" y="5332095"/>
            <a:ext cx="342900" cy="342900"/>
          </a:xfrm>
          <a:prstGeom prst="rect">
            <a:avLst/>
          </a:prstGeom>
        </p:spPr>
      </p:pic>
      <p:sp>
        <p:nvSpPr>
          <p:cNvPr id="20" name="Text 291"/>
          <p:cNvSpPr txBox="1"/>
          <p:nvPr/>
        </p:nvSpPr>
        <p:spPr>
          <a:xfrm>
            <a:off x="2103120" y="4972050"/>
            <a:ext cx="3337560" cy="1062990"/>
          </a:xfrm>
          <a:prstGeom prst="rect">
            <a:avLst/>
          </a:prstGeom>
          <a:noFill/>
          <a:ln/>
        </p:spPr>
        <p:txBody>
          <a:bodyPr wrap="square" lIns="0" tIns="0" rIns="0" bIns="0" rtlCol="0" anchor="ctr"/>
          <a:lstStyle/>
          <a:p>
            <a:pPr indent="0" marL="0">
              <a:buNone/>
            </a:pPr>
            <a:r>
              <a:rPr lang="en-US" sz="1600" b="1" dirty="0">
                <a:solidFill>
                  <a:schemeClr val="tx1"/>
                </a:solidFill>
              </a:rPr>
              <a:t>1 chạm sang giỏ hàng Wholesale</a:t>
            </a:r>
            <a:endParaRPr lang="en-US" sz="1600" dirty="0"/>
          </a:p>
        </p:txBody>
      </p:sp>
      <p:sp>
        <p:nvSpPr>
          <p:cNvPr id="21" name="Shape 292"/>
          <p:cNvSpPr/>
          <p:nvPr/>
        </p:nvSpPr>
        <p:spPr>
          <a:xfrm>
            <a:off x="6217920" y="1554480"/>
            <a:ext cx="5422392" cy="4709160"/>
          </a:xfrm>
          <a:prstGeom prst="roundRect">
            <a:avLst>
              <a:gd name="adj" fmla="val 1553"/>
            </a:avLst>
          </a:prstGeom>
          <a:solidFill>
            <a:schemeClr val="bg2"/>
          </a:solidFill>
          <a:ln/>
        </p:spPr>
      </p:sp>
      <p:sp>
        <p:nvSpPr>
          <p:cNvPr id="22" name="Pill 293"/>
          <p:cNvSpPr/>
          <p:nvPr/>
        </p:nvSpPr>
        <p:spPr>
          <a:xfrm>
            <a:off x="6492240" y="1828800"/>
            <a:ext cx="566928" cy="329184"/>
          </a:xfrm>
          <a:prstGeom prst="roundRect">
            <a:avLst>
              <a:gd name="adj" fmla="val 47222"/>
            </a:avLst>
          </a:prstGeom>
          <a:solidFill>
            <a:schemeClr val="accent2"/>
          </a:solidFill>
          <a:ln/>
        </p:spPr>
        <p:txBody>
          <a:bodyPr wrap="square" lIns="0" tIns="0" rIns="0" bIns="0" rtlCol="0" anchor="ctr"/>
          <a:lstStyle/>
          <a:p>
            <a:pPr algn="ctr" indent="0" marL="0">
              <a:buNone/>
            </a:pPr>
            <a:r>
              <a:rPr lang="en-US" sz="1400" b="1" dirty="0">
                <a:solidFill>
                  <a:schemeClr val="bg1"/>
                </a:solidFill>
              </a:rPr>
              <a:t>2.5</a:t>
            </a:r>
            <a:endParaRPr lang="en-US" sz="1400" dirty="0"/>
          </a:p>
        </p:txBody>
      </p:sp>
      <p:sp>
        <p:nvSpPr>
          <p:cNvPr id="23" name="Text 294"/>
          <p:cNvSpPr txBox="1"/>
          <p:nvPr/>
        </p:nvSpPr>
        <p:spPr>
          <a:xfrm>
            <a:off x="7196328" y="1737360"/>
            <a:ext cx="4169664" cy="512064"/>
          </a:xfrm>
          <a:prstGeom prst="rect">
            <a:avLst/>
          </a:prstGeom>
          <a:noFill/>
          <a:ln/>
        </p:spPr>
        <p:txBody>
          <a:bodyPr wrap="square" lIns="0" tIns="0" rIns="0" bIns="0" rtlCol="0" anchor="ctr"/>
          <a:lstStyle/>
          <a:p>
            <a:pPr indent="0" marL="0">
              <a:buNone/>
            </a:pPr>
            <a:r>
              <a:rPr lang="en-US" sz="1800" b="1" dirty="0">
                <a:solidFill>
                  <a:schemeClr val="tx1"/>
                </a:solidFill>
              </a:rPr>
              <a:t>Đồng bộ &amp; cảnh báo tồn kho thời gian thực</a:t>
            </a:r>
            <a:endParaRPr lang="en-US" sz="1800" dirty="0"/>
          </a:p>
        </p:txBody>
      </p:sp>
      <p:sp>
        <p:nvSpPr>
          <p:cNvPr id="24" name="Text 295"/>
          <p:cNvSpPr txBox="1"/>
          <p:nvPr/>
        </p:nvSpPr>
        <p:spPr>
          <a:xfrm>
            <a:off x="6492240" y="2468880"/>
            <a:ext cx="4873752" cy="2090928"/>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Tự trừ tồn khi bán lẻ (quét mã hoặc chọn bán), cộng tồn khi nhận hàng từ Distributor.</a:t>
            </a:r>
            <a:endParaRPr lang="en-US" sz="1600" dirty="0"/>
          </a:p>
          <a:p>
            <a:pPr marL="177800" indent="-177800">
              <a:spcAft>
                <a:spcPts val="1200"/>
              </a:spcAft>
              <a:buSzPct val="100000"/>
              <a:buChar char="•"/>
            </a:pPr>
            <a:r>
              <a:rPr lang="en-US" sz="1600" dirty="0">
                <a:solidFill>
                  <a:schemeClr val="tx1"/>
                </a:solidFill>
              </a:rPr>
              <a:t>Chạm Safety Stock Threshold → cảnh báo tức thì kèm nút tắt sang luồng đặt hàng sỉ.</a:t>
            </a:r>
            <a:endParaRPr lang="en-US" sz="1600" dirty="0"/>
          </a:p>
          <a:p>
            <a:pPr marL="177800" indent="-177800">
              <a:spcAft>
                <a:spcPts val="1200"/>
              </a:spcAft>
              <a:buSzPct val="100000"/>
              <a:buChar char="•"/>
            </a:pPr>
            <a:r>
              <a:rPr lang="en-US" sz="1600" dirty="0">
                <a:solidFill>
                  <a:schemeClr val="tx1"/>
                </a:solidFill>
              </a:rPr>
              <a:t>Khép kín B2B2C Closed Loop, biến Bonbon thành trợ lý quản lý kinh doanh toàn diện.</a:t>
            </a:r>
            <a:endParaRPr lang="en-US" sz="1600" dirty="0"/>
          </a:p>
        </p:txBody>
      </p:sp>
      <p:sp>
        <p:nvSpPr>
          <p:cNvPr id="25" name="Shape 296"/>
          <p:cNvSpPr/>
          <p:nvPr/>
        </p:nvSpPr>
        <p:spPr>
          <a:xfrm>
            <a:off x="6492240" y="4696968"/>
            <a:ext cx="4873752" cy="1292352"/>
          </a:xfrm>
          <a:prstGeom prst="roundRect">
            <a:avLst>
              <a:gd name="adj" fmla="val 5660"/>
            </a:avLst>
          </a:prstGeom>
          <a:solidFill>
            <a:schemeClr val="bg1"/>
          </a:solidFill>
          <a:ln/>
        </p:spPr>
      </p:sp>
      <p:sp>
        <p:nvSpPr>
          <p:cNvPr id="26" name="Text 297"/>
          <p:cNvSpPr txBox="1"/>
          <p:nvPr/>
        </p:nvSpPr>
        <p:spPr>
          <a:xfrm>
            <a:off x="6675120" y="4806696"/>
            <a:ext cx="4507992" cy="201168"/>
          </a:xfrm>
          <a:prstGeom prst="rect">
            <a:avLst/>
          </a:prstGeom>
          <a:noFill/>
          <a:ln/>
        </p:spPr>
        <p:txBody>
          <a:bodyPr wrap="square" lIns="0" tIns="0" rIns="0" bIns="0" rtlCol="0" anchor="t"/>
          <a:lstStyle/>
          <a:p>
            <a:pPr indent="0" marL="0">
              <a:buNone/>
            </a:pPr>
            <a:r>
              <a:rPr lang="en-US" sz="1200" b="1" dirty="0">
                <a:solidFill>
                  <a:schemeClr val="accent2"/>
                </a:solidFill>
              </a:rPr>
              <a:t>VÍ DỤ</a:t>
            </a:r>
            <a:endParaRPr lang="en-US" sz="1200" dirty="0"/>
          </a:p>
        </p:txBody>
      </p:sp>
      <p:sp>
        <p:nvSpPr>
          <p:cNvPr id="27" name="Text 298"/>
          <p:cNvSpPr txBox="1"/>
          <p:nvPr/>
        </p:nvSpPr>
        <p:spPr>
          <a:xfrm>
            <a:off x="6675120" y="5044440"/>
            <a:ext cx="4507992" cy="853440"/>
          </a:xfrm>
          <a:prstGeom prst="rect">
            <a:avLst/>
          </a:prstGeom>
          <a:noFill/>
          <a:ln/>
        </p:spPr>
        <p:txBody>
          <a:bodyPr wrap="square" lIns="0" tIns="0" rIns="0" bIns="0" rtlCol="0" anchor="t"/>
          <a:lstStyle/>
          <a:p>
            <a:pPr indent="0" marL="0">
              <a:buNone/>
            </a:pPr>
            <a:r>
              <a:rPr lang="en-US" sz="1600" dirty="0">
                <a:solidFill>
                  <a:schemeClr val="tx1"/>
                </a:solidFill>
              </a:rPr>
              <a:t>“Sản phẩm X sắp hết hàng trên kệ.” Chủ tiệm không còn chỉ biết hết hàng khi khách đến hỏi mua.</a:t>
            </a:r>
            <a:endParaRPr lang="en-US" sz="16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3"/>
                </a:solidFill>
              </a:rPr>
              <a:t>TRỤ CỘT 3  ·  WHOLESALE</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3"/>
                </a:solidFill>
              </a:rPr>
              <a:t>Hai chiều dòng chảy của Distributor</a:t>
            </a:r>
            <a:endParaRPr lang="en-US" sz="3200" dirty="0"/>
          </a:p>
        </p:txBody>
      </p:sp>
      <p:sp>
        <p:nvSpPr>
          <p:cNvPr id="4" name="Shape 299"/>
          <p:cNvSpPr/>
          <p:nvPr/>
        </p:nvSpPr>
        <p:spPr>
          <a:xfrm>
            <a:off x="548640" y="1691640"/>
            <a:ext cx="2194560" cy="1188720"/>
          </a:xfrm>
          <a:prstGeom prst="roundRect">
            <a:avLst>
              <a:gd name="adj" fmla="val 6154"/>
            </a:avLst>
          </a:prstGeom>
          <a:solidFill>
            <a:schemeClr val="bg2"/>
          </a:solidFill>
          <a:ln/>
        </p:spPr>
      </p:sp>
      <p:sp>
        <p:nvSpPr>
          <p:cNvPr id="5" name="Shape 300"/>
          <p:cNvSpPr/>
          <p:nvPr/>
        </p:nvSpPr>
        <p:spPr>
          <a:xfrm>
            <a:off x="731520" y="1965960"/>
            <a:ext cx="640080" cy="640080"/>
          </a:xfrm>
          <a:prstGeom prst="ellipse">
            <a:avLst/>
          </a:prstGeom>
          <a:solidFill>
            <a:schemeClr val="accent3"/>
          </a:solidFill>
          <a:ln/>
        </p:spPr>
      </p:sp>
      <p:pic>
        <p:nvPicPr>
          <p:cNvPr id="6" name="Icon 301" descr="Building">    </p:cNvPr>
          <p:cNvPicPr>
            <a:picLocks noChangeAspect="1"/>
          </p:cNvPicPr>
          <p:nvPr/>
        </p:nvPicPr>
        <p:blipFill>
          <a:blip r:embed="rId1"/>
          <a:stretch>
            <a:fillRect/>
          </a:stretch>
        </p:blipFill>
        <p:spPr>
          <a:xfrm>
            <a:off x="891540" y="2125980"/>
            <a:ext cx="320040" cy="320040"/>
          </a:xfrm>
          <a:prstGeom prst="rect">
            <a:avLst/>
          </a:prstGeom>
        </p:spPr>
      </p:pic>
      <p:sp>
        <p:nvSpPr>
          <p:cNvPr id="7" name="Text 302"/>
          <p:cNvSpPr txBox="1"/>
          <p:nvPr/>
        </p:nvSpPr>
        <p:spPr>
          <a:xfrm>
            <a:off x="1508760" y="1691640"/>
            <a:ext cx="1143000" cy="1188720"/>
          </a:xfrm>
          <a:prstGeom prst="rect">
            <a:avLst/>
          </a:prstGeom>
          <a:noFill/>
          <a:ln/>
        </p:spPr>
        <p:txBody>
          <a:bodyPr wrap="square" lIns="0" tIns="0" rIns="0" bIns="0" rtlCol="0" anchor="ctr"/>
          <a:lstStyle/>
          <a:p>
            <a:pPr indent="0" marL="0">
              <a:buNone/>
            </a:pPr>
            <a:r>
              <a:rPr lang="en-US" sz="1600" b="1" dirty="0">
                <a:solidFill>
                  <a:schemeClr val="tx1"/>
                </a:solidFill>
              </a:rPr>
              <a:t>Brand</a:t>
            </a:r>
            <a:endParaRPr lang="en-US" sz="1600" dirty="0"/>
          </a:p>
        </p:txBody>
      </p:sp>
      <p:sp>
        <p:nvSpPr>
          <p:cNvPr id="8" name="Shape 303"/>
          <p:cNvSpPr/>
          <p:nvPr/>
        </p:nvSpPr>
        <p:spPr>
          <a:xfrm>
            <a:off x="4997196" y="1691640"/>
            <a:ext cx="2194560" cy="1188720"/>
          </a:xfrm>
          <a:prstGeom prst="roundRect">
            <a:avLst>
              <a:gd name="adj" fmla="val 6154"/>
            </a:avLst>
          </a:prstGeom>
          <a:solidFill>
            <a:schemeClr val="accent3"/>
          </a:solidFill>
          <a:ln/>
        </p:spPr>
      </p:sp>
      <p:sp>
        <p:nvSpPr>
          <p:cNvPr id="9" name="Shape 304"/>
          <p:cNvSpPr/>
          <p:nvPr/>
        </p:nvSpPr>
        <p:spPr>
          <a:xfrm>
            <a:off x="5180076" y="1965960"/>
            <a:ext cx="640080" cy="640080"/>
          </a:xfrm>
          <a:prstGeom prst="ellipse">
            <a:avLst/>
          </a:prstGeom>
          <a:solidFill>
            <a:schemeClr val="bg1"/>
          </a:solidFill>
          <a:ln/>
        </p:spPr>
      </p:sp>
      <p:pic>
        <p:nvPicPr>
          <p:cNvPr id="10" name="Icon 305" descr="Warehouse">    </p:cNvPr>
          <p:cNvPicPr>
            <a:picLocks noChangeAspect="1"/>
          </p:cNvPicPr>
          <p:nvPr/>
        </p:nvPicPr>
        <p:blipFill>
          <a:blip r:embed="rId2"/>
          <a:stretch>
            <a:fillRect/>
          </a:stretch>
        </p:blipFill>
        <p:spPr>
          <a:xfrm>
            <a:off x="5340096" y="2125980"/>
            <a:ext cx="320040" cy="320040"/>
          </a:xfrm>
          <a:prstGeom prst="rect">
            <a:avLst/>
          </a:prstGeom>
        </p:spPr>
      </p:pic>
      <p:sp>
        <p:nvSpPr>
          <p:cNvPr id="11" name="Text 306"/>
          <p:cNvSpPr txBox="1"/>
          <p:nvPr/>
        </p:nvSpPr>
        <p:spPr>
          <a:xfrm>
            <a:off x="5957316" y="1691640"/>
            <a:ext cx="1143000" cy="1188720"/>
          </a:xfrm>
          <a:prstGeom prst="rect">
            <a:avLst/>
          </a:prstGeom>
          <a:noFill/>
          <a:ln/>
        </p:spPr>
        <p:txBody>
          <a:bodyPr wrap="square" lIns="0" tIns="0" rIns="0" bIns="0" rtlCol="0" anchor="ctr"/>
          <a:lstStyle/>
          <a:p>
            <a:pPr indent="0" marL="0">
              <a:buNone/>
            </a:pPr>
            <a:r>
              <a:rPr lang="en-US" sz="1600" b="1" dirty="0">
                <a:solidFill>
                  <a:schemeClr val="bg1"/>
                </a:solidFill>
              </a:rPr>
              <a:t>Distributor (Wholesaler)</a:t>
            </a:r>
            <a:endParaRPr lang="en-US" sz="1600" dirty="0"/>
          </a:p>
        </p:txBody>
      </p:sp>
      <p:sp>
        <p:nvSpPr>
          <p:cNvPr id="12" name="Shape 307"/>
          <p:cNvSpPr/>
          <p:nvPr/>
        </p:nvSpPr>
        <p:spPr>
          <a:xfrm>
            <a:off x="9445752" y="1691640"/>
            <a:ext cx="2194560" cy="1188720"/>
          </a:xfrm>
          <a:prstGeom prst="roundRect">
            <a:avLst>
              <a:gd name="adj" fmla="val 6154"/>
            </a:avLst>
          </a:prstGeom>
          <a:solidFill>
            <a:schemeClr val="bg2"/>
          </a:solidFill>
          <a:ln/>
        </p:spPr>
      </p:sp>
      <p:sp>
        <p:nvSpPr>
          <p:cNvPr id="13" name="Shape 308"/>
          <p:cNvSpPr/>
          <p:nvPr/>
        </p:nvSpPr>
        <p:spPr>
          <a:xfrm>
            <a:off x="9628632" y="1965960"/>
            <a:ext cx="640080" cy="640080"/>
          </a:xfrm>
          <a:prstGeom prst="ellipse">
            <a:avLst/>
          </a:prstGeom>
          <a:solidFill>
            <a:schemeClr val="accent3"/>
          </a:solidFill>
          <a:ln/>
        </p:spPr>
      </p:sp>
      <p:pic>
        <p:nvPicPr>
          <p:cNvPr id="14" name="Icon 309" descr="Store">    </p:cNvPr>
          <p:cNvPicPr>
            <a:picLocks noChangeAspect="1"/>
          </p:cNvPicPr>
          <p:nvPr/>
        </p:nvPicPr>
        <p:blipFill>
          <a:blip r:embed="rId3"/>
          <a:stretch>
            <a:fillRect/>
          </a:stretch>
        </p:blipFill>
        <p:spPr>
          <a:xfrm>
            <a:off x="9788652" y="2125980"/>
            <a:ext cx="320040" cy="320040"/>
          </a:xfrm>
          <a:prstGeom prst="rect">
            <a:avLst/>
          </a:prstGeom>
        </p:spPr>
      </p:pic>
      <p:sp>
        <p:nvSpPr>
          <p:cNvPr id="15" name="Text 310"/>
          <p:cNvSpPr txBox="1"/>
          <p:nvPr/>
        </p:nvSpPr>
        <p:spPr>
          <a:xfrm>
            <a:off x="10405872" y="1691640"/>
            <a:ext cx="1143000" cy="1188720"/>
          </a:xfrm>
          <a:prstGeom prst="rect">
            <a:avLst/>
          </a:prstGeom>
          <a:noFill/>
          <a:ln/>
        </p:spPr>
        <p:txBody>
          <a:bodyPr wrap="square" lIns="0" tIns="0" rIns="0" bIns="0" rtlCol="0" anchor="ctr"/>
          <a:lstStyle/>
          <a:p>
            <a:pPr indent="0" marL="0">
              <a:buNone/>
            </a:pPr>
            <a:r>
              <a:rPr lang="en-US" sz="1600" b="1" dirty="0">
                <a:solidFill>
                  <a:schemeClr val="tx1"/>
                </a:solidFill>
              </a:rPr>
              <a:t>Merchant</a:t>
            </a:r>
            <a:endParaRPr lang="en-US" sz="1600" dirty="0"/>
          </a:p>
        </p:txBody>
      </p:sp>
      <p:sp>
        <p:nvSpPr>
          <p:cNvPr id="16" name="Text 311"/>
          <p:cNvSpPr txBox="1"/>
          <p:nvPr/>
        </p:nvSpPr>
        <p:spPr>
          <a:xfrm>
            <a:off x="2834640" y="1783080"/>
            <a:ext cx="2071116" cy="274320"/>
          </a:xfrm>
          <a:prstGeom prst="rect">
            <a:avLst/>
          </a:prstGeom>
          <a:noFill/>
          <a:ln/>
        </p:spPr>
        <p:txBody>
          <a:bodyPr wrap="square" lIns="0" tIns="0" rIns="0" bIns="0" rtlCol="0" anchor="t"/>
          <a:lstStyle/>
          <a:p>
            <a:pPr algn="ctr" indent="0" marL="0">
              <a:buNone/>
            </a:pPr>
            <a:r>
              <a:rPr lang="en-US" sz="1400" b="1" dirty="0">
                <a:solidFill>
                  <a:schemeClr val="accent3"/>
                </a:solidFill>
              </a:rPr>
              <a:t>PRIMARY INWARD</a:t>
            </a:r>
            <a:endParaRPr lang="en-US" sz="1400" dirty="0"/>
          </a:p>
        </p:txBody>
      </p:sp>
      <p:sp>
        <p:nvSpPr>
          <p:cNvPr id="17" name="Shape 312"/>
          <p:cNvSpPr/>
          <p:nvPr/>
        </p:nvSpPr>
        <p:spPr>
          <a:xfrm>
            <a:off x="2834640" y="2286000"/>
            <a:ext cx="2071116" cy="0"/>
          </a:xfrm>
          <a:prstGeom prst="line">
            <a:avLst/>
          </a:prstGeom>
          <a:noFill/>
          <a:ln w="25400">
            <a:solidFill>
              <a:schemeClr val="accent1"/>
            </a:solidFill>
            <a:prstDash val="solid"/>
            <a:tailEnd type="triangle"/>
          </a:ln>
        </p:spPr>
      </p:sp>
      <p:sp>
        <p:nvSpPr>
          <p:cNvPr id="18" name="Text 313"/>
          <p:cNvSpPr txBox="1"/>
          <p:nvPr/>
        </p:nvSpPr>
        <p:spPr>
          <a:xfrm>
            <a:off x="2926080" y="2468880"/>
            <a:ext cx="1888236" cy="914400"/>
          </a:xfrm>
          <a:prstGeom prst="rect">
            <a:avLst/>
          </a:prstGeom>
          <a:noFill/>
          <a:ln/>
        </p:spPr>
        <p:txBody>
          <a:bodyPr wrap="square" lIns="0" tIns="0" rIns="0" bIns="0" rtlCol="0" anchor="t"/>
          <a:lstStyle/>
          <a:p>
            <a:pPr algn="ctr" indent="0" marL="0">
              <a:buNone/>
            </a:pPr>
            <a:r>
              <a:rPr lang="en-US" sz="1400" dirty="0">
                <a:solidFill>
                  <a:schemeClr val="tx1"/>
                </a:solidFill>
              </a:rPr>
              <a:t>Distributor đặt hàng trực tiếp từ Brand qua app theo hợp đồng thương mại đã ký.</a:t>
            </a:r>
            <a:endParaRPr lang="en-US" sz="1400" dirty="0"/>
          </a:p>
        </p:txBody>
      </p:sp>
      <p:sp>
        <p:nvSpPr>
          <p:cNvPr id="19" name="Text 314"/>
          <p:cNvSpPr txBox="1"/>
          <p:nvPr/>
        </p:nvSpPr>
        <p:spPr>
          <a:xfrm>
            <a:off x="7283196" y="1783080"/>
            <a:ext cx="2071116" cy="274320"/>
          </a:xfrm>
          <a:prstGeom prst="rect">
            <a:avLst/>
          </a:prstGeom>
          <a:noFill/>
          <a:ln/>
        </p:spPr>
        <p:txBody>
          <a:bodyPr wrap="square" lIns="0" tIns="0" rIns="0" bIns="0" rtlCol="0" anchor="t"/>
          <a:lstStyle/>
          <a:p>
            <a:pPr algn="ctr" indent="0" marL="0">
              <a:buNone/>
            </a:pPr>
            <a:r>
              <a:rPr lang="en-US" sz="1400" b="1" dirty="0">
                <a:solidFill>
                  <a:schemeClr val="accent3"/>
                </a:solidFill>
              </a:rPr>
              <a:t>SECONDARY OUTWARD</a:t>
            </a:r>
            <a:endParaRPr lang="en-US" sz="1400" dirty="0"/>
          </a:p>
        </p:txBody>
      </p:sp>
      <p:sp>
        <p:nvSpPr>
          <p:cNvPr id="20" name="Shape 315"/>
          <p:cNvSpPr/>
          <p:nvPr/>
        </p:nvSpPr>
        <p:spPr>
          <a:xfrm>
            <a:off x="7283196" y="2286000"/>
            <a:ext cx="2071116" cy="0"/>
          </a:xfrm>
          <a:prstGeom prst="line">
            <a:avLst/>
          </a:prstGeom>
          <a:noFill/>
          <a:ln w="25400">
            <a:solidFill>
              <a:schemeClr val="accent1"/>
            </a:solidFill>
            <a:prstDash val="solid"/>
            <a:tailEnd type="triangle"/>
          </a:ln>
        </p:spPr>
      </p:sp>
      <p:sp>
        <p:nvSpPr>
          <p:cNvPr id="21" name="Text 316"/>
          <p:cNvSpPr txBox="1"/>
          <p:nvPr/>
        </p:nvSpPr>
        <p:spPr>
          <a:xfrm>
            <a:off x="7374636" y="2468880"/>
            <a:ext cx="1888236" cy="914400"/>
          </a:xfrm>
          <a:prstGeom prst="rect">
            <a:avLst/>
          </a:prstGeom>
          <a:noFill/>
          <a:ln/>
        </p:spPr>
        <p:txBody>
          <a:bodyPr wrap="square" lIns="0" tIns="0" rIns="0" bIns="0" rtlCol="0" anchor="t"/>
          <a:lstStyle/>
          <a:p>
            <a:pPr algn="ctr" indent="0" marL="0">
              <a:buNone/>
            </a:pPr>
            <a:r>
              <a:rPr lang="en-US" sz="1400" dirty="0">
                <a:solidFill>
                  <a:schemeClr val="tx1"/>
                </a:solidFill>
              </a:rPr>
              <a:t>Hàng nhập về tự động lên kho để bán lại cho Merchant trong khu vực quản lý.</a:t>
            </a:r>
            <a:endParaRPr lang="en-US" sz="1400" dirty="0"/>
          </a:p>
        </p:txBody>
      </p:sp>
      <p:sp>
        <p:nvSpPr>
          <p:cNvPr id="22" name="Shape 317"/>
          <p:cNvSpPr/>
          <p:nvPr/>
        </p:nvSpPr>
        <p:spPr>
          <a:xfrm>
            <a:off x="548640" y="4160520"/>
            <a:ext cx="11091672" cy="2057400"/>
          </a:xfrm>
          <a:prstGeom prst="roundRect">
            <a:avLst>
              <a:gd name="adj" fmla="val 3556"/>
            </a:avLst>
          </a:prstGeom>
          <a:solidFill>
            <a:schemeClr val="accent3"/>
          </a:solidFill>
          <a:ln/>
        </p:spPr>
      </p:sp>
      <p:sp>
        <p:nvSpPr>
          <p:cNvPr id="23" name="Text 318"/>
          <p:cNvSpPr txBox="1"/>
          <p:nvPr/>
        </p:nvSpPr>
        <p:spPr>
          <a:xfrm>
            <a:off x="914400" y="4434840"/>
            <a:ext cx="5486400" cy="274320"/>
          </a:xfrm>
          <a:prstGeom prst="rect">
            <a:avLst/>
          </a:prstGeom>
          <a:noFill/>
          <a:ln/>
        </p:spPr>
        <p:txBody>
          <a:bodyPr wrap="square" lIns="0" tIns="0" rIns="0" bIns="0" rtlCol="0" anchor="t"/>
          <a:lstStyle/>
          <a:p>
            <a:pPr indent="0" marL="0">
              <a:buNone/>
            </a:pPr>
            <a:r>
              <a:rPr lang="en-US" sz="1400" b="1" dirty="0">
                <a:solidFill>
                  <a:schemeClr val="bg1"/>
                </a:solidFill>
              </a:rPr>
              <a:t>MỤC ĐÍCH CHIẾN LƯỢC</a:t>
            </a:r>
            <a:endParaRPr lang="en-US" sz="1400" dirty="0"/>
          </a:p>
        </p:txBody>
      </p:sp>
      <p:sp>
        <p:nvSpPr>
          <p:cNvPr id="24" name="Text 319"/>
          <p:cNvSpPr txBox="1"/>
          <p:nvPr/>
        </p:nvSpPr>
        <p:spPr>
          <a:xfrm>
            <a:off x="914400" y="4800600"/>
            <a:ext cx="10332720" cy="548640"/>
          </a:xfrm>
          <a:prstGeom prst="rect">
            <a:avLst/>
          </a:prstGeom>
          <a:noFill/>
          <a:ln/>
        </p:spPr>
        <p:txBody>
          <a:bodyPr wrap="square" lIns="0" tIns="0" rIns="0" bIns="0" rtlCol="0" anchor="ctr"/>
          <a:lstStyle/>
          <a:p>
            <a:pPr indent="0" marL="0">
              <a:buNone/>
            </a:pPr>
            <a:r>
              <a:rPr lang="en-US" sz="2800" b="1" dirty="0">
                <a:solidFill>
                  <a:schemeClr val="bg1"/>
                </a:solidFill>
              </a:rPr>
              <a:t>Lock-in Brand và Distributor vào nền tảng Bonbon Shop</a:t>
            </a:r>
            <a:endParaRPr lang="en-US" sz="2800" dirty="0"/>
          </a:p>
        </p:txBody>
      </p:sp>
      <p:sp>
        <p:nvSpPr>
          <p:cNvPr id="25" name="Text 320"/>
          <p:cNvSpPr txBox="1"/>
          <p:nvPr/>
        </p:nvSpPr>
        <p:spPr>
          <a:xfrm>
            <a:off x="914400" y="5486400"/>
            <a:ext cx="10332720" cy="411480"/>
          </a:xfrm>
          <a:prstGeom prst="rect">
            <a:avLst/>
          </a:prstGeom>
          <a:noFill/>
          <a:ln/>
        </p:spPr>
        <p:txBody>
          <a:bodyPr wrap="square" lIns="0" tIns="0" rIns="0" bIns="0" rtlCol="0" anchor="ctr"/>
          <a:lstStyle/>
          <a:p>
            <a:pPr indent="0" marL="0">
              <a:buNone/>
            </a:pPr>
            <a:r>
              <a:rPr lang="en-US" sz="1800" dirty="0">
                <a:solidFill>
                  <a:schemeClr val="bg1"/>
                </a:solidFill>
              </a:rPr>
              <a:t>Biến Bonbon thành cổng giao dịch số hóa duy nhất trong chuỗi phân phối.</a:t>
            </a:r>
            <a:endParaRPr lang="en-US" sz="18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3"/>
                </a:solidFill>
              </a:rPr>
              <a:t>TRỤ CỘT 3  ·  WHOLESALE</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3"/>
                </a:solidFill>
              </a:rPr>
              <a:t>Primary Ordering, Inventory Sync &amp; Rebate</a:t>
            </a:r>
            <a:endParaRPr lang="en-US" sz="3200" dirty="0"/>
          </a:p>
        </p:txBody>
      </p:sp>
      <p:sp>
        <p:nvSpPr>
          <p:cNvPr id="4" name="Shape 321"/>
          <p:cNvSpPr/>
          <p:nvPr/>
        </p:nvSpPr>
        <p:spPr>
          <a:xfrm>
            <a:off x="548640" y="1554480"/>
            <a:ext cx="3514344" cy="4709160"/>
          </a:xfrm>
          <a:prstGeom prst="roundRect">
            <a:avLst>
              <a:gd name="adj" fmla="val 2082"/>
            </a:avLst>
          </a:prstGeom>
          <a:solidFill>
            <a:schemeClr val="bg2"/>
          </a:solidFill>
          <a:ln/>
        </p:spPr>
      </p:sp>
      <p:sp>
        <p:nvSpPr>
          <p:cNvPr id="5" name="Shape 322"/>
          <p:cNvSpPr/>
          <p:nvPr/>
        </p:nvSpPr>
        <p:spPr>
          <a:xfrm>
            <a:off x="777240" y="1828800"/>
            <a:ext cx="731520" cy="731520"/>
          </a:xfrm>
          <a:prstGeom prst="ellipse">
            <a:avLst/>
          </a:prstGeom>
          <a:solidFill>
            <a:schemeClr val="accent3"/>
          </a:solidFill>
          <a:ln/>
        </p:spPr>
      </p:sp>
      <p:pic>
        <p:nvPicPr>
          <p:cNvPr id="6" name="Icon 323" descr="ClipboardList">    </p:cNvPr>
          <p:cNvPicPr>
            <a:picLocks noChangeAspect="1"/>
          </p:cNvPicPr>
          <p:nvPr/>
        </p:nvPicPr>
        <p:blipFill>
          <a:blip r:embed="rId1"/>
          <a:stretch>
            <a:fillRect/>
          </a:stretch>
        </p:blipFill>
        <p:spPr>
          <a:xfrm>
            <a:off x="960120" y="2011680"/>
            <a:ext cx="365760" cy="365760"/>
          </a:xfrm>
          <a:prstGeom prst="rect">
            <a:avLst/>
          </a:prstGeom>
        </p:spPr>
      </p:pic>
      <p:sp>
        <p:nvSpPr>
          <p:cNvPr id="7" name="Pill 324"/>
          <p:cNvSpPr/>
          <p:nvPr/>
        </p:nvSpPr>
        <p:spPr>
          <a:xfrm>
            <a:off x="1737360" y="1847088"/>
            <a:ext cx="566928" cy="292608"/>
          </a:xfrm>
          <a:prstGeom prst="roundRect">
            <a:avLst>
              <a:gd name="adj" fmla="val 53125"/>
            </a:avLst>
          </a:prstGeom>
          <a:solidFill>
            <a:schemeClr val="accent3"/>
          </a:solidFill>
          <a:ln/>
        </p:spPr>
        <p:txBody>
          <a:bodyPr wrap="square" lIns="0" tIns="0" rIns="0" bIns="0" rtlCol="0" anchor="ctr"/>
          <a:lstStyle/>
          <a:p>
            <a:pPr algn="ctr" indent="0" marL="0">
              <a:buNone/>
            </a:pPr>
            <a:r>
              <a:rPr lang="en-US" sz="1400" b="1" dirty="0">
                <a:solidFill>
                  <a:schemeClr val="bg1"/>
                </a:solidFill>
              </a:rPr>
              <a:t>3.1</a:t>
            </a:r>
            <a:endParaRPr lang="en-US" sz="1400" dirty="0"/>
          </a:p>
        </p:txBody>
      </p:sp>
      <p:sp>
        <p:nvSpPr>
          <p:cNvPr id="8" name="Text 325"/>
          <p:cNvSpPr txBox="1"/>
          <p:nvPr/>
        </p:nvSpPr>
        <p:spPr>
          <a:xfrm>
            <a:off x="1737360"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Primary Ordering Gateway</a:t>
            </a:r>
            <a:endParaRPr lang="en-US" sz="1600" dirty="0"/>
          </a:p>
        </p:txBody>
      </p:sp>
      <p:sp>
        <p:nvSpPr>
          <p:cNvPr id="9" name="Text 326"/>
          <p:cNvSpPr txBox="1"/>
          <p:nvPr/>
        </p:nvSpPr>
        <p:spPr>
          <a:xfrm>
            <a:off x="777240" y="2880360"/>
            <a:ext cx="3057144" cy="164388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Role riêng Distributor trên app.</a:t>
            </a:r>
            <a:endParaRPr lang="en-US" sz="1400" dirty="0"/>
          </a:p>
          <a:p>
            <a:pPr marL="177800" indent="-177800">
              <a:spcAft>
                <a:spcPts val="600"/>
              </a:spcAft>
              <a:buSzPct val="100000"/>
              <a:buChar char="•"/>
            </a:pPr>
            <a:r>
              <a:rPr lang="en-US" sz="1400" dirty="0">
                <a:solidFill>
                  <a:schemeClr val="tx1"/>
                </a:solidFill>
              </a:rPr>
              <a:t>Xem catalog Brand, áp giá sỉ F1, kiểm soát Credit Limit.</a:t>
            </a:r>
            <a:endParaRPr lang="en-US" sz="1400" dirty="0"/>
          </a:p>
          <a:p>
            <a:pPr marL="177800" indent="-177800">
              <a:spcAft>
                <a:spcPts val="600"/>
              </a:spcAft>
              <a:buSzPct val="100000"/>
              <a:buChar char="•"/>
            </a:pPr>
            <a:r>
              <a:rPr lang="en-US" sz="1400" dirty="0">
                <a:solidFill>
                  <a:schemeClr val="tx1"/>
                </a:solidFill>
              </a:rPr>
              <a:t>Tạo đơn lớn (pallet/xe tải), nối ERP/DMS của Brand để duyệt và xuất kho.</a:t>
            </a:r>
            <a:endParaRPr lang="en-US" sz="1400" dirty="0"/>
          </a:p>
        </p:txBody>
      </p:sp>
      <p:sp>
        <p:nvSpPr>
          <p:cNvPr id="10" name="Shape 327"/>
          <p:cNvSpPr/>
          <p:nvPr/>
        </p:nvSpPr>
        <p:spPr>
          <a:xfrm>
            <a:off x="777240" y="4615688"/>
            <a:ext cx="3057144" cy="1419352"/>
          </a:xfrm>
          <a:prstGeom prst="roundRect">
            <a:avLst>
              <a:gd name="adj" fmla="val 5154"/>
            </a:avLst>
          </a:prstGeom>
          <a:solidFill>
            <a:schemeClr val="bg1"/>
          </a:solidFill>
          <a:ln/>
        </p:spPr>
      </p:sp>
      <p:sp>
        <p:nvSpPr>
          <p:cNvPr id="11" name="Text 328"/>
          <p:cNvSpPr txBox="1"/>
          <p:nvPr/>
        </p:nvSpPr>
        <p:spPr>
          <a:xfrm>
            <a:off x="960120" y="4725416"/>
            <a:ext cx="2691384" cy="201168"/>
          </a:xfrm>
          <a:prstGeom prst="rect">
            <a:avLst/>
          </a:prstGeom>
          <a:noFill/>
          <a:ln/>
        </p:spPr>
        <p:txBody>
          <a:bodyPr wrap="square" lIns="0" tIns="0" rIns="0" bIns="0" rtlCol="0" anchor="t"/>
          <a:lstStyle/>
          <a:p>
            <a:pPr indent="0" marL="0">
              <a:buNone/>
            </a:pPr>
            <a:r>
              <a:rPr lang="en-US" sz="1200" b="1" dirty="0">
                <a:solidFill>
                  <a:schemeClr val="accent3"/>
                </a:solidFill>
              </a:rPr>
              <a:t>THAY THẾ</a:t>
            </a:r>
            <a:endParaRPr lang="en-US" sz="1200" dirty="0"/>
          </a:p>
        </p:txBody>
      </p:sp>
      <p:sp>
        <p:nvSpPr>
          <p:cNvPr id="12" name="Text 329"/>
          <p:cNvSpPr txBox="1"/>
          <p:nvPr/>
        </p:nvSpPr>
        <p:spPr>
          <a:xfrm>
            <a:off x="960120" y="4963160"/>
            <a:ext cx="2691384" cy="980440"/>
          </a:xfrm>
          <a:prstGeom prst="rect">
            <a:avLst/>
          </a:prstGeom>
          <a:noFill/>
          <a:ln/>
        </p:spPr>
        <p:txBody>
          <a:bodyPr wrap="square" lIns="0" tIns="0" rIns="0" bIns="0" rtlCol="0" anchor="t"/>
          <a:lstStyle/>
          <a:p>
            <a:pPr indent="0" marL="0">
              <a:buNone/>
            </a:pPr>
            <a:r>
              <a:rPr lang="en-US" sz="1400" dirty="0">
                <a:solidFill>
                  <a:schemeClr val="tx1"/>
                </a:solidFill>
              </a:rPr>
              <a:t>Không còn gọi điện, nhắn Zalo hay gửi file Excel thủ công cho Admin/Sales của Brand.</a:t>
            </a:r>
            <a:endParaRPr lang="en-US" sz="1400" dirty="0"/>
          </a:p>
        </p:txBody>
      </p:sp>
      <p:sp>
        <p:nvSpPr>
          <p:cNvPr id="13" name="Shape 330"/>
          <p:cNvSpPr/>
          <p:nvPr/>
        </p:nvSpPr>
        <p:spPr>
          <a:xfrm>
            <a:off x="4337304" y="1554480"/>
            <a:ext cx="3514344" cy="4709160"/>
          </a:xfrm>
          <a:prstGeom prst="roundRect">
            <a:avLst>
              <a:gd name="adj" fmla="val 2082"/>
            </a:avLst>
          </a:prstGeom>
          <a:solidFill>
            <a:schemeClr val="bg2"/>
          </a:solidFill>
          <a:ln/>
        </p:spPr>
      </p:sp>
      <p:sp>
        <p:nvSpPr>
          <p:cNvPr id="14" name="Shape 331"/>
          <p:cNvSpPr/>
          <p:nvPr/>
        </p:nvSpPr>
        <p:spPr>
          <a:xfrm>
            <a:off x="4565904" y="1828800"/>
            <a:ext cx="731520" cy="731520"/>
          </a:xfrm>
          <a:prstGeom prst="ellipse">
            <a:avLst/>
          </a:prstGeom>
          <a:solidFill>
            <a:schemeClr val="accent3"/>
          </a:solidFill>
          <a:ln/>
        </p:spPr>
      </p:sp>
      <p:pic>
        <p:nvPicPr>
          <p:cNvPr id="15" name="Icon 332" descr="SyncAlt">    </p:cNvPr>
          <p:cNvPicPr>
            <a:picLocks noChangeAspect="1"/>
          </p:cNvPicPr>
          <p:nvPr/>
        </p:nvPicPr>
        <p:blipFill>
          <a:blip r:embed="rId2"/>
          <a:stretch>
            <a:fillRect/>
          </a:stretch>
        </p:blipFill>
        <p:spPr>
          <a:xfrm>
            <a:off x="4748784" y="2011680"/>
            <a:ext cx="365760" cy="365760"/>
          </a:xfrm>
          <a:prstGeom prst="rect">
            <a:avLst/>
          </a:prstGeom>
        </p:spPr>
      </p:pic>
      <p:sp>
        <p:nvSpPr>
          <p:cNvPr id="16" name="Pill 333"/>
          <p:cNvSpPr/>
          <p:nvPr/>
        </p:nvSpPr>
        <p:spPr>
          <a:xfrm>
            <a:off x="5526024" y="1847088"/>
            <a:ext cx="566928" cy="292608"/>
          </a:xfrm>
          <a:prstGeom prst="roundRect">
            <a:avLst>
              <a:gd name="adj" fmla="val 53125"/>
            </a:avLst>
          </a:prstGeom>
          <a:solidFill>
            <a:schemeClr val="accent3"/>
          </a:solidFill>
          <a:ln/>
        </p:spPr>
        <p:txBody>
          <a:bodyPr wrap="square" lIns="0" tIns="0" rIns="0" bIns="0" rtlCol="0" anchor="ctr"/>
          <a:lstStyle/>
          <a:p>
            <a:pPr algn="ctr" indent="0" marL="0">
              <a:buNone/>
            </a:pPr>
            <a:r>
              <a:rPr lang="en-US" sz="1400" b="1" dirty="0">
                <a:solidFill>
                  <a:schemeClr val="bg1"/>
                </a:solidFill>
              </a:rPr>
              <a:t>3.2</a:t>
            </a:r>
            <a:endParaRPr lang="en-US" sz="1400" dirty="0"/>
          </a:p>
        </p:txBody>
      </p:sp>
      <p:sp>
        <p:nvSpPr>
          <p:cNvPr id="17" name="Text 334"/>
          <p:cNvSpPr txBox="1"/>
          <p:nvPr/>
        </p:nvSpPr>
        <p:spPr>
          <a:xfrm>
            <a:off x="5526024"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Two-way Inventory Sync</a:t>
            </a:r>
            <a:endParaRPr lang="en-US" sz="1600" dirty="0"/>
          </a:p>
        </p:txBody>
      </p:sp>
      <p:sp>
        <p:nvSpPr>
          <p:cNvPr id="18" name="Text 335"/>
          <p:cNvSpPr txBox="1"/>
          <p:nvPr/>
        </p:nvSpPr>
        <p:spPr>
          <a:xfrm>
            <a:off x="4565904" y="2880360"/>
            <a:ext cx="3057144" cy="164388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Đơn từ Brand giao xong → tự cộng vào Available Inventory của Distributor.</a:t>
            </a:r>
            <a:endParaRPr lang="en-US" sz="1400" dirty="0"/>
          </a:p>
          <a:p>
            <a:pPr marL="177800" indent="-177800">
              <a:spcAft>
                <a:spcPts val="600"/>
              </a:spcAft>
              <a:buSzPct val="100000"/>
              <a:buChar char="•"/>
            </a:pPr>
            <a:r>
              <a:rPr lang="en-US" sz="1400" dirty="0">
                <a:solidFill>
                  <a:schemeClr val="tx1"/>
                </a:solidFill>
              </a:rPr>
              <a:t>Tồn kho hiện ngay cho Merchant trong khu vực (Secondary tức thì).</a:t>
            </a:r>
            <a:endParaRPr lang="en-US" sz="1400" dirty="0"/>
          </a:p>
          <a:p>
            <a:pPr marL="177800" indent="-177800">
              <a:spcAft>
                <a:spcPts val="600"/>
              </a:spcAft>
              <a:buSzPct val="100000"/>
              <a:buChar char="•"/>
            </a:pPr>
            <a:r>
              <a:rPr lang="en-US" sz="1400" dirty="0">
                <a:solidFill>
                  <a:schemeClr val="tx1"/>
                </a:solidFill>
              </a:rPr>
              <a:t>Merchant đặt, giao thành công → tự trừ kho.</a:t>
            </a:r>
            <a:endParaRPr lang="en-US" sz="1400" dirty="0"/>
          </a:p>
        </p:txBody>
      </p:sp>
      <p:sp>
        <p:nvSpPr>
          <p:cNvPr id="19" name="Shape 336"/>
          <p:cNvSpPr/>
          <p:nvPr/>
        </p:nvSpPr>
        <p:spPr>
          <a:xfrm>
            <a:off x="4565904" y="4615688"/>
            <a:ext cx="3057144" cy="1419352"/>
          </a:xfrm>
          <a:prstGeom prst="roundRect">
            <a:avLst>
              <a:gd name="adj" fmla="val 5154"/>
            </a:avLst>
          </a:prstGeom>
          <a:solidFill>
            <a:schemeClr val="bg1"/>
          </a:solidFill>
          <a:ln/>
        </p:spPr>
      </p:sp>
      <p:sp>
        <p:nvSpPr>
          <p:cNvPr id="20" name="Text 337"/>
          <p:cNvSpPr txBox="1"/>
          <p:nvPr/>
        </p:nvSpPr>
        <p:spPr>
          <a:xfrm>
            <a:off x="4748784" y="4725416"/>
            <a:ext cx="2691384" cy="201168"/>
          </a:xfrm>
          <a:prstGeom prst="rect">
            <a:avLst/>
          </a:prstGeom>
          <a:noFill/>
          <a:ln/>
        </p:spPr>
        <p:txBody>
          <a:bodyPr wrap="square" lIns="0" tIns="0" rIns="0" bIns="0" rtlCol="0" anchor="t"/>
          <a:lstStyle/>
          <a:p>
            <a:pPr indent="0" marL="0">
              <a:buNone/>
            </a:pPr>
            <a:r>
              <a:rPr lang="en-US" sz="1200" b="1" dirty="0">
                <a:solidFill>
                  <a:schemeClr val="accent3"/>
                </a:solidFill>
              </a:rPr>
              <a:t>GIÁ TRỊ</a:t>
            </a:r>
            <a:endParaRPr lang="en-US" sz="1200" dirty="0"/>
          </a:p>
        </p:txBody>
      </p:sp>
      <p:sp>
        <p:nvSpPr>
          <p:cNvPr id="21" name="Text 338"/>
          <p:cNvSpPr txBox="1"/>
          <p:nvPr/>
        </p:nvSpPr>
        <p:spPr>
          <a:xfrm>
            <a:off x="4748784" y="4963160"/>
            <a:ext cx="2691384" cy="980440"/>
          </a:xfrm>
          <a:prstGeom prst="rect">
            <a:avLst/>
          </a:prstGeom>
          <a:noFill/>
          <a:ln/>
        </p:spPr>
        <p:txBody>
          <a:bodyPr wrap="square" lIns="0" tIns="0" rIns="0" bIns="0" rtlCol="0" anchor="t"/>
          <a:lstStyle/>
          <a:p>
            <a:pPr indent="0" marL="0">
              <a:buNone/>
            </a:pPr>
            <a:r>
              <a:rPr lang="en-US" sz="1400" dirty="0">
                <a:solidFill>
                  <a:schemeClr val="tx1"/>
                </a:solidFill>
              </a:rPr>
              <a:t>Real-time Visibility: so Sell-out với Sell-in để tối ưu vòng quay vốn.</a:t>
            </a:r>
            <a:endParaRPr lang="en-US" sz="1400" dirty="0"/>
          </a:p>
        </p:txBody>
      </p:sp>
      <p:sp>
        <p:nvSpPr>
          <p:cNvPr id="22" name="Shape 339"/>
          <p:cNvSpPr/>
          <p:nvPr/>
        </p:nvSpPr>
        <p:spPr>
          <a:xfrm>
            <a:off x="8125968" y="1554480"/>
            <a:ext cx="3514344" cy="4709160"/>
          </a:xfrm>
          <a:prstGeom prst="roundRect">
            <a:avLst>
              <a:gd name="adj" fmla="val 2082"/>
            </a:avLst>
          </a:prstGeom>
          <a:solidFill>
            <a:schemeClr val="bg2"/>
          </a:solidFill>
          <a:ln/>
        </p:spPr>
      </p:sp>
      <p:sp>
        <p:nvSpPr>
          <p:cNvPr id="23" name="Shape 340"/>
          <p:cNvSpPr/>
          <p:nvPr/>
        </p:nvSpPr>
        <p:spPr>
          <a:xfrm>
            <a:off x="8354568" y="1828800"/>
            <a:ext cx="731520" cy="731520"/>
          </a:xfrm>
          <a:prstGeom prst="ellipse">
            <a:avLst/>
          </a:prstGeom>
          <a:solidFill>
            <a:schemeClr val="accent3"/>
          </a:solidFill>
          <a:ln/>
        </p:spPr>
      </p:sp>
      <p:pic>
        <p:nvPicPr>
          <p:cNvPr id="24" name="Icon 341" descr="Percent">    </p:cNvPr>
          <p:cNvPicPr>
            <a:picLocks noChangeAspect="1"/>
          </p:cNvPicPr>
          <p:nvPr/>
        </p:nvPicPr>
        <p:blipFill>
          <a:blip r:embed="rId3"/>
          <a:stretch>
            <a:fillRect/>
          </a:stretch>
        </p:blipFill>
        <p:spPr>
          <a:xfrm>
            <a:off x="8537448" y="2011680"/>
            <a:ext cx="365760" cy="365760"/>
          </a:xfrm>
          <a:prstGeom prst="rect">
            <a:avLst/>
          </a:prstGeom>
        </p:spPr>
      </p:pic>
      <p:sp>
        <p:nvSpPr>
          <p:cNvPr id="25" name="Pill 342"/>
          <p:cNvSpPr/>
          <p:nvPr/>
        </p:nvSpPr>
        <p:spPr>
          <a:xfrm>
            <a:off x="9314688" y="1847088"/>
            <a:ext cx="566928" cy="292608"/>
          </a:xfrm>
          <a:prstGeom prst="roundRect">
            <a:avLst>
              <a:gd name="adj" fmla="val 53125"/>
            </a:avLst>
          </a:prstGeom>
          <a:solidFill>
            <a:schemeClr val="accent3"/>
          </a:solidFill>
          <a:ln/>
        </p:spPr>
        <p:txBody>
          <a:bodyPr wrap="square" lIns="0" tIns="0" rIns="0" bIns="0" rtlCol="0" anchor="ctr"/>
          <a:lstStyle/>
          <a:p>
            <a:pPr algn="ctr" indent="0" marL="0">
              <a:buNone/>
            </a:pPr>
            <a:r>
              <a:rPr lang="en-US" sz="1400" b="1" dirty="0">
                <a:solidFill>
                  <a:schemeClr val="bg1"/>
                </a:solidFill>
              </a:rPr>
              <a:t>3.3</a:t>
            </a:r>
            <a:endParaRPr lang="en-US" sz="1400" dirty="0"/>
          </a:p>
        </p:txBody>
      </p:sp>
      <p:sp>
        <p:nvSpPr>
          <p:cNvPr id="26" name="Text 343"/>
          <p:cNvSpPr txBox="1"/>
          <p:nvPr/>
        </p:nvSpPr>
        <p:spPr>
          <a:xfrm>
            <a:off x="9314688"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Target &amp; Rebate Tracking</a:t>
            </a:r>
            <a:endParaRPr lang="en-US" sz="1600" dirty="0"/>
          </a:p>
        </p:txBody>
      </p:sp>
      <p:sp>
        <p:nvSpPr>
          <p:cNvPr id="27" name="Text 344"/>
          <p:cNvSpPr txBox="1"/>
          <p:nvPr/>
        </p:nvSpPr>
        <p:spPr>
          <a:xfrm>
            <a:off x="8354568" y="2880360"/>
            <a:ext cx="3057144" cy="164388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Theo dõi hạn mức công nợ còn lại và thời hạn thanh toán với Brand.</a:t>
            </a:r>
            <a:endParaRPr lang="en-US" sz="1400" dirty="0"/>
          </a:p>
          <a:p>
            <a:pPr marL="177800" indent="-177800">
              <a:spcAft>
                <a:spcPts val="600"/>
              </a:spcAft>
              <a:buSzPct val="100000"/>
              <a:buChar char="•"/>
            </a:pPr>
            <a:r>
              <a:rPr lang="en-US" sz="1400" dirty="0">
                <a:solidFill>
                  <a:schemeClr val="tx1"/>
                </a:solidFill>
              </a:rPr>
              <a:t>Thanh tiến trình doanh số so với Target tháng/quý để nhận Rebate/Kickback.</a:t>
            </a:r>
            <a:endParaRPr lang="en-US" sz="1400" dirty="0"/>
          </a:p>
        </p:txBody>
      </p:sp>
      <p:sp>
        <p:nvSpPr>
          <p:cNvPr id="28" name="Shape 345"/>
          <p:cNvSpPr/>
          <p:nvPr/>
        </p:nvSpPr>
        <p:spPr>
          <a:xfrm>
            <a:off x="8354568" y="4615688"/>
            <a:ext cx="3057144" cy="1419352"/>
          </a:xfrm>
          <a:prstGeom prst="roundRect">
            <a:avLst>
              <a:gd name="adj" fmla="val 5154"/>
            </a:avLst>
          </a:prstGeom>
          <a:solidFill>
            <a:schemeClr val="bg1"/>
          </a:solidFill>
          <a:ln/>
        </p:spPr>
      </p:sp>
      <p:sp>
        <p:nvSpPr>
          <p:cNvPr id="29" name="Text 346"/>
          <p:cNvSpPr txBox="1"/>
          <p:nvPr/>
        </p:nvSpPr>
        <p:spPr>
          <a:xfrm>
            <a:off x="8537448" y="4725416"/>
            <a:ext cx="2691384" cy="201168"/>
          </a:xfrm>
          <a:prstGeom prst="rect">
            <a:avLst/>
          </a:prstGeom>
          <a:noFill/>
          <a:ln/>
        </p:spPr>
        <p:txBody>
          <a:bodyPr wrap="square" lIns="0" tIns="0" rIns="0" bIns="0" rtlCol="0" anchor="t"/>
          <a:lstStyle/>
          <a:p>
            <a:pPr indent="0" marL="0">
              <a:buNone/>
            </a:pPr>
            <a:r>
              <a:rPr lang="en-US" sz="1200" b="1" dirty="0">
                <a:solidFill>
                  <a:schemeClr val="accent3"/>
                </a:solidFill>
              </a:rPr>
              <a:t>KẾT QUẢ</a:t>
            </a:r>
            <a:endParaRPr lang="en-US" sz="1200" dirty="0"/>
          </a:p>
        </p:txBody>
      </p:sp>
      <p:sp>
        <p:nvSpPr>
          <p:cNvPr id="30" name="Text 347"/>
          <p:cNvSpPr txBox="1"/>
          <p:nvPr/>
        </p:nvSpPr>
        <p:spPr>
          <a:xfrm>
            <a:off x="8537448" y="4963160"/>
            <a:ext cx="2691384" cy="980440"/>
          </a:xfrm>
          <a:prstGeom prst="rect">
            <a:avLst/>
          </a:prstGeom>
          <a:noFill/>
          <a:ln/>
        </p:spPr>
        <p:txBody>
          <a:bodyPr wrap="square" lIns="0" tIns="0" rIns="0" bIns="0" rtlCol="0" anchor="t"/>
          <a:lstStyle/>
          <a:p>
            <a:pPr indent="0" marL="0">
              <a:buNone/>
            </a:pPr>
            <a:r>
              <a:rPr lang="en-US" sz="1400" dirty="0">
                <a:solidFill>
                  <a:schemeClr val="tx1"/>
                </a:solidFill>
              </a:rPr>
              <a:t>Chấm dứt tranh chấp đối soát cuối kỳ; Distributor thấy rõ còn thiếu bao nhiêu để đạt mốc thưởng.</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6"/>
                </a:solidFill>
              </a:rPr>
              <a:t>TRỤ CỘT 4  ·  LOYALTY</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6"/>
                </a:solidFill>
              </a:rPr>
              <a:t>Voice/Visual Search &amp; AI Chatbot</a:t>
            </a:r>
            <a:endParaRPr lang="en-US" sz="3200" dirty="0"/>
          </a:p>
        </p:txBody>
      </p:sp>
      <p:sp>
        <p:nvSpPr>
          <p:cNvPr id="4" name="Shape 348"/>
          <p:cNvSpPr/>
          <p:nvPr/>
        </p:nvSpPr>
        <p:spPr>
          <a:xfrm>
            <a:off x="548640" y="1554480"/>
            <a:ext cx="5408676" cy="4709160"/>
          </a:xfrm>
          <a:prstGeom prst="roundRect">
            <a:avLst>
              <a:gd name="adj" fmla="val 1553"/>
            </a:avLst>
          </a:prstGeom>
          <a:solidFill>
            <a:schemeClr val="bg2"/>
          </a:solidFill>
          <a:ln/>
        </p:spPr>
      </p:sp>
      <p:sp>
        <p:nvSpPr>
          <p:cNvPr id="5" name="Pill 349"/>
          <p:cNvSpPr/>
          <p:nvPr/>
        </p:nvSpPr>
        <p:spPr>
          <a:xfrm>
            <a:off x="777240" y="1828800"/>
            <a:ext cx="566928" cy="329184"/>
          </a:xfrm>
          <a:prstGeom prst="roundRect">
            <a:avLst>
              <a:gd name="adj" fmla="val 47222"/>
            </a:avLst>
          </a:prstGeom>
          <a:solidFill>
            <a:schemeClr val="accent6"/>
          </a:solidFill>
          <a:ln/>
        </p:spPr>
        <p:txBody>
          <a:bodyPr wrap="square" lIns="0" tIns="0" rIns="0" bIns="0" rtlCol="0" anchor="ctr"/>
          <a:lstStyle/>
          <a:p>
            <a:pPr algn="ctr" indent="0" marL="0">
              <a:buNone/>
            </a:pPr>
            <a:r>
              <a:rPr lang="en-US" sz="1400" b="1" dirty="0">
                <a:solidFill>
                  <a:schemeClr val="bg1"/>
                </a:solidFill>
              </a:rPr>
              <a:t>4.1</a:t>
            </a:r>
            <a:endParaRPr lang="en-US" sz="1400" dirty="0"/>
          </a:p>
        </p:txBody>
      </p:sp>
      <p:sp>
        <p:nvSpPr>
          <p:cNvPr id="6" name="Text 350"/>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Voice &amp; Visual Search</a:t>
            </a:r>
            <a:endParaRPr lang="en-US" sz="1800" dirty="0"/>
          </a:p>
        </p:txBody>
      </p:sp>
      <p:sp>
        <p:nvSpPr>
          <p:cNvPr id="7" name="Shape 351"/>
          <p:cNvSpPr/>
          <p:nvPr/>
        </p:nvSpPr>
        <p:spPr>
          <a:xfrm>
            <a:off x="777240" y="2331720"/>
            <a:ext cx="4951476" cy="1280160"/>
          </a:xfrm>
          <a:prstGeom prst="roundRect">
            <a:avLst>
              <a:gd name="adj" fmla="val 5714"/>
            </a:avLst>
          </a:prstGeom>
          <a:solidFill>
            <a:schemeClr val="bg1"/>
          </a:solidFill>
          <a:ln/>
        </p:spPr>
      </p:sp>
      <p:sp>
        <p:nvSpPr>
          <p:cNvPr id="8" name="Shape 352"/>
          <p:cNvSpPr/>
          <p:nvPr/>
        </p:nvSpPr>
        <p:spPr>
          <a:xfrm>
            <a:off x="1333652" y="2474366"/>
            <a:ext cx="537667" cy="537667"/>
          </a:xfrm>
          <a:prstGeom prst="ellipse">
            <a:avLst/>
          </a:prstGeom>
          <a:solidFill>
            <a:schemeClr val="accent6"/>
          </a:solidFill>
          <a:ln/>
        </p:spPr>
      </p:sp>
      <p:pic>
        <p:nvPicPr>
          <p:cNvPr id="9" name="Icon 353" descr="Microphone">    </p:cNvPr>
          <p:cNvPicPr>
            <a:picLocks noChangeAspect="1"/>
          </p:cNvPicPr>
          <p:nvPr/>
        </p:nvPicPr>
        <p:blipFill>
          <a:blip r:embed="rId1"/>
          <a:stretch>
            <a:fillRect/>
          </a:stretch>
        </p:blipFill>
        <p:spPr>
          <a:xfrm>
            <a:off x="1468069" y="2608783"/>
            <a:ext cx="268834" cy="268834"/>
          </a:xfrm>
          <a:prstGeom prst="rect">
            <a:avLst/>
          </a:prstGeom>
        </p:spPr>
      </p:pic>
      <p:sp>
        <p:nvSpPr>
          <p:cNvPr id="10" name="Text 354"/>
          <p:cNvSpPr txBox="1"/>
          <p:nvPr/>
        </p:nvSpPr>
        <p:spPr>
          <a:xfrm>
            <a:off x="85039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Voice search</a:t>
            </a:r>
            <a:endParaRPr lang="en-US" sz="1200" dirty="0"/>
          </a:p>
        </p:txBody>
      </p:sp>
      <p:pic>
        <p:nvPicPr>
          <p:cNvPr id="11" name="Icon 355" descr="ChevronRight">    </p:cNvPr>
          <p:cNvPicPr>
            <a:picLocks noChangeAspect="1"/>
          </p:cNvPicPr>
          <p:nvPr/>
        </p:nvPicPr>
        <p:blipFill>
          <a:blip r:embed="rId2"/>
          <a:stretch>
            <a:fillRect/>
          </a:stretch>
        </p:blipFill>
        <p:spPr>
          <a:xfrm>
            <a:off x="2318004" y="2633472"/>
            <a:ext cx="219456" cy="219456"/>
          </a:xfrm>
          <a:prstGeom prst="rect">
            <a:avLst/>
          </a:prstGeom>
        </p:spPr>
      </p:pic>
      <p:sp>
        <p:nvSpPr>
          <p:cNvPr id="12" name="Shape 356"/>
          <p:cNvSpPr/>
          <p:nvPr/>
        </p:nvSpPr>
        <p:spPr>
          <a:xfrm>
            <a:off x="2984144" y="2474366"/>
            <a:ext cx="537667" cy="537667"/>
          </a:xfrm>
          <a:prstGeom prst="ellipse">
            <a:avLst/>
          </a:prstGeom>
          <a:solidFill>
            <a:schemeClr val="accent6"/>
          </a:solidFill>
          <a:ln/>
        </p:spPr>
      </p:sp>
      <p:pic>
        <p:nvPicPr>
          <p:cNvPr id="13" name="Icon 357" descr="Camera">    </p:cNvPr>
          <p:cNvPicPr>
            <a:picLocks noChangeAspect="1"/>
          </p:cNvPicPr>
          <p:nvPr/>
        </p:nvPicPr>
        <p:blipFill>
          <a:blip r:embed="rId3"/>
          <a:stretch>
            <a:fillRect/>
          </a:stretch>
        </p:blipFill>
        <p:spPr>
          <a:xfrm>
            <a:off x="3118561" y="2608783"/>
            <a:ext cx="268834" cy="268834"/>
          </a:xfrm>
          <a:prstGeom prst="rect">
            <a:avLst/>
          </a:prstGeom>
        </p:spPr>
      </p:pic>
      <p:sp>
        <p:nvSpPr>
          <p:cNvPr id="14" name="Text 358"/>
          <p:cNvSpPr txBox="1"/>
          <p:nvPr/>
        </p:nvSpPr>
        <p:spPr>
          <a:xfrm>
            <a:off x="2500884"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Visual search (bao bì rách)</a:t>
            </a:r>
            <a:endParaRPr lang="en-US" sz="1200" dirty="0"/>
          </a:p>
        </p:txBody>
      </p:sp>
      <p:pic>
        <p:nvPicPr>
          <p:cNvPr id="15" name="Icon 359" descr="ChevronRight">    </p:cNvPr>
          <p:cNvPicPr>
            <a:picLocks noChangeAspect="1"/>
          </p:cNvPicPr>
          <p:nvPr/>
        </p:nvPicPr>
        <p:blipFill>
          <a:blip r:embed="rId4"/>
          <a:stretch>
            <a:fillRect/>
          </a:stretch>
        </p:blipFill>
        <p:spPr>
          <a:xfrm>
            <a:off x="3968496" y="2633472"/>
            <a:ext cx="219456" cy="219456"/>
          </a:xfrm>
          <a:prstGeom prst="rect">
            <a:avLst/>
          </a:prstGeom>
        </p:spPr>
      </p:pic>
      <p:sp>
        <p:nvSpPr>
          <p:cNvPr id="16" name="Shape 360"/>
          <p:cNvSpPr/>
          <p:nvPr/>
        </p:nvSpPr>
        <p:spPr>
          <a:xfrm>
            <a:off x="4634636" y="2474366"/>
            <a:ext cx="537667" cy="537667"/>
          </a:xfrm>
          <a:prstGeom prst="ellipse">
            <a:avLst/>
          </a:prstGeom>
          <a:solidFill>
            <a:schemeClr val="accent6"/>
          </a:solidFill>
          <a:ln/>
        </p:spPr>
      </p:sp>
      <p:pic>
        <p:nvPicPr>
          <p:cNvPr id="17" name="Icon 361" descr="Search">    </p:cNvPr>
          <p:cNvPicPr>
            <a:picLocks noChangeAspect="1"/>
          </p:cNvPicPr>
          <p:nvPr/>
        </p:nvPicPr>
        <p:blipFill>
          <a:blip r:embed="rId5"/>
          <a:stretch>
            <a:fillRect/>
          </a:stretch>
        </p:blipFill>
        <p:spPr>
          <a:xfrm>
            <a:off x="4769053" y="2608783"/>
            <a:ext cx="268834" cy="268834"/>
          </a:xfrm>
          <a:prstGeom prst="rect">
            <a:avLst/>
          </a:prstGeom>
        </p:spPr>
      </p:pic>
      <p:sp>
        <p:nvSpPr>
          <p:cNvPr id="18" name="Text 362"/>
          <p:cNvSpPr txBox="1"/>
          <p:nvPr/>
        </p:nvSpPr>
        <p:spPr>
          <a:xfrm>
            <a:off x="4151376"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Ra kết quả trong 2 giây</a:t>
            </a:r>
            <a:endParaRPr lang="en-US" sz="1200" dirty="0"/>
          </a:p>
        </p:txBody>
      </p:sp>
      <p:sp>
        <p:nvSpPr>
          <p:cNvPr id="19" name="Text 363"/>
          <p:cNvSpPr txBox="1"/>
          <p:nvPr/>
        </p:nvSpPr>
        <p:spPr>
          <a:xfrm>
            <a:off x="777240"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Voice Search: nút Micro to, hiểu tiếng Việt đa vùng miền và tiếng lóng thương mại.</a:t>
            </a:r>
            <a:endParaRPr lang="en-US" sz="1400" dirty="0"/>
          </a:p>
          <a:p>
            <a:pPr marL="177800" indent="-177800">
              <a:spcAft>
                <a:spcPts val="600"/>
              </a:spcAft>
              <a:buSzPct val="100000"/>
              <a:buChar char="•"/>
            </a:pPr>
            <a:r>
              <a:rPr lang="en-US" sz="1400" dirty="0">
                <a:solidFill>
                  <a:schemeClr val="tx1"/>
                </a:solidFill>
              </a:rPr>
              <a:t>Visual Search: chụp vỏ hộp, lon, bao bì (kể cả rách mất mã vạch), AI nhận đúng SKU và trả giá sỉ.</a:t>
            </a:r>
            <a:endParaRPr lang="en-US" sz="1400" dirty="0"/>
          </a:p>
        </p:txBody>
      </p:sp>
      <p:sp>
        <p:nvSpPr>
          <p:cNvPr id="20" name="Shape 364"/>
          <p:cNvSpPr/>
          <p:nvPr/>
        </p:nvSpPr>
        <p:spPr>
          <a:xfrm>
            <a:off x="777240" y="5060188"/>
            <a:ext cx="4951476" cy="974852"/>
          </a:xfrm>
          <a:prstGeom prst="roundRect">
            <a:avLst>
              <a:gd name="adj" fmla="val 7504"/>
            </a:avLst>
          </a:prstGeom>
          <a:solidFill>
            <a:schemeClr val="bg1"/>
          </a:solidFill>
          <a:ln/>
        </p:spPr>
      </p:sp>
      <p:sp>
        <p:nvSpPr>
          <p:cNvPr id="21" name="Text 365"/>
          <p:cNvSpPr txBox="1"/>
          <p:nvPr/>
        </p:nvSpPr>
        <p:spPr>
          <a:xfrm>
            <a:off x="960120" y="5169916"/>
            <a:ext cx="4585716" cy="201168"/>
          </a:xfrm>
          <a:prstGeom prst="rect">
            <a:avLst/>
          </a:prstGeom>
          <a:noFill/>
          <a:ln/>
        </p:spPr>
        <p:txBody>
          <a:bodyPr wrap="square" lIns="0" tIns="0" rIns="0" bIns="0" rtlCol="0" anchor="t"/>
          <a:lstStyle/>
          <a:p>
            <a:pPr indent="0" marL="0">
              <a:buNone/>
            </a:pPr>
            <a:r>
              <a:rPr lang="en-US" sz="1200" b="1" dirty="0">
                <a:solidFill>
                  <a:schemeClr val="accent6"/>
                </a:solidFill>
              </a:rPr>
              <a:t>VÍ DỤ</a:t>
            </a:r>
            <a:endParaRPr lang="en-US" sz="1200" dirty="0"/>
          </a:p>
        </p:txBody>
      </p:sp>
      <p:sp>
        <p:nvSpPr>
          <p:cNvPr id="22" name="Text 366"/>
          <p:cNvSpPr txBox="1"/>
          <p:nvPr/>
        </p:nvSpPr>
        <p:spPr>
          <a:xfrm>
            <a:off x="960120"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“cho 2 két bia tiger bạc” · “tìm mì tôm chua cay”. Chủ tiệm 40–60 tuổi không cần gõ phím.</a:t>
            </a:r>
            <a:endParaRPr lang="en-US" sz="1400" dirty="0"/>
          </a:p>
        </p:txBody>
      </p:sp>
      <p:sp>
        <p:nvSpPr>
          <p:cNvPr id="23" name="Shape 367"/>
          <p:cNvSpPr/>
          <p:nvPr/>
        </p:nvSpPr>
        <p:spPr>
          <a:xfrm>
            <a:off x="6231636" y="1554480"/>
            <a:ext cx="5408676" cy="4709160"/>
          </a:xfrm>
          <a:prstGeom prst="roundRect">
            <a:avLst>
              <a:gd name="adj" fmla="val 1553"/>
            </a:avLst>
          </a:prstGeom>
          <a:solidFill>
            <a:schemeClr val="bg2"/>
          </a:solidFill>
          <a:ln/>
        </p:spPr>
      </p:sp>
      <p:sp>
        <p:nvSpPr>
          <p:cNvPr id="24" name="Pill 368"/>
          <p:cNvSpPr/>
          <p:nvPr/>
        </p:nvSpPr>
        <p:spPr>
          <a:xfrm>
            <a:off x="6460236" y="1828800"/>
            <a:ext cx="566928" cy="329184"/>
          </a:xfrm>
          <a:prstGeom prst="roundRect">
            <a:avLst>
              <a:gd name="adj" fmla="val 47222"/>
            </a:avLst>
          </a:prstGeom>
          <a:solidFill>
            <a:schemeClr val="accent6"/>
          </a:solidFill>
          <a:ln/>
        </p:spPr>
        <p:txBody>
          <a:bodyPr wrap="square" lIns="0" tIns="0" rIns="0" bIns="0" rtlCol="0" anchor="ctr"/>
          <a:lstStyle/>
          <a:p>
            <a:pPr algn="ctr" indent="0" marL="0">
              <a:buNone/>
            </a:pPr>
            <a:r>
              <a:rPr lang="en-US" sz="1400" b="1" dirty="0">
                <a:solidFill>
                  <a:schemeClr val="bg1"/>
                </a:solidFill>
              </a:rPr>
              <a:t>4.2</a:t>
            </a:r>
            <a:endParaRPr lang="en-US" sz="1400" dirty="0"/>
          </a:p>
        </p:txBody>
      </p:sp>
      <p:sp>
        <p:nvSpPr>
          <p:cNvPr id="25" name="Text 369"/>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AI Chatbot: Push Sale &amp; Chat-to-Order</a:t>
            </a:r>
            <a:endParaRPr lang="en-US" sz="1800" dirty="0"/>
          </a:p>
        </p:txBody>
      </p:sp>
      <p:sp>
        <p:nvSpPr>
          <p:cNvPr id="26" name="Shape 370"/>
          <p:cNvSpPr/>
          <p:nvPr/>
        </p:nvSpPr>
        <p:spPr>
          <a:xfrm>
            <a:off x="6460236" y="2331720"/>
            <a:ext cx="4951476" cy="1280160"/>
          </a:xfrm>
          <a:prstGeom prst="roundRect">
            <a:avLst>
              <a:gd name="adj" fmla="val 5714"/>
            </a:avLst>
          </a:prstGeom>
          <a:solidFill>
            <a:schemeClr val="bg1"/>
          </a:solidFill>
          <a:ln/>
        </p:spPr>
      </p:sp>
      <p:sp>
        <p:nvSpPr>
          <p:cNvPr id="27" name="Shape 371"/>
          <p:cNvSpPr/>
          <p:nvPr/>
        </p:nvSpPr>
        <p:spPr>
          <a:xfrm>
            <a:off x="6597396" y="2468880"/>
            <a:ext cx="411480" cy="411480"/>
          </a:xfrm>
          <a:prstGeom prst="ellipse">
            <a:avLst/>
          </a:prstGeom>
          <a:solidFill>
            <a:schemeClr val="accent6"/>
          </a:solidFill>
          <a:ln/>
        </p:spPr>
      </p:sp>
      <p:pic>
        <p:nvPicPr>
          <p:cNvPr id="28" name="Icon 372" descr="Robot">    </p:cNvPr>
          <p:cNvPicPr>
            <a:picLocks noChangeAspect="1"/>
          </p:cNvPicPr>
          <p:nvPr/>
        </p:nvPicPr>
        <p:blipFill>
          <a:blip r:embed="rId6"/>
          <a:stretch>
            <a:fillRect/>
          </a:stretch>
        </p:blipFill>
        <p:spPr>
          <a:xfrm>
            <a:off x="6700266" y="2571750"/>
            <a:ext cx="205740" cy="205740"/>
          </a:xfrm>
          <a:prstGeom prst="rect">
            <a:avLst/>
          </a:prstGeom>
        </p:spPr>
      </p:pic>
      <p:sp>
        <p:nvSpPr>
          <p:cNvPr id="29" name="Bubble 373"/>
          <p:cNvSpPr/>
          <p:nvPr/>
        </p:nvSpPr>
        <p:spPr>
          <a:xfrm>
            <a:off x="7100316" y="2423160"/>
            <a:ext cx="4174236" cy="594360"/>
          </a:xfrm>
          <a:prstGeom prst="roundRect">
            <a:avLst>
              <a:gd name="adj" fmla="val 12308"/>
            </a:avLst>
          </a:prstGeom>
          <a:solidFill>
            <a:schemeClr val="bg2"/>
          </a:solidFill>
          <a:ln/>
        </p:spPr>
        <p:txBody>
          <a:bodyPr wrap="square" lIns="101600" tIns="0" rIns="101600" bIns="0" rtlCol="0" anchor="ctr"/>
          <a:lstStyle/>
          <a:p>
            <a:pPr indent="0" marL="0">
              <a:buNone/>
            </a:pPr>
            <a:r>
              <a:rPr lang="en-US" sz="1200" dirty="0">
                <a:solidFill>
                  <a:schemeClr val="tx1"/>
                </a:solidFill>
              </a:rPr>
              <a:t>Cô Lan ơi, bia Heineken đang có deal mua 10 tặng 1 chỉ còn 2 tiếng, cô lên đơn luôn không?</a:t>
            </a:r>
            <a:endParaRPr lang="en-US" sz="1200" dirty="0"/>
          </a:p>
        </p:txBody>
      </p:sp>
      <p:sp>
        <p:nvSpPr>
          <p:cNvPr id="30" name="Bubble 374"/>
          <p:cNvSpPr/>
          <p:nvPr/>
        </p:nvSpPr>
        <p:spPr>
          <a:xfrm>
            <a:off x="7945679" y="3154680"/>
            <a:ext cx="3328873" cy="457200"/>
          </a:xfrm>
          <a:prstGeom prst="roundRect">
            <a:avLst>
              <a:gd name="adj" fmla="val 16000"/>
            </a:avLst>
          </a:prstGeom>
          <a:solidFill>
            <a:schemeClr val="accent6"/>
          </a:solidFill>
          <a:ln/>
        </p:spPr>
        <p:txBody>
          <a:bodyPr wrap="square" lIns="101600" tIns="0" rIns="101600" bIns="0" rtlCol="0" anchor="ctr"/>
          <a:lstStyle/>
          <a:p>
            <a:pPr indent="0" marL="0">
              <a:buNone/>
            </a:pPr>
            <a:r>
              <a:rPr lang="en-US" sz="1200" dirty="0">
                <a:solidFill>
                  <a:schemeClr val="bg1"/>
                </a:solidFill>
              </a:rPr>
              <a:t>Lên đơn 2 thùng nước mắm Nam Ngư giao chiều mai.</a:t>
            </a:r>
            <a:endParaRPr lang="en-US" sz="1200" dirty="0"/>
          </a:p>
        </p:txBody>
      </p:sp>
      <p:sp>
        <p:nvSpPr>
          <p:cNvPr id="31" name="Text 375"/>
          <p:cNvSpPr txBox="1"/>
          <p:nvPr/>
        </p:nvSpPr>
        <p:spPr>
          <a:xfrm>
            <a:off x="6460236"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Trợ lý ảo Bonbon chủ động Push Sale: deal cá nhân hóa đúng chu kỳ tiệm sắp hết hàng.</a:t>
            </a:r>
            <a:endParaRPr lang="en-US" sz="1400" dirty="0"/>
          </a:p>
          <a:p>
            <a:pPr marL="177800" indent="-177800">
              <a:spcAft>
                <a:spcPts val="600"/>
              </a:spcAft>
              <a:buSzPct val="100000"/>
              <a:buChar char="•"/>
            </a:pPr>
            <a:r>
              <a:rPr lang="en-US" sz="1400" dirty="0">
                <a:solidFill>
                  <a:schemeClr val="tx1"/>
                </a:solidFill>
              </a:rPr>
              <a:t>Chat-to-Order: nhắn text/thoại → tự tạo giỏ, áp mã giảm tốt nhất, nút “Bấm để xác nhận đơn”.</a:t>
            </a:r>
            <a:endParaRPr lang="en-US" sz="1400" dirty="0"/>
          </a:p>
        </p:txBody>
      </p:sp>
      <p:sp>
        <p:nvSpPr>
          <p:cNvPr id="32" name="Shape 376"/>
          <p:cNvSpPr/>
          <p:nvPr/>
        </p:nvSpPr>
        <p:spPr>
          <a:xfrm>
            <a:off x="6460236" y="5060188"/>
            <a:ext cx="4951476" cy="974852"/>
          </a:xfrm>
          <a:prstGeom prst="roundRect">
            <a:avLst>
              <a:gd name="adj" fmla="val 7504"/>
            </a:avLst>
          </a:prstGeom>
          <a:solidFill>
            <a:schemeClr val="bg1"/>
          </a:solidFill>
          <a:ln/>
        </p:spPr>
      </p:sp>
      <p:sp>
        <p:nvSpPr>
          <p:cNvPr id="33" name="Text 377"/>
          <p:cNvSpPr txBox="1"/>
          <p:nvPr/>
        </p:nvSpPr>
        <p:spPr>
          <a:xfrm>
            <a:off x="6643116" y="5169916"/>
            <a:ext cx="4585716" cy="201168"/>
          </a:xfrm>
          <a:prstGeom prst="rect">
            <a:avLst/>
          </a:prstGeom>
          <a:noFill/>
          <a:ln/>
        </p:spPr>
        <p:txBody>
          <a:bodyPr wrap="square" lIns="0" tIns="0" rIns="0" bIns="0" rtlCol="0" anchor="t"/>
          <a:lstStyle/>
          <a:p>
            <a:pPr indent="0" marL="0">
              <a:buNone/>
            </a:pPr>
            <a:r>
              <a:rPr lang="en-US" sz="1200" b="1" dirty="0">
                <a:solidFill>
                  <a:schemeClr val="accent6"/>
                </a:solidFill>
              </a:rPr>
              <a:t>KẾT QUẢ</a:t>
            </a:r>
            <a:endParaRPr lang="en-US" sz="1200" dirty="0"/>
          </a:p>
        </p:txBody>
      </p:sp>
      <p:sp>
        <p:nvSpPr>
          <p:cNvPr id="34" name="Text 378"/>
          <p:cNvSpPr txBox="1"/>
          <p:nvPr/>
        </p:nvSpPr>
        <p:spPr>
          <a:xfrm>
            <a:off x="6643116"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Mô phỏng thói quen nhắn Zalo gọi hàng; chuyển từ bán hàng thụ động sang chủ động.</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6"/>
                </a:solidFill>
              </a:rPr>
              <a:t>TRỤ CỘT 4  ·  LOYALTY</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6"/>
                </a:solidFill>
              </a:rPr>
              <a:t>Loyalty Club &amp; Dual Points Wallet</a:t>
            </a:r>
            <a:endParaRPr lang="en-US" sz="3200" dirty="0"/>
          </a:p>
        </p:txBody>
      </p:sp>
      <p:sp>
        <p:nvSpPr>
          <p:cNvPr id="4" name="Shape 379"/>
          <p:cNvSpPr/>
          <p:nvPr/>
        </p:nvSpPr>
        <p:spPr>
          <a:xfrm>
            <a:off x="548640" y="1554480"/>
            <a:ext cx="5394960" cy="4709160"/>
          </a:xfrm>
          <a:prstGeom prst="roundRect">
            <a:avLst>
              <a:gd name="adj" fmla="val 1553"/>
            </a:avLst>
          </a:prstGeom>
          <a:solidFill>
            <a:schemeClr val="bg2"/>
          </a:solidFill>
          <a:ln/>
        </p:spPr>
      </p:sp>
      <p:sp>
        <p:nvSpPr>
          <p:cNvPr id="5" name="Shape 380"/>
          <p:cNvSpPr/>
          <p:nvPr/>
        </p:nvSpPr>
        <p:spPr>
          <a:xfrm>
            <a:off x="777240" y="1783080"/>
            <a:ext cx="4937760" cy="4251960"/>
          </a:xfrm>
          <a:prstGeom prst="roundRect">
            <a:avLst>
              <a:gd name="adj" fmla="val 1720"/>
            </a:avLst>
          </a:prstGeom>
          <a:solidFill>
            <a:schemeClr val="bg1"/>
          </a:solidFill>
          <a:ln/>
        </p:spPr>
      </p:sp>
      <p:sp>
        <p:nvSpPr>
          <p:cNvPr id="6" name="Chip 381"/>
          <p:cNvSpPr/>
          <p:nvPr/>
        </p:nvSpPr>
        <p:spPr>
          <a:xfrm>
            <a:off x="960120" y="2331720"/>
            <a:ext cx="1005840" cy="502920"/>
          </a:xfrm>
          <a:prstGeom prst="roundRect">
            <a:avLst>
              <a:gd name="adj" fmla="val 10909"/>
            </a:avLst>
          </a:prstGeom>
          <a:solidFill>
            <a:schemeClr val="bg2"/>
          </a:solidFill>
          <a:ln/>
        </p:spPr>
        <p:txBody>
          <a:bodyPr wrap="square" lIns="0" tIns="0" rIns="0" bIns="0" rtlCol="0" anchor="ctr"/>
          <a:lstStyle/>
          <a:p>
            <a:pPr algn="ctr" indent="0" marL="0">
              <a:buNone/>
            </a:pPr>
            <a:r>
              <a:rPr lang="en-US" sz="1400" b="1" dirty="0">
                <a:solidFill>
                  <a:schemeClr val="tx1"/>
                </a:solidFill>
              </a:rPr>
              <a:t>Brands</a:t>
            </a:r>
            <a:endParaRPr lang="en-US" sz="1400" dirty="0"/>
          </a:p>
        </p:txBody>
      </p:sp>
      <p:sp>
        <p:nvSpPr>
          <p:cNvPr id="7" name="Chip 382"/>
          <p:cNvSpPr/>
          <p:nvPr/>
        </p:nvSpPr>
        <p:spPr>
          <a:xfrm>
            <a:off x="960120" y="3291840"/>
            <a:ext cx="1005840" cy="502920"/>
          </a:xfrm>
          <a:prstGeom prst="roundRect">
            <a:avLst>
              <a:gd name="adj" fmla="val 10909"/>
            </a:avLst>
          </a:prstGeom>
          <a:solidFill>
            <a:schemeClr val="bg2"/>
          </a:solidFill>
          <a:ln/>
        </p:spPr>
        <p:txBody>
          <a:bodyPr wrap="square" lIns="0" tIns="0" rIns="0" bIns="0" rtlCol="0" anchor="ctr"/>
          <a:lstStyle/>
          <a:p>
            <a:pPr algn="ctr" indent="0" marL="0">
              <a:buNone/>
            </a:pPr>
            <a:r>
              <a:rPr lang="en-US" sz="1400" b="1" dirty="0">
                <a:solidFill>
                  <a:schemeClr val="tx1"/>
                </a:solidFill>
              </a:rPr>
              <a:t>Platform</a:t>
            </a:r>
            <a:endParaRPr lang="en-US" sz="1400" dirty="0"/>
          </a:p>
        </p:txBody>
      </p:sp>
      <p:sp>
        <p:nvSpPr>
          <p:cNvPr id="8" name="Shape 383"/>
          <p:cNvSpPr/>
          <p:nvPr/>
        </p:nvSpPr>
        <p:spPr>
          <a:xfrm>
            <a:off x="2011680" y="2606040"/>
            <a:ext cx="320040" cy="274320"/>
          </a:xfrm>
          <a:prstGeom prst="line">
            <a:avLst/>
          </a:prstGeom>
          <a:noFill/>
          <a:ln w="25400">
            <a:solidFill>
              <a:schemeClr val="accent4"/>
            </a:solidFill>
            <a:prstDash val="solid"/>
            <a:tailEnd type="triangle"/>
          </a:ln>
        </p:spPr>
      </p:sp>
      <p:sp>
        <p:nvSpPr>
          <p:cNvPr id="9" name="Shape 384"/>
          <p:cNvSpPr/>
          <p:nvPr/>
        </p:nvSpPr>
        <p:spPr>
          <a:xfrm flipV="1">
            <a:off x="2011680" y="3291840"/>
            <a:ext cx="320040" cy="274320"/>
          </a:xfrm>
          <a:prstGeom prst="line">
            <a:avLst/>
          </a:prstGeom>
          <a:noFill/>
          <a:ln w="25400">
            <a:solidFill>
              <a:schemeClr val="accent4"/>
            </a:solidFill>
            <a:prstDash val="solid"/>
            <a:tailEnd type="triangle"/>
          </a:ln>
        </p:spPr>
      </p:sp>
      <p:sp>
        <p:nvSpPr>
          <p:cNvPr id="10" name="Shape 385"/>
          <p:cNvSpPr/>
          <p:nvPr/>
        </p:nvSpPr>
        <p:spPr>
          <a:xfrm>
            <a:off x="2377440" y="2148840"/>
            <a:ext cx="1828800" cy="1828800"/>
          </a:xfrm>
          <a:prstGeom prst="roundRect">
            <a:avLst>
              <a:gd name="adj" fmla="val 4000"/>
            </a:avLst>
          </a:prstGeom>
          <a:solidFill>
            <a:schemeClr val="accent6"/>
          </a:solidFill>
          <a:ln/>
        </p:spPr>
      </p:sp>
      <p:sp>
        <p:nvSpPr>
          <p:cNvPr id="11" name="Text 386"/>
          <p:cNvSpPr txBox="1"/>
          <p:nvPr/>
        </p:nvSpPr>
        <p:spPr>
          <a:xfrm>
            <a:off x="2377440" y="2240280"/>
            <a:ext cx="1828800" cy="274320"/>
          </a:xfrm>
          <a:prstGeom prst="rect">
            <a:avLst/>
          </a:prstGeom>
          <a:noFill/>
          <a:ln/>
        </p:spPr>
        <p:txBody>
          <a:bodyPr wrap="square" lIns="0" tIns="0" rIns="0" bIns="0" rtlCol="0" anchor="t"/>
          <a:lstStyle/>
          <a:p>
            <a:pPr algn="ctr" indent="0" marL="0">
              <a:buNone/>
            </a:pPr>
            <a:r>
              <a:rPr lang="en-US" sz="1400" b="1" dirty="0">
                <a:solidFill>
                  <a:schemeClr val="bg1"/>
                </a:solidFill>
              </a:rPr>
              <a:t>Dual Point Wallet</a:t>
            </a:r>
            <a:endParaRPr lang="en-US" sz="1400" dirty="0"/>
          </a:p>
        </p:txBody>
      </p:sp>
      <p:sp>
        <p:nvSpPr>
          <p:cNvPr id="12" name="Chip 387"/>
          <p:cNvSpPr/>
          <p:nvPr/>
        </p:nvSpPr>
        <p:spPr>
          <a:xfrm>
            <a:off x="2468880" y="2697480"/>
            <a:ext cx="777240" cy="1097280"/>
          </a:xfrm>
          <a:prstGeom prst="roundRect">
            <a:avLst>
              <a:gd name="adj" fmla="val 7059"/>
            </a:avLst>
          </a:prstGeom>
          <a:solidFill>
            <a:schemeClr val="bg1"/>
          </a:solidFill>
          <a:ln/>
        </p:spPr>
        <p:txBody>
          <a:bodyPr wrap="square" lIns="0" tIns="0" rIns="0" bIns="0" rtlCol="0" anchor="ctr"/>
          <a:lstStyle/>
          <a:p>
            <a:pPr algn="ctr" indent="0" marL="0">
              <a:buNone/>
            </a:pPr>
            <a:r>
              <a:rPr lang="en-US" sz="1200" dirty="0">
                <a:solidFill>
                  <a:schemeClr val="tx1"/>
                </a:solidFill>
              </a:rPr>
              <a:t>Brand Points</a:t>
            </a:r>
            <a:endParaRPr lang="en-US" sz="1200" dirty="0"/>
          </a:p>
        </p:txBody>
      </p:sp>
      <p:sp>
        <p:nvSpPr>
          <p:cNvPr id="13" name="Chip 388"/>
          <p:cNvSpPr/>
          <p:nvPr/>
        </p:nvSpPr>
        <p:spPr>
          <a:xfrm>
            <a:off x="3337560" y="2697480"/>
            <a:ext cx="777240" cy="1097280"/>
          </a:xfrm>
          <a:prstGeom prst="roundRect">
            <a:avLst>
              <a:gd name="adj" fmla="val 7059"/>
            </a:avLst>
          </a:prstGeom>
          <a:solidFill>
            <a:schemeClr val="bg1"/>
          </a:solidFill>
          <a:ln/>
        </p:spPr>
        <p:txBody>
          <a:bodyPr wrap="square" lIns="0" tIns="0" rIns="0" bIns="0" rtlCol="0" anchor="ctr"/>
          <a:lstStyle/>
          <a:p>
            <a:pPr algn="ctr" indent="0" marL="0">
              <a:buNone/>
            </a:pPr>
            <a:r>
              <a:rPr lang="en-US" sz="1200" dirty="0">
                <a:solidFill>
                  <a:schemeClr val="tx1"/>
                </a:solidFill>
              </a:rPr>
              <a:t>BonBon Points</a:t>
            </a:r>
            <a:endParaRPr lang="en-US" sz="1200" dirty="0"/>
          </a:p>
        </p:txBody>
      </p:sp>
      <p:sp>
        <p:nvSpPr>
          <p:cNvPr id="14" name="Shape 389"/>
          <p:cNvSpPr/>
          <p:nvPr/>
        </p:nvSpPr>
        <p:spPr>
          <a:xfrm>
            <a:off x="4251960" y="3063240"/>
            <a:ext cx="274320" cy="0"/>
          </a:xfrm>
          <a:prstGeom prst="line">
            <a:avLst/>
          </a:prstGeom>
          <a:noFill/>
          <a:ln w="25400">
            <a:solidFill>
              <a:schemeClr val="accent4"/>
            </a:solidFill>
            <a:prstDash val="solid"/>
            <a:tailEnd type="triangle"/>
          </a:ln>
        </p:spPr>
      </p:sp>
      <p:sp>
        <p:nvSpPr>
          <p:cNvPr id="15" name="Chip 390"/>
          <p:cNvSpPr/>
          <p:nvPr/>
        </p:nvSpPr>
        <p:spPr>
          <a:xfrm>
            <a:off x="4572000" y="2514600"/>
            <a:ext cx="960120" cy="1097280"/>
          </a:xfrm>
          <a:prstGeom prst="roundRect">
            <a:avLst>
              <a:gd name="adj" fmla="val 5714"/>
            </a:avLst>
          </a:prstGeom>
          <a:solidFill>
            <a:schemeClr val="bg2"/>
          </a:solidFill>
          <a:ln/>
        </p:spPr>
        <p:txBody>
          <a:bodyPr wrap="square" lIns="0" tIns="0" rIns="0" bIns="0" rtlCol="0" anchor="ctr"/>
          <a:lstStyle/>
          <a:p>
            <a:pPr algn="ctr" indent="0" marL="0">
              <a:buNone/>
            </a:pPr>
            <a:r>
              <a:rPr lang="en-US" sz="1200" b="1" dirty="0">
                <a:solidFill>
                  <a:schemeClr val="tx1"/>
                </a:solidFill>
              </a:rPr>
              <a:t>Direct cash discount</a:t>
            </a:r>
            <a:endParaRPr lang="en-US" sz="1200" dirty="0"/>
          </a:p>
        </p:txBody>
      </p:sp>
      <p:pic>
        <p:nvPicPr>
          <p:cNvPr id="16" name="Icon 391" descr="ExchangeAlt">    </p:cNvPr>
          <p:cNvPicPr>
            <a:picLocks noChangeAspect="1"/>
          </p:cNvPicPr>
          <p:nvPr/>
        </p:nvPicPr>
        <p:blipFill>
          <a:blip r:embed="rId1"/>
          <a:stretch>
            <a:fillRect/>
          </a:stretch>
        </p:blipFill>
        <p:spPr>
          <a:xfrm>
            <a:off x="3063240" y="4160520"/>
            <a:ext cx="365760" cy="365760"/>
          </a:xfrm>
          <a:prstGeom prst="rect">
            <a:avLst/>
          </a:prstGeom>
        </p:spPr>
      </p:pic>
      <p:sp>
        <p:nvSpPr>
          <p:cNvPr id="17" name="Chip 392"/>
          <p:cNvSpPr/>
          <p:nvPr/>
        </p:nvSpPr>
        <p:spPr>
          <a:xfrm>
            <a:off x="1143000" y="4663440"/>
            <a:ext cx="4206240" cy="502920"/>
          </a:xfrm>
          <a:prstGeom prst="roundRect">
            <a:avLst>
              <a:gd name="adj" fmla="val 10909"/>
            </a:avLst>
          </a:prstGeom>
          <a:solidFill>
            <a:schemeClr val="bg2"/>
          </a:solidFill>
          <a:ln/>
        </p:spPr>
        <p:txBody>
          <a:bodyPr wrap="square" lIns="0" tIns="0" rIns="0" bIns="0" rtlCol="0" anchor="ctr"/>
          <a:lstStyle/>
          <a:p>
            <a:pPr algn="ctr" indent="0" marL="0">
              <a:buNone/>
            </a:pPr>
            <a:r>
              <a:rPr lang="en-US" sz="1300" b="1" dirty="0">
                <a:solidFill>
                  <a:schemeClr val="accent6"/>
                </a:solidFill>
              </a:rPr>
              <a:t>Exchange Gateway: Brand Points ↔ BonBon Points</a:t>
            </a:r>
            <a:endParaRPr lang="en-US" sz="1300" dirty="0"/>
          </a:p>
        </p:txBody>
      </p:sp>
      <p:sp>
        <p:nvSpPr>
          <p:cNvPr id="18" name="Text 393"/>
          <p:cNvSpPr txBox="1"/>
          <p:nvPr/>
        </p:nvSpPr>
        <p:spPr>
          <a:xfrm>
            <a:off x="1143000" y="5303520"/>
            <a:ext cx="4206240" cy="640080"/>
          </a:xfrm>
          <a:prstGeom prst="rect">
            <a:avLst/>
          </a:prstGeom>
          <a:noFill/>
          <a:ln/>
        </p:spPr>
        <p:txBody>
          <a:bodyPr wrap="square" lIns="0" tIns="0" rIns="0" bIns="0" rtlCol="0" anchor="ctr"/>
          <a:lstStyle/>
          <a:p>
            <a:pPr algn="ctr" indent="0" marL="0">
              <a:buNone/>
            </a:pPr>
            <a:r>
              <a:rPr lang="en-US" sz="1300" dirty="0">
                <a:solidFill>
                  <a:schemeClr val="tx1"/>
                </a:solidFill>
              </a:rPr>
              <a:t>Burn Points for Discount: dùng điểm Brand X trừ thẳng vào đơn hàng của Brand X.</a:t>
            </a:r>
            <a:endParaRPr lang="en-US" sz="1300" dirty="0"/>
          </a:p>
        </p:txBody>
      </p:sp>
      <p:sp>
        <p:nvSpPr>
          <p:cNvPr id="19" name="Shape 394"/>
          <p:cNvSpPr/>
          <p:nvPr/>
        </p:nvSpPr>
        <p:spPr>
          <a:xfrm>
            <a:off x="6217920" y="1554480"/>
            <a:ext cx="5422392" cy="4709160"/>
          </a:xfrm>
          <a:prstGeom prst="roundRect">
            <a:avLst>
              <a:gd name="adj" fmla="val 1553"/>
            </a:avLst>
          </a:prstGeom>
          <a:solidFill>
            <a:schemeClr val="bg2"/>
          </a:solidFill>
          <a:ln/>
        </p:spPr>
      </p:sp>
      <p:sp>
        <p:nvSpPr>
          <p:cNvPr id="20" name="Pill 395"/>
          <p:cNvSpPr/>
          <p:nvPr/>
        </p:nvSpPr>
        <p:spPr>
          <a:xfrm>
            <a:off x="6492240" y="1828800"/>
            <a:ext cx="566928" cy="329184"/>
          </a:xfrm>
          <a:prstGeom prst="roundRect">
            <a:avLst>
              <a:gd name="adj" fmla="val 47222"/>
            </a:avLst>
          </a:prstGeom>
          <a:solidFill>
            <a:schemeClr val="accent6"/>
          </a:solidFill>
          <a:ln/>
        </p:spPr>
        <p:txBody>
          <a:bodyPr wrap="square" lIns="0" tIns="0" rIns="0" bIns="0" rtlCol="0" anchor="ctr"/>
          <a:lstStyle/>
          <a:p>
            <a:pPr algn="ctr" indent="0" marL="0">
              <a:buNone/>
            </a:pPr>
            <a:r>
              <a:rPr lang="en-US" sz="1400" b="1" dirty="0">
                <a:solidFill>
                  <a:schemeClr val="bg1"/>
                </a:solidFill>
              </a:rPr>
              <a:t>4.3</a:t>
            </a:r>
            <a:endParaRPr lang="en-US" sz="1400" dirty="0"/>
          </a:p>
        </p:txBody>
      </p:sp>
      <p:sp>
        <p:nvSpPr>
          <p:cNvPr id="21" name="Text 396"/>
          <p:cNvSpPr txBox="1"/>
          <p:nvPr/>
        </p:nvSpPr>
        <p:spPr>
          <a:xfrm>
            <a:off x="7196328" y="1737360"/>
            <a:ext cx="4169664" cy="512064"/>
          </a:xfrm>
          <a:prstGeom prst="rect">
            <a:avLst/>
          </a:prstGeom>
          <a:noFill/>
          <a:ln/>
        </p:spPr>
        <p:txBody>
          <a:bodyPr wrap="square" lIns="0" tIns="0" rIns="0" bIns="0" rtlCol="0" anchor="ctr"/>
          <a:lstStyle/>
          <a:p>
            <a:pPr indent="0" marL="0">
              <a:buNone/>
            </a:pPr>
            <a:r>
              <a:rPr lang="en-US" sz="1800" b="1" dirty="0">
                <a:solidFill>
                  <a:schemeClr val="tx1"/>
                </a:solidFill>
              </a:rPr>
              <a:t>Tích điểm, tiêu điểm &amp; hoán đổi điểm</a:t>
            </a:r>
            <a:endParaRPr lang="en-US" sz="1800" dirty="0"/>
          </a:p>
        </p:txBody>
      </p:sp>
      <p:sp>
        <p:nvSpPr>
          <p:cNvPr id="22" name="Text 397"/>
          <p:cNvSpPr txBox="1"/>
          <p:nvPr/>
        </p:nvSpPr>
        <p:spPr>
          <a:xfrm>
            <a:off x="6492240" y="2468880"/>
            <a:ext cx="4873752" cy="2186178"/>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Bonbon Points: tích từ mua sỉ, bán lẻ POS, điểm danh, chơi game; đổi voucher toàn sàn hoặc quà vận hành tiệm (dù che, áo mưa, bảng hiệu).</a:t>
            </a:r>
            <a:endParaRPr lang="en-US" sz="1400" dirty="0"/>
          </a:p>
          <a:p>
            <a:pPr marL="177800" indent="-177800">
              <a:spcAft>
                <a:spcPts val="800"/>
              </a:spcAft>
              <a:buSzPct val="100000"/>
              <a:buChar char="•"/>
            </a:pPr>
            <a:r>
              <a:rPr lang="en-US" sz="1400" dirty="0">
                <a:solidFill>
                  <a:schemeClr val="tx1"/>
                </a:solidFill>
              </a:rPr>
              <a:t>Brand Points: tích riêng theo từng Brand; Burn Points trừ trực tiếp vào đơn của chính Brand đó.</a:t>
            </a:r>
            <a:endParaRPr lang="en-US" sz="1400" dirty="0"/>
          </a:p>
          <a:p>
            <a:pPr marL="177800" indent="-177800">
              <a:spcAft>
                <a:spcPts val="800"/>
              </a:spcAft>
              <a:buSzPct val="100000"/>
              <a:buChar char="•"/>
            </a:pPr>
            <a:r>
              <a:rPr lang="en-US" sz="1400" dirty="0">
                <a:solidFill>
                  <a:schemeClr val="tx1"/>
                </a:solidFill>
              </a:rPr>
              <a:t>Point Exchange Gateway: quy đổi Brand ↔ Bonbon theo tỷ giá định trước, giải phóng điểm bị “đóng băng”.</a:t>
            </a:r>
            <a:endParaRPr lang="en-US" sz="1400" dirty="0"/>
          </a:p>
        </p:txBody>
      </p:sp>
      <p:sp>
        <p:nvSpPr>
          <p:cNvPr id="23" name="Shape 398"/>
          <p:cNvSpPr/>
          <p:nvPr/>
        </p:nvSpPr>
        <p:spPr>
          <a:xfrm>
            <a:off x="6492240" y="4792218"/>
            <a:ext cx="4873752" cy="1197102"/>
          </a:xfrm>
          <a:prstGeom prst="roundRect">
            <a:avLst>
              <a:gd name="adj" fmla="val 6111"/>
            </a:avLst>
          </a:prstGeom>
          <a:solidFill>
            <a:schemeClr val="bg1"/>
          </a:solidFill>
          <a:ln/>
        </p:spPr>
      </p:sp>
      <p:sp>
        <p:nvSpPr>
          <p:cNvPr id="24" name="Text 399"/>
          <p:cNvSpPr txBox="1"/>
          <p:nvPr/>
        </p:nvSpPr>
        <p:spPr>
          <a:xfrm>
            <a:off x="6675120" y="4901946"/>
            <a:ext cx="4507992" cy="201168"/>
          </a:xfrm>
          <a:prstGeom prst="rect">
            <a:avLst/>
          </a:prstGeom>
          <a:noFill/>
          <a:ln/>
        </p:spPr>
        <p:txBody>
          <a:bodyPr wrap="square" lIns="0" tIns="0" rIns="0" bIns="0" rtlCol="0" anchor="t"/>
          <a:lstStyle/>
          <a:p>
            <a:pPr indent="0" marL="0">
              <a:buNone/>
            </a:pPr>
            <a:r>
              <a:rPr lang="en-US" sz="1200" b="1" dirty="0">
                <a:solidFill>
                  <a:schemeClr val="accent6"/>
                </a:solidFill>
              </a:rPr>
              <a:t>VÍ DỤ</a:t>
            </a:r>
            <a:endParaRPr lang="en-US" sz="1200" dirty="0"/>
          </a:p>
        </p:txBody>
      </p:sp>
      <p:sp>
        <p:nvSpPr>
          <p:cNvPr id="25" name="Text 400"/>
          <p:cNvSpPr txBox="1"/>
          <p:nvPr/>
        </p:nvSpPr>
        <p:spPr>
          <a:xfrm>
            <a:off x="6675120" y="5139690"/>
            <a:ext cx="4507992" cy="758190"/>
          </a:xfrm>
          <a:prstGeom prst="rect">
            <a:avLst/>
          </a:prstGeom>
          <a:noFill/>
          <a:ln/>
        </p:spPr>
        <p:txBody>
          <a:bodyPr wrap="square" lIns="0" tIns="0" rIns="0" bIns="0" rtlCol="0" anchor="t"/>
          <a:lstStyle/>
          <a:p>
            <a:pPr indent="0" marL="0">
              <a:buNone/>
            </a:pPr>
            <a:r>
              <a:rPr lang="en-US" sz="1400" dirty="0">
                <a:solidFill>
                  <a:schemeClr val="tx1"/>
                </a:solidFill>
              </a:rPr>
              <a:t>100.000đ mua hàng = 10 Điểm Unilever. 100 Điểm Unilever = giảm 10.000đ khi mua OMO/Knorr, hoặc ↔ 80 Điểm Bonbon.</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6"/>
                </a:solidFill>
              </a:rPr>
              <a:t>TRỤ CỘT 4  ·  LOYALTY</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6"/>
                </a:solidFill>
              </a:rPr>
              <a:t>Daily Gamification</a:t>
            </a:r>
            <a:endParaRPr lang="en-US" sz="3200" dirty="0"/>
          </a:p>
        </p:txBody>
      </p:sp>
      <p:sp>
        <p:nvSpPr>
          <p:cNvPr id="4" name="Shape 401"/>
          <p:cNvSpPr/>
          <p:nvPr/>
        </p:nvSpPr>
        <p:spPr>
          <a:xfrm>
            <a:off x="548640" y="1554480"/>
            <a:ext cx="3514344" cy="4709160"/>
          </a:xfrm>
          <a:prstGeom prst="roundRect">
            <a:avLst>
              <a:gd name="adj" fmla="val 2082"/>
            </a:avLst>
          </a:prstGeom>
          <a:solidFill>
            <a:schemeClr val="bg2"/>
          </a:solidFill>
          <a:ln/>
        </p:spPr>
      </p:sp>
      <p:sp>
        <p:nvSpPr>
          <p:cNvPr id="5" name="Shape 402"/>
          <p:cNvSpPr/>
          <p:nvPr/>
        </p:nvSpPr>
        <p:spPr>
          <a:xfrm>
            <a:off x="777240" y="1828800"/>
            <a:ext cx="731520" cy="731520"/>
          </a:xfrm>
          <a:prstGeom prst="ellipse">
            <a:avLst/>
          </a:prstGeom>
          <a:solidFill>
            <a:schemeClr val="accent6"/>
          </a:solidFill>
          <a:ln/>
        </p:spPr>
      </p:sp>
      <p:pic>
        <p:nvPicPr>
          <p:cNvPr id="6" name="Icon 403" descr="Tasks">    </p:cNvPr>
          <p:cNvPicPr>
            <a:picLocks noChangeAspect="1"/>
          </p:cNvPicPr>
          <p:nvPr/>
        </p:nvPicPr>
        <p:blipFill>
          <a:blip r:embed="rId1"/>
          <a:stretch>
            <a:fillRect/>
          </a:stretch>
        </p:blipFill>
        <p:spPr>
          <a:xfrm>
            <a:off x="960120" y="2011680"/>
            <a:ext cx="365760" cy="365760"/>
          </a:xfrm>
          <a:prstGeom prst="rect">
            <a:avLst/>
          </a:prstGeom>
        </p:spPr>
      </p:pic>
      <p:sp>
        <p:nvSpPr>
          <p:cNvPr id="7" name="Pill 404"/>
          <p:cNvSpPr/>
          <p:nvPr/>
        </p:nvSpPr>
        <p:spPr>
          <a:xfrm>
            <a:off x="1737360" y="1847088"/>
            <a:ext cx="749808" cy="292608"/>
          </a:xfrm>
          <a:prstGeom prst="roundRect">
            <a:avLst>
              <a:gd name="adj" fmla="val 53125"/>
            </a:avLst>
          </a:prstGeom>
          <a:solidFill>
            <a:schemeClr val="accent6"/>
          </a:solidFill>
          <a:ln/>
        </p:spPr>
        <p:txBody>
          <a:bodyPr wrap="square" lIns="0" tIns="0" rIns="0" bIns="0" rtlCol="0" anchor="ctr"/>
          <a:lstStyle/>
          <a:p>
            <a:pPr algn="ctr" indent="0" marL="0">
              <a:buNone/>
            </a:pPr>
            <a:r>
              <a:rPr lang="en-US" sz="1400" b="1" dirty="0">
                <a:solidFill>
                  <a:schemeClr val="bg1"/>
                </a:solidFill>
              </a:rPr>
              <a:t>4.4.1</a:t>
            </a:r>
            <a:endParaRPr lang="en-US" sz="1400" dirty="0"/>
          </a:p>
        </p:txBody>
      </p:sp>
      <p:sp>
        <p:nvSpPr>
          <p:cNvPr id="8" name="Text 405"/>
          <p:cNvSpPr txBox="1"/>
          <p:nvPr/>
        </p:nvSpPr>
        <p:spPr>
          <a:xfrm>
            <a:off x="1737360"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Daily Missions</a:t>
            </a:r>
            <a:endParaRPr lang="en-US" sz="1600" dirty="0"/>
          </a:p>
        </p:txBody>
      </p:sp>
      <p:sp>
        <p:nvSpPr>
          <p:cNvPr id="9" name="Text 406"/>
          <p:cNvSpPr txBox="1"/>
          <p:nvPr/>
        </p:nvSpPr>
        <p:spPr>
          <a:xfrm>
            <a:off x="777240" y="2880360"/>
            <a:ext cx="3057144" cy="1580388"/>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Điểm danh mỗi ngày.</a:t>
            </a:r>
            <a:endParaRPr lang="en-US" sz="1500" dirty="0"/>
          </a:p>
          <a:p>
            <a:pPr marL="177800" indent="-177800">
              <a:spcAft>
                <a:spcPts val="600"/>
              </a:spcAft>
              <a:buSzPct val="100000"/>
              <a:buChar char="•"/>
            </a:pPr>
            <a:r>
              <a:rPr lang="en-US" sz="1500" dirty="0">
                <a:solidFill>
                  <a:schemeClr val="tx1"/>
                </a:solidFill>
              </a:rPr>
              <a:t>Hoàn thành 3 đơn bán lẻ đầu ngày.</a:t>
            </a:r>
            <a:endParaRPr lang="en-US" sz="1500" dirty="0"/>
          </a:p>
          <a:p>
            <a:pPr marL="177800" indent="-177800">
              <a:spcAft>
                <a:spcPts val="600"/>
              </a:spcAft>
              <a:buSzPct val="100000"/>
              <a:buChar char="•"/>
            </a:pPr>
            <a:r>
              <a:rPr lang="en-US" sz="1500" dirty="0">
                <a:solidFill>
                  <a:schemeClr val="tx1"/>
                </a:solidFill>
              </a:rPr>
              <a:t>Tạo 1 đơn nhập sỉ trên 500k.</a:t>
            </a:r>
            <a:endParaRPr lang="en-US" sz="1500" dirty="0"/>
          </a:p>
          <a:p>
            <a:pPr marL="177800" indent="-177800">
              <a:spcAft>
                <a:spcPts val="600"/>
              </a:spcAft>
              <a:buSzPct val="100000"/>
              <a:buChar char="•"/>
            </a:pPr>
            <a:r>
              <a:rPr lang="en-US" sz="1500" dirty="0">
                <a:solidFill>
                  <a:schemeClr val="tx1"/>
                </a:solidFill>
              </a:rPr>
              <a:t>Nhận Xu Bonbon hoặc vé quay thưởng.</a:t>
            </a:r>
            <a:endParaRPr lang="en-US" sz="1500" dirty="0"/>
          </a:p>
        </p:txBody>
      </p:sp>
      <p:sp>
        <p:nvSpPr>
          <p:cNvPr id="10" name="Shape 407"/>
          <p:cNvSpPr/>
          <p:nvPr/>
        </p:nvSpPr>
        <p:spPr>
          <a:xfrm>
            <a:off x="777240" y="4552188"/>
            <a:ext cx="3057144" cy="1482852"/>
          </a:xfrm>
          <a:prstGeom prst="roundRect">
            <a:avLst>
              <a:gd name="adj" fmla="val 4933"/>
            </a:avLst>
          </a:prstGeom>
          <a:solidFill>
            <a:schemeClr val="bg1"/>
          </a:solidFill>
          <a:ln/>
        </p:spPr>
      </p:sp>
      <p:sp>
        <p:nvSpPr>
          <p:cNvPr id="11" name="Text 408"/>
          <p:cNvSpPr txBox="1"/>
          <p:nvPr/>
        </p:nvSpPr>
        <p:spPr>
          <a:xfrm>
            <a:off x="960120" y="4661916"/>
            <a:ext cx="2691384" cy="201168"/>
          </a:xfrm>
          <a:prstGeom prst="rect">
            <a:avLst/>
          </a:prstGeom>
          <a:noFill/>
          <a:ln/>
        </p:spPr>
        <p:txBody>
          <a:bodyPr wrap="square" lIns="0" tIns="0" rIns="0" bIns="0" rtlCol="0" anchor="t"/>
          <a:lstStyle/>
          <a:p>
            <a:pPr indent="0" marL="0">
              <a:buNone/>
            </a:pPr>
            <a:r>
              <a:rPr lang="en-US" sz="1200" b="1" dirty="0">
                <a:solidFill>
                  <a:schemeClr val="accent6"/>
                </a:solidFill>
              </a:rPr>
              <a:t>MỤC TIÊU</a:t>
            </a:r>
            <a:endParaRPr lang="en-US" sz="1200" dirty="0"/>
          </a:p>
        </p:txBody>
      </p:sp>
      <p:sp>
        <p:nvSpPr>
          <p:cNvPr id="12" name="Text 409"/>
          <p:cNvSpPr txBox="1"/>
          <p:nvPr/>
        </p:nvSpPr>
        <p:spPr>
          <a:xfrm>
            <a:off x="960120" y="4899660"/>
            <a:ext cx="2691384" cy="1043940"/>
          </a:xfrm>
          <a:prstGeom prst="rect">
            <a:avLst/>
          </a:prstGeom>
          <a:noFill/>
          <a:ln/>
        </p:spPr>
        <p:txBody>
          <a:bodyPr wrap="square" lIns="0" tIns="0" rIns="0" bIns="0" rtlCol="0" anchor="t"/>
          <a:lstStyle/>
          <a:p>
            <a:pPr indent="0" marL="0">
              <a:buNone/>
            </a:pPr>
            <a:r>
              <a:rPr lang="en-US" sz="1500" dirty="0">
                <a:solidFill>
                  <a:schemeClr val="tx1"/>
                </a:solidFill>
              </a:rPr>
              <a:t>Habit Formation: mở app mỗi ngày, không chỉ 1–2 lần/tuần khi nhập sỉ → DAU/MAU tăng bền vững.</a:t>
            </a:r>
            <a:endParaRPr lang="en-US" sz="1500" dirty="0"/>
          </a:p>
        </p:txBody>
      </p:sp>
      <p:sp>
        <p:nvSpPr>
          <p:cNvPr id="13" name="Shape 410"/>
          <p:cNvSpPr/>
          <p:nvPr/>
        </p:nvSpPr>
        <p:spPr>
          <a:xfrm>
            <a:off x="4337304" y="1554480"/>
            <a:ext cx="3514344" cy="4709160"/>
          </a:xfrm>
          <a:prstGeom prst="roundRect">
            <a:avLst>
              <a:gd name="adj" fmla="val 2082"/>
            </a:avLst>
          </a:prstGeom>
          <a:solidFill>
            <a:schemeClr val="bg2"/>
          </a:solidFill>
          <a:ln/>
        </p:spPr>
      </p:sp>
      <p:sp>
        <p:nvSpPr>
          <p:cNvPr id="14" name="Shape 411"/>
          <p:cNvSpPr/>
          <p:nvPr/>
        </p:nvSpPr>
        <p:spPr>
          <a:xfrm>
            <a:off x="4565904" y="1828800"/>
            <a:ext cx="731520" cy="731520"/>
          </a:xfrm>
          <a:prstGeom prst="ellipse">
            <a:avLst/>
          </a:prstGeom>
          <a:solidFill>
            <a:schemeClr val="accent6"/>
          </a:solidFill>
          <a:ln/>
        </p:spPr>
      </p:sp>
      <p:pic>
        <p:nvPicPr>
          <p:cNvPr id="15" name="Icon 412" descr="Seedling">    </p:cNvPr>
          <p:cNvPicPr>
            <a:picLocks noChangeAspect="1"/>
          </p:cNvPicPr>
          <p:nvPr/>
        </p:nvPicPr>
        <p:blipFill>
          <a:blip r:embed="rId2"/>
          <a:stretch>
            <a:fillRect/>
          </a:stretch>
        </p:blipFill>
        <p:spPr>
          <a:xfrm>
            <a:off x="4748784" y="2011680"/>
            <a:ext cx="365760" cy="365760"/>
          </a:xfrm>
          <a:prstGeom prst="rect">
            <a:avLst/>
          </a:prstGeom>
        </p:spPr>
      </p:pic>
      <p:sp>
        <p:nvSpPr>
          <p:cNvPr id="16" name="Pill 413"/>
          <p:cNvSpPr/>
          <p:nvPr/>
        </p:nvSpPr>
        <p:spPr>
          <a:xfrm>
            <a:off x="5526024" y="1847088"/>
            <a:ext cx="749808" cy="292608"/>
          </a:xfrm>
          <a:prstGeom prst="roundRect">
            <a:avLst>
              <a:gd name="adj" fmla="val 53125"/>
            </a:avLst>
          </a:prstGeom>
          <a:solidFill>
            <a:schemeClr val="accent6"/>
          </a:solidFill>
          <a:ln/>
        </p:spPr>
        <p:txBody>
          <a:bodyPr wrap="square" lIns="0" tIns="0" rIns="0" bIns="0" rtlCol="0" anchor="ctr"/>
          <a:lstStyle/>
          <a:p>
            <a:pPr algn="ctr" indent="0" marL="0">
              <a:buNone/>
            </a:pPr>
            <a:r>
              <a:rPr lang="en-US" sz="1400" b="1" dirty="0">
                <a:solidFill>
                  <a:schemeClr val="bg1"/>
                </a:solidFill>
              </a:rPr>
              <a:t>4.4.2</a:t>
            </a:r>
            <a:endParaRPr lang="en-US" sz="1400" dirty="0"/>
          </a:p>
        </p:txBody>
      </p:sp>
      <p:sp>
        <p:nvSpPr>
          <p:cNvPr id="17" name="Text 414"/>
          <p:cNvSpPr txBox="1"/>
          <p:nvPr/>
        </p:nvSpPr>
        <p:spPr>
          <a:xfrm>
            <a:off x="5526024"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Trồng cây / Nuôi heo đất</a:t>
            </a:r>
            <a:endParaRPr lang="en-US" sz="1600" dirty="0"/>
          </a:p>
        </p:txBody>
      </p:sp>
      <p:sp>
        <p:nvSpPr>
          <p:cNvPr id="18" name="Text 415"/>
          <p:cNvSpPr txBox="1"/>
          <p:nvPr/>
        </p:nvSpPr>
        <p:spPr>
          <a:xfrm>
            <a:off x="4565904" y="2880360"/>
            <a:ext cx="3057144" cy="1580388"/>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Mini-game nhẹ nhàng: mỗi ngày vào tưới cây hoặc cho heo ăn.</a:t>
            </a:r>
            <a:endParaRPr lang="en-US" sz="1500" dirty="0"/>
          </a:p>
          <a:p>
            <a:pPr marL="177800" indent="-177800">
              <a:spcAft>
                <a:spcPts val="600"/>
              </a:spcAft>
              <a:buSzPct val="100000"/>
              <a:buChar char="•"/>
            </a:pPr>
            <a:r>
              <a:rPr lang="en-US" sz="1500" dirty="0">
                <a:solidFill>
                  <a:schemeClr val="tx1"/>
                </a:solidFill>
              </a:rPr>
              <a:t>Cây lớn thu hoạch voucher giảm giá 50k, 100k khi nhập hàng sỉ.</a:t>
            </a:r>
            <a:endParaRPr lang="en-US" sz="1500" dirty="0"/>
          </a:p>
        </p:txBody>
      </p:sp>
      <p:sp>
        <p:nvSpPr>
          <p:cNvPr id="19" name="Shape 416"/>
          <p:cNvSpPr/>
          <p:nvPr/>
        </p:nvSpPr>
        <p:spPr>
          <a:xfrm>
            <a:off x="4565904" y="4552188"/>
            <a:ext cx="3057144" cy="1482852"/>
          </a:xfrm>
          <a:prstGeom prst="roundRect">
            <a:avLst>
              <a:gd name="adj" fmla="val 4933"/>
            </a:avLst>
          </a:prstGeom>
          <a:solidFill>
            <a:schemeClr val="bg1"/>
          </a:solidFill>
          <a:ln/>
        </p:spPr>
      </p:sp>
      <p:sp>
        <p:nvSpPr>
          <p:cNvPr id="20" name="Text 417"/>
          <p:cNvSpPr txBox="1"/>
          <p:nvPr/>
        </p:nvSpPr>
        <p:spPr>
          <a:xfrm>
            <a:off x="4748784" y="4661916"/>
            <a:ext cx="2691384" cy="201168"/>
          </a:xfrm>
          <a:prstGeom prst="rect">
            <a:avLst/>
          </a:prstGeom>
          <a:noFill/>
          <a:ln/>
        </p:spPr>
        <p:txBody>
          <a:bodyPr wrap="square" lIns="0" tIns="0" rIns="0" bIns="0" rtlCol="0" anchor="t"/>
          <a:lstStyle/>
          <a:p>
            <a:pPr indent="0" marL="0">
              <a:buNone/>
            </a:pPr>
            <a:r>
              <a:rPr lang="en-US" sz="1200" b="1" dirty="0">
                <a:solidFill>
                  <a:schemeClr val="accent6"/>
                </a:solidFill>
              </a:rPr>
              <a:t>CƠ CHẾ</a:t>
            </a:r>
            <a:endParaRPr lang="en-US" sz="1200" dirty="0"/>
          </a:p>
        </p:txBody>
      </p:sp>
      <p:sp>
        <p:nvSpPr>
          <p:cNvPr id="21" name="Text 418"/>
          <p:cNvSpPr txBox="1"/>
          <p:nvPr/>
        </p:nvSpPr>
        <p:spPr>
          <a:xfrm>
            <a:off x="4748784" y="4899660"/>
            <a:ext cx="2691384" cy="1043940"/>
          </a:xfrm>
          <a:prstGeom prst="rect">
            <a:avLst/>
          </a:prstGeom>
          <a:noFill/>
          <a:ln/>
        </p:spPr>
        <p:txBody>
          <a:bodyPr wrap="square" lIns="0" tIns="0" rIns="0" bIns="0" rtlCol="0" anchor="t"/>
          <a:lstStyle/>
          <a:p>
            <a:pPr indent="0" marL="0">
              <a:buNone/>
            </a:pPr>
            <a:r>
              <a:rPr lang="en-US" sz="1500" dirty="0">
                <a:solidFill>
                  <a:schemeClr val="tx1"/>
                </a:solidFill>
              </a:rPr>
              <a:t>Dopamine Loop: phần thưởng nhỏ, tức thì tạo niềm vui trong giờ rảnh tại quầy.</a:t>
            </a:r>
            <a:endParaRPr lang="en-US" sz="1500" dirty="0"/>
          </a:p>
        </p:txBody>
      </p:sp>
      <p:sp>
        <p:nvSpPr>
          <p:cNvPr id="22" name="Shape 419"/>
          <p:cNvSpPr/>
          <p:nvPr/>
        </p:nvSpPr>
        <p:spPr>
          <a:xfrm>
            <a:off x="8125968" y="1554480"/>
            <a:ext cx="3514344" cy="4709160"/>
          </a:xfrm>
          <a:prstGeom prst="roundRect">
            <a:avLst>
              <a:gd name="adj" fmla="val 2082"/>
            </a:avLst>
          </a:prstGeom>
          <a:solidFill>
            <a:schemeClr val="bg2"/>
          </a:solidFill>
          <a:ln/>
        </p:spPr>
      </p:sp>
      <p:sp>
        <p:nvSpPr>
          <p:cNvPr id="23" name="Shape 420"/>
          <p:cNvSpPr/>
          <p:nvPr/>
        </p:nvSpPr>
        <p:spPr>
          <a:xfrm>
            <a:off x="8354568" y="1828800"/>
            <a:ext cx="731520" cy="731520"/>
          </a:xfrm>
          <a:prstGeom prst="ellipse">
            <a:avLst/>
          </a:prstGeom>
          <a:solidFill>
            <a:schemeClr val="accent6"/>
          </a:solidFill>
          <a:ln/>
        </p:spPr>
      </p:sp>
      <p:pic>
        <p:nvPicPr>
          <p:cNvPr id="24" name="Icon 421" descr="Dharmachakra">    </p:cNvPr>
          <p:cNvPicPr>
            <a:picLocks noChangeAspect="1"/>
          </p:cNvPicPr>
          <p:nvPr/>
        </p:nvPicPr>
        <p:blipFill>
          <a:blip r:embed="rId3"/>
          <a:stretch>
            <a:fillRect/>
          </a:stretch>
        </p:blipFill>
        <p:spPr>
          <a:xfrm>
            <a:off x="8537448" y="2011680"/>
            <a:ext cx="365760" cy="365760"/>
          </a:xfrm>
          <a:prstGeom prst="rect">
            <a:avLst/>
          </a:prstGeom>
        </p:spPr>
      </p:pic>
      <p:sp>
        <p:nvSpPr>
          <p:cNvPr id="25" name="Pill 422"/>
          <p:cNvSpPr/>
          <p:nvPr/>
        </p:nvSpPr>
        <p:spPr>
          <a:xfrm>
            <a:off x="9314688" y="1847088"/>
            <a:ext cx="749808" cy="292608"/>
          </a:xfrm>
          <a:prstGeom prst="roundRect">
            <a:avLst>
              <a:gd name="adj" fmla="val 53125"/>
            </a:avLst>
          </a:prstGeom>
          <a:solidFill>
            <a:schemeClr val="accent6"/>
          </a:solidFill>
          <a:ln/>
        </p:spPr>
        <p:txBody>
          <a:bodyPr wrap="square" lIns="0" tIns="0" rIns="0" bIns="0" rtlCol="0" anchor="ctr"/>
          <a:lstStyle/>
          <a:p>
            <a:pPr algn="ctr" indent="0" marL="0">
              <a:buNone/>
            </a:pPr>
            <a:r>
              <a:rPr lang="en-US" sz="1400" b="1" dirty="0">
                <a:solidFill>
                  <a:schemeClr val="bg1"/>
                </a:solidFill>
              </a:rPr>
              <a:t>4.4.3</a:t>
            </a:r>
            <a:endParaRPr lang="en-US" sz="1400" dirty="0"/>
          </a:p>
        </p:txBody>
      </p:sp>
      <p:sp>
        <p:nvSpPr>
          <p:cNvPr id="26" name="Text 423"/>
          <p:cNvSpPr txBox="1"/>
          <p:nvPr/>
        </p:nvSpPr>
        <p:spPr>
          <a:xfrm>
            <a:off x="9314688" y="2194560"/>
            <a:ext cx="2097024" cy="548640"/>
          </a:xfrm>
          <a:prstGeom prst="rect">
            <a:avLst/>
          </a:prstGeom>
          <a:noFill/>
          <a:ln/>
        </p:spPr>
        <p:txBody>
          <a:bodyPr wrap="square" lIns="0" tIns="0" rIns="0" bIns="0" rtlCol="0" anchor="t"/>
          <a:lstStyle/>
          <a:p>
            <a:pPr indent="0" marL="0">
              <a:buNone/>
            </a:pPr>
            <a:r>
              <a:rPr lang="en-US" sz="1600" b="1" dirty="0">
                <a:solidFill>
                  <a:schemeClr val="tx1"/>
                </a:solidFill>
              </a:rPr>
              <a:t>Vòng quay may mắn / Lắc xu</a:t>
            </a:r>
            <a:endParaRPr lang="en-US" sz="1600" dirty="0"/>
          </a:p>
        </p:txBody>
      </p:sp>
      <p:sp>
        <p:nvSpPr>
          <p:cNvPr id="27" name="Text 424"/>
          <p:cNvSpPr txBox="1"/>
          <p:nvPr/>
        </p:nvSpPr>
        <p:spPr>
          <a:xfrm>
            <a:off x="8354568" y="2880360"/>
            <a:ext cx="3057144" cy="1580388"/>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Quay vào khung giờ nghỉ trưa (12h–13h) hoặc khi hoàn tất một đơn hàng thành công.</a:t>
            </a:r>
            <a:endParaRPr lang="en-US" sz="1500" dirty="0"/>
          </a:p>
          <a:p>
            <a:pPr marL="177800" indent="-177800">
              <a:spcAft>
                <a:spcPts val="600"/>
              </a:spcAft>
              <a:buSzPct val="100000"/>
              <a:buChar char="•"/>
            </a:pPr>
            <a:r>
              <a:rPr lang="en-US" sz="1500" dirty="0">
                <a:solidFill>
                  <a:schemeClr val="tx1"/>
                </a:solidFill>
              </a:rPr>
              <a:t>Trúng thẻ cào điện thoại, voucher freeship hoặc Điểm Bonbon.</a:t>
            </a:r>
            <a:endParaRPr lang="en-US" sz="1500" dirty="0"/>
          </a:p>
        </p:txBody>
      </p:sp>
      <p:sp>
        <p:nvSpPr>
          <p:cNvPr id="28" name="Shape 425"/>
          <p:cNvSpPr/>
          <p:nvPr/>
        </p:nvSpPr>
        <p:spPr>
          <a:xfrm>
            <a:off x="8354568" y="4552188"/>
            <a:ext cx="3057144" cy="1482852"/>
          </a:xfrm>
          <a:prstGeom prst="roundRect">
            <a:avLst>
              <a:gd name="adj" fmla="val 4933"/>
            </a:avLst>
          </a:prstGeom>
          <a:solidFill>
            <a:schemeClr val="bg1"/>
          </a:solidFill>
          <a:ln/>
        </p:spPr>
      </p:sp>
      <p:sp>
        <p:nvSpPr>
          <p:cNvPr id="29" name="Text 426"/>
          <p:cNvSpPr txBox="1"/>
          <p:nvPr/>
        </p:nvSpPr>
        <p:spPr>
          <a:xfrm>
            <a:off x="8537448" y="4661916"/>
            <a:ext cx="2691384" cy="201168"/>
          </a:xfrm>
          <a:prstGeom prst="rect">
            <a:avLst/>
          </a:prstGeom>
          <a:noFill/>
          <a:ln/>
        </p:spPr>
        <p:txBody>
          <a:bodyPr wrap="square" lIns="0" tIns="0" rIns="0" bIns="0" rtlCol="0" anchor="t"/>
          <a:lstStyle/>
          <a:p>
            <a:pPr indent="0" marL="0">
              <a:buNone/>
            </a:pPr>
            <a:r>
              <a:rPr lang="en-US" sz="1200" b="1" dirty="0">
                <a:solidFill>
                  <a:schemeClr val="accent6"/>
                </a:solidFill>
              </a:rPr>
              <a:t>GIẢI THƯỞNG</a:t>
            </a:r>
            <a:endParaRPr lang="en-US" sz="1200" dirty="0"/>
          </a:p>
        </p:txBody>
      </p:sp>
      <p:sp>
        <p:nvSpPr>
          <p:cNvPr id="30" name="Text 427"/>
          <p:cNvSpPr txBox="1"/>
          <p:nvPr/>
        </p:nvSpPr>
        <p:spPr>
          <a:xfrm>
            <a:off x="8537448" y="4899660"/>
            <a:ext cx="2691384" cy="1043940"/>
          </a:xfrm>
          <a:prstGeom prst="rect">
            <a:avLst/>
          </a:prstGeom>
          <a:noFill/>
          <a:ln/>
        </p:spPr>
        <p:txBody>
          <a:bodyPr wrap="square" lIns="0" tIns="0" rIns="0" bIns="0" rtlCol="0" anchor="t"/>
          <a:lstStyle/>
          <a:p>
            <a:pPr indent="0" marL="0">
              <a:buNone/>
            </a:pPr>
            <a:r>
              <a:rPr lang="en-US" sz="1500" dirty="0">
                <a:solidFill>
                  <a:schemeClr val="tx1"/>
                </a:solidFill>
              </a:rPr>
              <a:t>Biến app thành người bạn thân thiết trong sinh hoạt hằng ngày của tiệm.</a:t>
            </a:r>
            <a:endParaRPr lang="en-US" sz="15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5"/>
                </a:solidFill>
              </a:rPr>
              <a:t>TRỤ CỘT 5  ·  REDUCE SALES TASKS</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5"/>
                </a:solidFill>
              </a:rPr>
              <a:t>AI Vision Audit (Shelf Display)</a:t>
            </a:r>
            <a:endParaRPr lang="en-US" sz="3200" dirty="0"/>
          </a:p>
        </p:txBody>
      </p:sp>
      <p:sp>
        <p:nvSpPr>
          <p:cNvPr id="4" name="Pill 428"/>
          <p:cNvSpPr/>
          <p:nvPr/>
        </p:nvSpPr>
        <p:spPr>
          <a:xfrm>
            <a:off x="548640" y="1481328"/>
            <a:ext cx="566928" cy="329184"/>
          </a:xfrm>
          <a:prstGeom prst="roundRect">
            <a:avLst>
              <a:gd name="adj" fmla="val 47222"/>
            </a:avLst>
          </a:prstGeom>
          <a:solidFill>
            <a:schemeClr val="accent5"/>
          </a:solidFill>
          <a:ln/>
        </p:spPr>
        <p:txBody>
          <a:bodyPr wrap="square" lIns="0" tIns="0" rIns="0" bIns="0" rtlCol="0" anchor="ctr"/>
          <a:lstStyle/>
          <a:p>
            <a:pPr algn="ctr" indent="0" marL="0">
              <a:buNone/>
            </a:pPr>
            <a:r>
              <a:rPr lang="en-US" sz="1400" b="1" dirty="0">
                <a:solidFill>
                  <a:schemeClr val="bg1"/>
                </a:solidFill>
              </a:rPr>
              <a:t>5.1</a:t>
            </a:r>
            <a:endParaRPr lang="en-US" sz="1400" dirty="0"/>
          </a:p>
        </p:txBody>
      </p:sp>
      <p:sp>
        <p:nvSpPr>
          <p:cNvPr id="5" name="Text 429"/>
          <p:cNvSpPr txBox="1"/>
          <p:nvPr/>
        </p:nvSpPr>
        <p:spPr>
          <a:xfrm>
            <a:off x="1252728" y="1417320"/>
            <a:ext cx="9144000" cy="457200"/>
          </a:xfrm>
          <a:prstGeom prst="rect">
            <a:avLst/>
          </a:prstGeom>
          <a:noFill/>
          <a:ln/>
        </p:spPr>
        <p:txBody>
          <a:bodyPr wrap="square" lIns="0" tIns="0" rIns="0" bIns="0" rtlCol="0" anchor="ctr"/>
          <a:lstStyle/>
          <a:p>
            <a:pPr indent="0" marL="0">
              <a:buNone/>
            </a:pPr>
            <a:r>
              <a:rPr lang="en-US" sz="2000" b="1" dirty="0">
                <a:solidFill>
                  <a:schemeClr val="tx1"/>
                </a:solidFill>
              </a:rPr>
              <a:t>Tự đăng ký &amp; chấm điểm trưng bày bằng AI</a:t>
            </a:r>
            <a:endParaRPr lang="en-US" sz="2000" dirty="0"/>
          </a:p>
        </p:txBody>
      </p:sp>
      <p:sp>
        <p:nvSpPr>
          <p:cNvPr id="6" name="Text 430"/>
          <p:cNvSpPr txBox="1"/>
          <p:nvPr/>
        </p:nvSpPr>
        <p:spPr>
          <a:xfrm>
            <a:off x="548640" y="1920240"/>
            <a:ext cx="11091672" cy="365760"/>
          </a:xfrm>
          <a:prstGeom prst="rect">
            <a:avLst/>
          </a:prstGeom>
          <a:noFill/>
          <a:ln/>
        </p:spPr>
        <p:txBody>
          <a:bodyPr wrap="square" lIns="0" tIns="0" rIns="0" bIns="0" rtlCol="0" anchor="ctr"/>
          <a:lstStyle/>
          <a:p>
            <a:pPr indent="0" marL="0">
              <a:buNone/>
            </a:pPr>
            <a:r>
              <a:rPr lang="en-US" sz="1400" b="1" dirty="0">
                <a:solidFill>
                  <a:schemeClr val="accent5"/>
                </a:solidFill>
              </a:rPr>
              <a:t>Nguyên tắc cốt lõi: </a:t>
            </a:r>
            <a:pPr indent="0" marL="0">
              <a:buNone/>
            </a:pPr>
            <a:r>
              <a:rPr lang="en-US" sz="1400" dirty="0">
                <a:solidFill>
                  <a:schemeClr val="tx1"/>
                </a:solidFill>
              </a:rPr>
              <a:t>mọi tác vụ trước đây cần Sales có mặt trực tiếp nay chuyển 100% cho Merchant tự thao tác trên app.</a:t>
            </a:r>
            <a:endParaRPr lang="en-US" sz="1400" dirty="0"/>
          </a:p>
        </p:txBody>
      </p:sp>
      <p:sp>
        <p:nvSpPr>
          <p:cNvPr id="7" name="Header 431"/>
          <p:cNvSpPr/>
          <p:nvPr/>
        </p:nvSpPr>
        <p:spPr>
          <a:xfrm>
            <a:off x="548640" y="2377440"/>
            <a:ext cx="5408676" cy="365760"/>
          </a:xfrm>
          <a:prstGeom prst="roundRect">
            <a:avLst>
              <a:gd name="adj" fmla="val 15000"/>
            </a:avLst>
          </a:prstGeom>
          <a:solidFill>
            <a:schemeClr val="accent4"/>
          </a:solidFill>
          <a:ln/>
        </p:spPr>
        <p:txBody>
          <a:bodyPr wrap="square" lIns="0" tIns="0" rIns="0" bIns="0" rtlCol="0" anchor="ctr"/>
          <a:lstStyle/>
          <a:p>
            <a:pPr algn="ctr" indent="0" marL="0">
              <a:buNone/>
            </a:pPr>
            <a:r>
              <a:rPr lang="en-US" sz="1400" b="1" dirty="0">
                <a:solidFill>
                  <a:schemeClr val="bg1"/>
                </a:solidFill>
              </a:rPr>
              <a:t>BEFORE (Manual)</a:t>
            </a:r>
            <a:endParaRPr lang="en-US" sz="1400" dirty="0"/>
          </a:p>
        </p:txBody>
      </p:sp>
      <p:sp>
        <p:nvSpPr>
          <p:cNvPr id="8" name="Header 432"/>
          <p:cNvSpPr/>
          <p:nvPr/>
        </p:nvSpPr>
        <p:spPr>
          <a:xfrm>
            <a:off x="6231636" y="2377440"/>
            <a:ext cx="5408676" cy="365760"/>
          </a:xfrm>
          <a:prstGeom prst="roundRect">
            <a:avLst>
              <a:gd name="adj" fmla="val 15000"/>
            </a:avLst>
          </a:prstGeom>
          <a:solidFill>
            <a:schemeClr val="accent5"/>
          </a:solidFill>
          <a:ln/>
        </p:spPr>
        <p:txBody>
          <a:bodyPr wrap="square" lIns="0" tIns="0" rIns="0" bIns="0" rtlCol="0" anchor="ctr"/>
          <a:lstStyle/>
          <a:p>
            <a:pPr algn="ctr" indent="0" marL="0">
              <a:buNone/>
            </a:pPr>
            <a:r>
              <a:rPr lang="en-US" sz="1400" b="1" dirty="0">
                <a:solidFill>
                  <a:schemeClr val="bg1"/>
                </a:solidFill>
              </a:rPr>
              <a:t>AFTER (Self-service)</a:t>
            </a:r>
            <a:endParaRPr lang="en-US" sz="1400" dirty="0"/>
          </a:p>
        </p:txBody>
      </p:sp>
      <p:sp>
        <p:nvSpPr>
          <p:cNvPr id="9" name="Shape 433"/>
          <p:cNvSpPr/>
          <p:nvPr/>
        </p:nvSpPr>
        <p:spPr>
          <a:xfrm>
            <a:off x="548640" y="2834640"/>
            <a:ext cx="5408676" cy="1280160"/>
          </a:xfrm>
          <a:prstGeom prst="roundRect">
            <a:avLst>
              <a:gd name="adj" fmla="val 5714"/>
            </a:avLst>
          </a:prstGeom>
          <a:solidFill>
            <a:schemeClr val="bg2"/>
          </a:solidFill>
          <a:ln/>
        </p:spPr>
      </p:sp>
      <p:sp>
        <p:nvSpPr>
          <p:cNvPr id="10" name="Shape 434"/>
          <p:cNvSpPr/>
          <p:nvPr/>
        </p:nvSpPr>
        <p:spPr>
          <a:xfrm>
            <a:off x="777240" y="3063240"/>
            <a:ext cx="640080" cy="640080"/>
          </a:xfrm>
          <a:prstGeom prst="ellipse">
            <a:avLst/>
          </a:prstGeom>
          <a:solidFill>
            <a:schemeClr val="accent4"/>
          </a:solidFill>
          <a:ln/>
        </p:spPr>
      </p:sp>
      <p:pic>
        <p:nvPicPr>
          <p:cNvPr id="11" name="Icon 435" descr="Camera">    </p:cNvPr>
          <p:cNvPicPr>
            <a:picLocks noChangeAspect="1"/>
          </p:cNvPicPr>
          <p:nvPr/>
        </p:nvPicPr>
        <p:blipFill>
          <a:blip r:embed="rId1"/>
          <a:stretch>
            <a:fillRect/>
          </a:stretch>
        </p:blipFill>
        <p:spPr>
          <a:xfrm>
            <a:off x="937260" y="3223260"/>
            <a:ext cx="320040" cy="320040"/>
          </a:xfrm>
          <a:prstGeom prst="rect">
            <a:avLst/>
          </a:prstGeom>
        </p:spPr>
      </p:pic>
      <p:sp>
        <p:nvSpPr>
          <p:cNvPr id="12" name="Text 436"/>
          <p:cNvSpPr txBox="1"/>
          <p:nvPr/>
        </p:nvSpPr>
        <p:spPr>
          <a:xfrm>
            <a:off x="1600200" y="2971800"/>
            <a:ext cx="4128516" cy="1005840"/>
          </a:xfrm>
          <a:prstGeom prst="rect">
            <a:avLst/>
          </a:prstGeom>
          <a:noFill/>
          <a:ln/>
        </p:spPr>
        <p:txBody>
          <a:bodyPr wrap="square" lIns="0" tIns="0" rIns="0" bIns="0" rtlCol="0" anchor="ctr"/>
          <a:lstStyle/>
          <a:p>
            <a:pPr indent="0" marL="0">
              <a:buNone/>
            </a:pPr>
            <a:r>
              <a:rPr lang="en-US" sz="1400" dirty="0">
                <a:solidFill>
                  <a:schemeClr val="tx1"/>
                </a:solidFill>
              </a:rPr>
              <a:t>Sales cầm hợp đồng đi thuyết phục chủ tiệm ký gói trưng bày, rồi định kỳ đến tiệm chụp ảnh kệ bằng app DMS để Trade Marketing chấm thủ công. Việc chụp ảnh ngốn 25–30% thời lượng mỗi lần ghé.</a:t>
            </a:r>
            <a:endParaRPr lang="en-US" sz="1400" dirty="0"/>
          </a:p>
        </p:txBody>
      </p:sp>
      <p:sp>
        <p:nvSpPr>
          <p:cNvPr id="13" name="Shape 437"/>
          <p:cNvSpPr/>
          <p:nvPr/>
        </p:nvSpPr>
        <p:spPr>
          <a:xfrm>
            <a:off x="6231636" y="2834640"/>
            <a:ext cx="5408676" cy="1280160"/>
          </a:xfrm>
          <a:prstGeom prst="roundRect">
            <a:avLst>
              <a:gd name="adj" fmla="val 5714"/>
            </a:avLst>
          </a:prstGeom>
          <a:solidFill>
            <a:schemeClr val="bg1"/>
          </a:solidFill>
          <a:ln w="19050">
            <a:solidFill>
              <a:schemeClr val="accent5"/>
            </a:solidFill>
            <a:prstDash val="solid"/>
          </a:ln>
        </p:spPr>
      </p:sp>
      <p:sp>
        <p:nvSpPr>
          <p:cNvPr id="14" name="Shape 438"/>
          <p:cNvSpPr/>
          <p:nvPr/>
        </p:nvSpPr>
        <p:spPr>
          <a:xfrm>
            <a:off x="6460236" y="3063240"/>
            <a:ext cx="640080" cy="640080"/>
          </a:xfrm>
          <a:prstGeom prst="ellipse">
            <a:avLst/>
          </a:prstGeom>
          <a:solidFill>
            <a:schemeClr val="accent5"/>
          </a:solidFill>
          <a:ln/>
        </p:spPr>
      </p:sp>
      <p:pic>
        <p:nvPicPr>
          <p:cNvPr id="15" name="Icon 439" descr="Brain">    </p:cNvPr>
          <p:cNvPicPr>
            <a:picLocks noChangeAspect="1"/>
          </p:cNvPicPr>
          <p:nvPr/>
        </p:nvPicPr>
        <p:blipFill>
          <a:blip r:embed="rId2"/>
          <a:stretch>
            <a:fillRect/>
          </a:stretch>
        </p:blipFill>
        <p:spPr>
          <a:xfrm>
            <a:off x="6620256" y="3223260"/>
            <a:ext cx="320040" cy="320040"/>
          </a:xfrm>
          <a:prstGeom prst="rect">
            <a:avLst/>
          </a:prstGeom>
        </p:spPr>
      </p:pic>
      <p:sp>
        <p:nvSpPr>
          <p:cNvPr id="16" name="Text 440"/>
          <p:cNvSpPr txBox="1"/>
          <p:nvPr/>
        </p:nvSpPr>
        <p:spPr>
          <a:xfrm>
            <a:off x="7283196" y="2944368"/>
            <a:ext cx="4128516" cy="1060704"/>
          </a:xfrm>
          <a:prstGeom prst="rect">
            <a:avLst/>
          </a:prstGeom>
          <a:noFill/>
          <a:ln/>
        </p:spPr>
        <p:txBody>
          <a:bodyPr wrap="square" lIns="0" tIns="0" rIns="0" bIns="0" rtlCol="0" anchor="ctr"/>
          <a:lstStyle/>
          <a:p>
            <a:pPr indent="0" marL="0">
              <a:buNone/>
            </a:pPr>
            <a:r>
              <a:rPr lang="en-US" sz="1400" dirty="0">
                <a:solidFill>
                  <a:schemeClr val="tx1"/>
                </a:solidFill>
              </a:rPr>
              <a:t>Merchant tự đăng ký gói, tự chụp kệ theo khung chuẩn; AI chấm điểm và thưởng tự vào Ví trong 24h. Minh bạch, không lo Sales “quên chụp”.</a:t>
            </a:r>
            <a:endParaRPr lang="en-US" sz="1400" dirty="0"/>
          </a:p>
        </p:txBody>
      </p:sp>
      <p:sp>
        <p:nvSpPr>
          <p:cNvPr id="17" name="Shape 441"/>
          <p:cNvSpPr/>
          <p:nvPr/>
        </p:nvSpPr>
        <p:spPr>
          <a:xfrm>
            <a:off x="548640" y="4297680"/>
            <a:ext cx="11091672" cy="1965960"/>
          </a:xfrm>
          <a:prstGeom prst="roundRect">
            <a:avLst>
              <a:gd name="adj" fmla="val 3721"/>
            </a:avLst>
          </a:prstGeom>
          <a:solidFill>
            <a:schemeClr val="bg2"/>
          </a:solidFill>
          <a:ln/>
        </p:spPr>
      </p:sp>
      <p:sp>
        <p:nvSpPr>
          <p:cNvPr id="18" name="Text 442"/>
          <p:cNvSpPr txBox="1"/>
          <p:nvPr/>
        </p:nvSpPr>
        <p:spPr>
          <a:xfrm>
            <a:off x="822960" y="4480560"/>
            <a:ext cx="6062472"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Tự chọn gói trưng bày của từng Brand (Gói Vàng/Bạc/Đồng; mặt tiền, ụ đầu kệ...), xem ảnh mẫu và mức thưởng → “Đăng ký tham gia”.</a:t>
            </a:r>
            <a:endParaRPr lang="en-US" sz="1400" dirty="0"/>
          </a:p>
          <a:p>
            <a:pPr marL="177800" indent="-177800">
              <a:spcAft>
                <a:spcPts val="600"/>
              </a:spcAft>
              <a:buSzPct val="100000"/>
              <a:buChar char="•"/>
            </a:pPr>
            <a:r>
              <a:rPr lang="en-US" sz="1400" dirty="0">
                <a:solidFill>
                  <a:schemeClr val="tx1"/>
                </a:solidFill>
              </a:rPr>
              <a:t>Chụp bằng khung căn góc chuẩn (Overlay Planogram Guide); AI Image Recognition chấm Facings, Share of Shelf, thứ tự SKU.</a:t>
            </a:r>
            <a:endParaRPr lang="en-US" sz="1400" dirty="0"/>
          </a:p>
          <a:p>
            <a:pPr marL="177800" indent="-177800">
              <a:spcAft>
                <a:spcPts val="600"/>
              </a:spcAft>
              <a:buSzPct val="100000"/>
              <a:buChar char="•"/>
            </a:pPr>
            <a:r>
              <a:rPr lang="en-US" sz="1400" dirty="0">
                <a:solidFill>
                  <a:schemeClr val="tx1"/>
                </a:solidFill>
              </a:rPr>
              <a:t>Chống gian lận: khóa tải ảnh từ thư viện, bắt buộc GPS tiệm, Watermark ngày giờ.</a:t>
            </a:r>
            <a:endParaRPr lang="en-US" sz="1400" dirty="0"/>
          </a:p>
        </p:txBody>
      </p:sp>
      <p:sp>
        <p:nvSpPr>
          <p:cNvPr id="19" name="Shape 443"/>
          <p:cNvSpPr/>
          <p:nvPr/>
        </p:nvSpPr>
        <p:spPr>
          <a:xfrm>
            <a:off x="7479792" y="4480560"/>
            <a:ext cx="3931920" cy="1600200"/>
          </a:xfrm>
          <a:prstGeom prst="roundRect">
            <a:avLst>
              <a:gd name="adj" fmla="val 4571"/>
            </a:avLst>
          </a:prstGeom>
          <a:solidFill>
            <a:schemeClr val="bg1"/>
          </a:solidFill>
          <a:ln/>
        </p:spPr>
      </p:sp>
      <p:sp>
        <p:nvSpPr>
          <p:cNvPr id="20" name="Text 444"/>
          <p:cNvSpPr txBox="1"/>
          <p:nvPr/>
        </p:nvSpPr>
        <p:spPr>
          <a:xfrm>
            <a:off x="7662672" y="4590288"/>
            <a:ext cx="3566160" cy="201168"/>
          </a:xfrm>
          <a:prstGeom prst="rect">
            <a:avLst/>
          </a:prstGeom>
          <a:noFill/>
          <a:ln/>
        </p:spPr>
        <p:txBody>
          <a:bodyPr wrap="square" lIns="0" tIns="0" rIns="0" bIns="0" rtlCol="0" anchor="t"/>
          <a:lstStyle/>
          <a:p>
            <a:pPr indent="0" marL="0">
              <a:buNone/>
            </a:pPr>
            <a:r>
              <a:rPr lang="en-US" sz="1200" b="1" dirty="0">
                <a:solidFill>
                  <a:schemeClr val="accent5"/>
                </a:solidFill>
              </a:rPr>
              <a:t>KẾT QUẢ</a:t>
            </a:r>
            <a:endParaRPr lang="en-US" sz="1200" dirty="0"/>
          </a:p>
        </p:txBody>
      </p:sp>
      <p:sp>
        <p:nvSpPr>
          <p:cNvPr id="21" name="Text 445"/>
          <p:cNvSpPr txBox="1"/>
          <p:nvPr/>
        </p:nvSpPr>
        <p:spPr>
          <a:xfrm>
            <a:off x="7662672" y="4828032"/>
            <a:ext cx="3566160" cy="1161288"/>
          </a:xfrm>
          <a:prstGeom prst="rect">
            <a:avLst/>
          </a:prstGeom>
          <a:noFill/>
          <a:ln/>
        </p:spPr>
        <p:txBody>
          <a:bodyPr wrap="square" lIns="0" tIns="0" rIns="0" bIns="0" rtlCol="0" anchor="t"/>
          <a:lstStyle/>
          <a:p>
            <a:pPr indent="0" marL="0">
              <a:buNone/>
            </a:pPr>
            <a:r>
              <a:rPr lang="en-US" sz="1400" dirty="0">
                <a:solidFill>
                  <a:schemeClr val="tx1"/>
                </a:solidFill>
              </a:rPr>
              <a:t>Đạt chuẩn → thưởng tự vào Ví Merchant trong 24h, không qua duyệt trung gian.</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5"/>
                </a:solidFill>
              </a:rPr>
              <a:t>TRỤ CỘT 5  ·  REDUCE SALES TASKS</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5"/>
                </a:solidFill>
              </a:rPr>
              <a:t>Trade Promotion Tracking</a:t>
            </a:r>
            <a:endParaRPr lang="en-US" sz="3200" dirty="0"/>
          </a:p>
        </p:txBody>
      </p:sp>
      <p:sp>
        <p:nvSpPr>
          <p:cNvPr id="4" name="Pill 446"/>
          <p:cNvSpPr/>
          <p:nvPr/>
        </p:nvSpPr>
        <p:spPr>
          <a:xfrm>
            <a:off x="548640" y="1481328"/>
            <a:ext cx="566928" cy="329184"/>
          </a:xfrm>
          <a:prstGeom prst="roundRect">
            <a:avLst>
              <a:gd name="adj" fmla="val 47222"/>
            </a:avLst>
          </a:prstGeom>
          <a:solidFill>
            <a:schemeClr val="accent5"/>
          </a:solidFill>
          <a:ln/>
        </p:spPr>
        <p:txBody>
          <a:bodyPr wrap="square" lIns="0" tIns="0" rIns="0" bIns="0" rtlCol="0" anchor="ctr"/>
          <a:lstStyle/>
          <a:p>
            <a:pPr algn="ctr" indent="0" marL="0">
              <a:buNone/>
            </a:pPr>
            <a:r>
              <a:rPr lang="en-US" sz="1400" b="1" dirty="0">
                <a:solidFill>
                  <a:schemeClr val="bg1"/>
                </a:solidFill>
              </a:rPr>
              <a:t>5.2</a:t>
            </a:r>
            <a:endParaRPr lang="en-US" sz="1400" dirty="0"/>
          </a:p>
        </p:txBody>
      </p:sp>
      <p:sp>
        <p:nvSpPr>
          <p:cNvPr id="5" name="Text 447"/>
          <p:cNvSpPr txBox="1"/>
          <p:nvPr/>
        </p:nvSpPr>
        <p:spPr>
          <a:xfrm>
            <a:off x="1252728" y="1417320"/>
            <a:ext cx="9144000" cy="457200"/>
          </a:xfrm>
          <a:prstGeom prst="rect">
            <a:avLst/>
          </a:prstGeom>
          <a:noFill/>
          <a:ln/>
        </p:spPr>
        <p:txBody>
          <a:bodyPr wrap="square" lIns="0" tIns="0" rIns="0" bIns="0" rtlCol="0" anchor="ctr"/>
          <a:lstStyle/>
          <a:p>
            <a:pPr indent="0" marL="0">
              <a:buNone/>
            </a:pPr>
            <a:r>
              <a:rPr lang="en-US" sz="2000" b="1" dirty="0">
                <a:solidFill>
                  <a:schemeClr val="tx1"/>
                </a:solidFill>
              </a:rPr>
              <a:t>Tự đăng ký &amp; theo dõi chương trình tích lũy</a:t>
            </a:r>
            <a:endParaRPr lang="en-US" sz="2000" dirty="0"/>
          </a:p>
        </p:txBody>
      </p:sp>
      <p:sp>
        <p:nvSpPr>
          <p:cNvPr id="6" name="Header 448"/>
          <p:cNvSpPr/>
          <p:nvPr/>
        </p:nvSpPr>
        <p:spPr>
          <a:xfrm>
            <a:off x="548640" y="2011680"/>
            <a:ext cx="5408676" cy="365760"/>
          </a:xfrm>
          <a:prstGeom prst="roundRect">
            <a:avLst>
              <a:gd name="adj" fmla="val 15000"/>
            </a:avLst>
          </a:prstGeom>
          <a:solidFill>
            <a:schemeClr val="accent4"/>
          </a:solidFill>
          <a:ln/>
        </p:spPr>
        <p:txBody>
          <a:bodyPr wrap="square" lIns="0" tIns="0" rIns="0" bIns="0" rtlCol="0" anchor="ctr"/>
          <a:lstStyle/>
          <a:p>
            <a:pPr algn="ctr" indent="0" marL="0">
              <a:buNone/>
            </a:pPr>
            <a:r>
              <a:rPr lang="en-US" sz="1400" b="1" dirty="0">
                <a:solidFill>
                  <a:schemeClr val="bg1"/>
                </a:solidFill>
              </a:rPr>
              <a:t>BEFORE (Manual)</a:t>
            </a:r>
            <a:endParaRPr lang="en-US" sz="1400" dirty="0"/>
          </a:p>
        </p:txBody>
      </p:sp>
      <p:sp>
        <p:nvSpPr>
          <p:cNvPr id="7" name="Header 449"/>
          <p:cNvSpPr/>
          <p:nvPr/>
        </p:nvSpPr>
        <p:spPr>
          <a:xfrm>
            <a:off x="6231636" y="2011680"/>
            <a:ext cx="5408676" cy="365760"/>
          </a:xfrm>
          <a:prstGeom prst="roundRect">
            <a:avLst>
              <a:gd name="adj" fmla="val 15000"/>
            </a:avLst>
          </a:prstGeom>
          <a:solidFill>
            <a:schemeClr val="accent5"/>
          </a:solidFill>
          <a:ln/>
        </p:spPr>
        <p:txBody>
          <a:bodyPr wrap="square" lIns="0" tIns="0" rIns="0" bIns="0" rtlCol="0" anchor="ctr"/>
          <a:lstStyle/>
          <a:p>
            <a:pPr algn="ctr" indent="0" marL="0">
              <a:buNone/>
            </a:pPr>
            <a:r>
              <a:rPr lang="en-US" sz="1400" b="1" dirty="0">
                <a:solidFill>
                  <a:schemeClr val="bg1"/>
                </a:solidFill>
              </a:rPr>
              <a:t>AFTER (Self-service)</a:t>
            </a:r>
            <a:endParaRPr lang="en-US" sz="1400" dirty="0"/>
          </a:p>
        </p:txBody>
      </p:sp>
      <p:sp>
        <p:nvSpPr>
          <p:cNvPr id="8" name="Shape 450"/>
          <p:cNvSpPr/>
          <p:nvPr/>
        </p:nvSpPr>
        <p:spPr>
          <a:xfrm>
            <a:off x="548640" y="2468880"/>
            <a:ext cx="5408676" cy="1463040"/>
          </a:xfrm>
          <a:prstGeom prst="roundRect">
            <a:avLst>
              <a:gd name="adj" fmla="val 5000"/>
            </a:avLst>
          </a:prstGeom>
          <a:solidFill>
            <a:schemeClr val="bg2"/>
          </a:solidFill>
          <a:ln/>
        </p:spPr>
      </p:sp>
      <p:sp>
        <p:nvSpPr>
          <p:cNvPr id="9" name="Shape 451"/>
          <p:cNvSpPr/>
          <p:nvPr/>
        </p:nvSpPr>
        <p:spPr>
          <a:xfrm>
            <a:off x="777240" y="2697480"/>
            <a:ext cx="640080" cy="640080"/>
          </a:xfrm>
          <a:prstGeom prst="ellipse">
            <a:avLst/>
          </a:prstGeom>
          <a:solidFill>
            <a:schemeClr val="accent4"/>
          </a:solidFill>
          <a:ln/>
        </p:spPr>
      </p:sp>
      <p:pic>
        <p:nvPicPr>
          <p:cNvPr id="10" name="Icon 452" descr="ClipboardList">    </p:cNvPr>
          <p:cNvPicPr>
            <a:picLocks noChangeAspect="1"/>
          </p:cNvPicPr>
          <p:nvPr/>
        </p:nvPicPr>
        <p:blipFill>
          <a:blip r:embed="rId1"/>
          <a:stretch>
            <a:fillRect/>
          </a:stretch>
        </p:blipFill>
        <p:spPr>
          <a:xfrm>
            <a:off x="937260" y="2857500"/>
            <a:ext cx="320040" cy="320040"/>
          </a:xfrm>
          <a:prstGeom prst="rect">
            <a:avLst/>
          </a:prstGeom>
        </p:spPr>
      </p:pic>
      <p:sp>
        <p:nvSpPr>
          <p:cNvPr id="11" name="Text 453"/>
          <p:cNvSpPr txBox="1"/>
          <p:nvPr/>
        </p:nvSpPr>
        <p:spPr>
          <a:xfrm>
            <a:off x="1600200" y="2606040"/>
            <a:ext cx="4128516" cy="1188720"/>
          </a:xfrm>
          <a:prstGeom prst="rect">
            <a:avLst/>
          </a:prstGeom>
          <a:noFill/>
          <a:ln/>
        </p:spPr>
        <p:txBody>
          <a:bodyPr wrap="square" lIns="0" tIns="0" rIns="0" bIns="0" rtlCol="0" anchor="ctr"/>
          <a:lstStyle/>
          <a:p>
            <a:pPr indent="0" marL="0">
              <a:buNone/>
            </a:pPr>
            <a:r>
              <a:rPr lang="en-US" sz="1400" dirty="0">
                <a:solidFill>
                  <a:schemeClr val="tx1"/>
                </a:solidFill>
              </a:rPr>
              <a:t>Sales in thể lệ, mở sổ tay nhắc miệng “tháng này mới tích 40 thùng, còn thiếu 60 thùng”, rồi mang biên bản xin chữ ký khi trả thưởng.</a:t>
            </a:r>
            <a:endParaRPr lang="en-US" sz="1400" dirty="0"/>
          </a:p>
        </p:txBody>
      </p:sp>
      <p:sp>
        <p:nvSpPr>
          <p:cNvPr id="12" name="Shape 454"/>
          <p:cNvSpPr/>
          <p:nvPr/>
        </p:nvSpPr>
        <p:spPr>
          <a:xfrm>
            <a:off x="6231636" y="2468880"/>
            <a:ext cx="5408676" cy="1463040"/>
          </a:xfrm>
          <a:prstGeom prst="roundRect">
            <a:avLst>
              <a:gd name="adj" fmla="val 5000"/>
            </a:avLst>
          </a:prstGeom>
          <a:solidFill>
            <a:schemeClr val="bg1"/>
          </a:solidFill>
          <a:ln w="19050">
            <a:solidFill>
              <a:schemeClr val="accent5"/>
            </a:solidFill>
            <a:prstDash val="solid"/>
          </a:ln>
        </p:spPr>
      </p:sp>
      <p:sp>
        <p:nvSpPr>
          <p:cNvPr id="13" name="Shape 455"/>
          <p:cNvSpPr/>
          <p:nvPr/>
        </p:nvSpPr>
        <p:spPr>
          <a:xfrm>
            <a:off x="6460236" y="2697480"/>
            <a:ext cx="640080" cy="640080"/>
          </a:xfrm>
          <a:prstGeom prst="ellipse">
            <a:avLst/>
          </a:prstGeom>
          <a:solidFill>
            <a:schemeClr val="accent5"/>
          </a:solidFill>
          <a:ln/>
        </p:spPr>
      </p:sp>
      <p:pic>
        <p:nvPicPr>
          <p:cNvPr id="14" name="Icon 456" descr="Trophy">    </p:cNvPr>
          <p:cNvPicPr>
            <a:picLocks noChangeAspect="1"/>
          </p:cNvPicPr>
          <p:nvPr/>
        </p:nvPicPr>
        <p:blipFill>
          <a:blip r:embed="rId2"/>
          <a:stretch>
            <a:fillRect/>
          </a:stretch>
        </p:blipFill>
        <p:spPr>
          <a:xfrm>
            <a:off x="6620256" y="2857500"/>
            <a:ext cx="320040" cy="320040"/>
          </a:xfrm>
          <a:prstGeom prst="rect">
            <a:avLst/>
          </a:prstGeom>
        </p:spPr>
      </p:pic>
      <p:sp>
        <p:nvSpPr>
          <p:cNvPr id="15" name="Text 457"/>
          <p:cNvSpPr txBox="1"/>
          <p:nvPr/>
        </p:nvSpPr>
        <p:spPr>
          <a:xfrm>
            <a:off x="7283196" y="2578608"/>
            <a:ext cx="4128516" cy="777240"/>
          </a:xfrm>
          <a:prstGeom prst="rect">
            <a:avLst/>
          </a:prstGeom>
          <a:noFill/>
          <a:ln/>
        </p:spPr>
        <p:txBody>
          <a:bodyPr wrap="square" lIns="0" tIns="0" rIns="0" bIns="0" rtlCol="0" anchor="t"/>
          <a:lstStyle/>
          <a:p>
            <a:pPr indent="0" marL="0">
              <a:buNone/>
            </a:pPr>
            <a:r>
              <a:rPr lang="en-US" sz="1400" dirty="0">
                <a:solidFill>
                  <a:schemeClr val="tx1"/>
                </a:solidFill>
              </a:rPr>
              <a:t>Merchant tự tham gia, theo dõi tiến độ trên Progress Tracker và nhận thưởng tự động khi cán mốc.</a:t>
            </a:r>
            <a:endParaRPr lang="en-US" sz="1400" dirty="0"/>
          </a:p>
        </p:txBody>
      </p:sp>
      <p:sp>
        <p:nvSpPr>
          <p:cNvPr id="16" name="Shape 458"/>
          <p:cNvSpPr/>
          <p:nvPr/>
        </p:nvSpPr>
        <p:spPr>
          <a:xfrm>
            <a:off x="7283196" y="3429000"/>
            <a:ext cx="4128516" cy="164592"/>
          </a:xfrm>
          <a:prstGeom prst="roundRect">
            <a:avLst>
              <a:gd name="adj" fmla="val 50000"/>
            </a:avLst>
          </a:prstGeom>
          <a:solidFill>
            <a:schemeClr val="bg2"/>
          </a:solidFill>
          <a:ln w="9525">
            <a:solidFill>
              <a:schemeClr val="accent4"/>
            </a:solidFill>
            <a:prstDash val="solid"/>
          </a:ln>
        </p:spPr>
      </p:sp>
      <p:sp>
        <p:nvSpPr>
          <p:cNvPr id="17" name="Shape 459"/>
          <p:cNvSpPr/>
          <p:nvPr/>
        </p:nvSpPr>
        <p:spPr>
          <a:xfrm>
            <a:off x="7283196" y="3429000"/>
            <a:ext cx="3509239" cy="164592"/>
          </a:xfrm>
          <a:prstGeom prst="roundRect">
            <a:avLst>
              <a:gd name="adj" fmla="val 50000"/>
            </a:avLst>
          </a:prstGeom>
          <a:solidFill>
            <a:schemeClr val="accent2"/>
          </a:solidFill>
          <a:ln/>
        </p:spPr>
      </p:sp>
      <p:sp>
        <p:nvSpPr>
          <p:cNvPr id="18" name="Text 460"/>
          <p:cNvSpPr txBox="1"/>
          <p:nvPr/>
        </p:nvSpPr>
        <p:spPr>
          <a:xfrm>
            <a:off x="7283196" y="3639312"/>
            <a:ext cx="4128516" cy="201168"/>
          </a:xfrm>
          <a:prstGeom prst="rect">
            <a:avLst/>
          </a:prstGeom>
          <a:noFill/>
          <a:ln/>
        </p:spPr>
        <p:txBody>
          <a:bodyPr wrap="square" lIns="0" tIns="0" rIns="0" bIns="0" rtlCol="0" anchor="t"/>
          <a:lstStyle/>
          <a:p>
            <a:pPr indent="0" marL="0">
              <a:buNone/>
            </a:pPr>
            <a:r>
              <a:rPr lang="en-US" sz="1200" dirty="0">
                <a:solidFill>
                  <a:schemeClr val="accent4"/>
                </a:solidFill>
              </a:rPr>
              <a:t>Còn thiếu 15 thùng · hạn chót còn 5 ngày</a:t>
            </a:r>
            <a:endParaRPr lang="en-US" sz="1200" dirty="0"/>
          </a:p>
        </p:txBody>
      </p:sp>
      <p:sp>
        <p:nvSpPr>
          <p:cNvPr id="19" name="Shape 461"/>
          <p:cNvSpPr/>
          <p:nvPr/>
        </p:nvSpPr>
        <p:spPr>
          <a:xfrm>
            <a:off x="548640" y="4114800"/>
            <a:ext cx="11091672" cy="2148840"/>
          </a:xfrm>
          <a:prstGeom prst="roundRect">
            <a:avLst>
              <a:gd name="adj" fmla="val 3404"/>
            </a:avLst>
          </a:prstGeom>
          <a:solidFill>
            <a:schemeClr val="bg2"/>
          </a:solidFill>
          <a:ln/>
        </p:spPr>
      </p:sp>
      <p:sp>
        <p:nvSpPr>
          <p:cNvPr id="20" name="Text 462"/>
          <p:cNvSpPr txBox="1"/>
          <p:nvPr/>
        </p:nvSpPr>
        <p:spPr>
          <a:xfrm>
            <a:off x="822960" y="4297680"/>
            <a:ext cx="6062472"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Self-Enrollment Hub: chương trình tích lũy của các Brand (mục tiêu sản lượng, thời gian, cơ cấu thưởng) → “Tham gia ngay”.</a:t>
            </a:r>
            <a:endParaRPr lang="en-US" sz="1400" dirty="0"/>
          </a:p>
          <a:p>
            <a:pPr marL="177800" indent="-177800">
              <a:spcAft>
                <a:spcPts val="600"/>
              </a:spcAft>
              <a:buSzPct val="100000"/>
              <a:buChar char="•"/>
            </a:pPr>
            <a:r>
              <a:rPr lang="en-US" sz="1400" dirty="0">
                <a:solidFill>
                  <a:schemeClr val="tx1"/>
                </a:solidFill>
              </a:rPr>
              <a:t>Real-time Progress Tracker: đã mua / chỉ tiêu cam kết / số ngày còn lại, tự tính phần còn thiếu.</a:t>
            </a:r>
            <a:endParaRPr lang="en-US" sz="1400" dirty="0"/>
          </a:p>
          <a:p>
            <a:pPr marL="177800" indent="-177800">
              <a:spcAft>
                <a:spcPts val="600"/>
              </a:spcAft>
              <a:buSzPct val="100000"/>
              <a:buChar char="•"/>
            </a:pPr>
            <a:r>
              <a:rPr lang="en-US" sz="1400" dirty="0">
                <a:solidFill>
                  <a:schemeClr val="tx1"/>
                </a:solidFill>
              </a:rPr>
              <a:t>Tự trả thưởng khi cán mốc: voucher chiết khấu, tiền về ví/ngân hàng, hoặc hàng khuyến mãi kèm đơn sỉ kế tiếp.</a:t>
            </a:r>
            <a:endParaRPr lang="en-US" sz="1400" dirty="0"/>
          </a:p>
        </p:txBody>
      </p:sp>
      <p:sp>
        <p:nvSpPr>
          <p:cNvPr id="21" name="Shape 463"/>
          <p:cNvSpPr/>
          <p:nvPr/>
        </p:nvSpPr>
        <p:spPr>
          <a:xfrm>
            <a:off x="7479792" y="4297680"/>
            <a:ext cx="3931920" cy="1783080"/>
          </a:xfrm>
          <a:prstGeom prst="roundRect">
            <a:avLst>
              <a:gd name="adj" fmla="val 4103"/>
            </a:avLst>
          </a:prstGeom>
          <a:solidFill>
            <a:schemeClr val="bg1"/>
          </a:solidFill>
          <a:ln/>
        </p:spPr>
      </p:sp>
      <p:sp>
        <p:nvSpPr>
          <p:cNvPr id="22" name="Text 464"/>
          <p:cNvSpPr txBox="1"/>
          <p:nvPr/>
        </p:nvSpPr>
        <p:spPr>
          <a:xfrm>
            <a:off x="7662672" y="4407408"/>
            <a:ext cx="3566160" cy="201168"/>
          </a:xfrm>
          <a:prstGeom prst="rect">
            <a:avLst/>
          </a:prstGeom>
          <a:noFill/>
          <a:ln/>
        </p:spPr>
        <p:txBody>
          <a:bodyPr wrap="square" lIns="0" tIns="0" rIns="0" bIns="0" rtlCol="0" anchor="t"/>
          <a:lstStyle/>
          <a:p>
            <a:pPr indent="0" marL="0">
              <a:buNone/>
            </a:pPr>
            <a:r>
              <a:rPr lang="en-US" sz="1200" b="1" dirty="0">
                <a:solidFill>
                  <a:schemeClr val="accent5"/>
                </a:solidFill>
              </a:rPr>
              <a:t>VÍ DỤ</a:t>
            </a:r>
            <a:endParaRPr lang="en-US" sz="1200" dirty="0"/>
          </a:p>
        </p:txBody>
      </p:sp>
      <p:sp>
        <p:nvSpPr>
          <p:cNvPr id="23" name="Text 465"/>
          <p:cNvSpPr txBox="1"/>
          <p:nvPr/>
        </p:nvSpPr>
        <p:spPr>
          <a:xfrm>
            <a:off x="7662672" y="4645152"/>
            <a:ext cx="3566160" cy="1344168"/>
          </a:xfrm>
          <a:prstGeom prst="rect">
            <a:avLst/>
          </a:prstGeom>
          <a:noFill/>
          <a:ln/>
        </p:spPr>
        <p:txBody>
          <a:bodyPr wrap="square" lIns="0" tIns="0" rIns="0" bIns="0" rtlCol="0" anchor="t"/>
          <a:lstStyle/>
          <a:p>
            <a:pPr indent="0" marL="0">
              <a:buNone/>
            </a:pPr>
            <a:r>
              <a:rPr lang="en-US" sz="1400" dirty="0">
                <a:solidFill>
                  <a:schemeClr val="tx1"/>
                </a:solidFill>
              </a:rPr>
              <a:t>“Bạn chỉ còn thiếu 15 thùng để nhận mốc thưởng 1.000.000đ, hạn chót còn 5 ngày.” Thanh tiến trình nhảy số sau mỗi đơn kích thích Merchant tự lên đơn.</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5"/>
                </a:solidFill>
              </a:rPr>
              <a:t>TRỤ CỘT 5  ·  REDUCE SALES TASKS</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accent5"/>
                </a:solidFill>
              </a:rPr>
              <a:t>POSM Request &amp; Self-service RMA</a:t>
            </a:r>
            <a:endParaRPr lang="en-US" sz="3200" dirty="0"/>
          </a:p>
        </p:txBody>
      </p:sp>
      <p:sp>
        <p:nvSpPr>
          <p:cNvPr id="4" name="Shape 466"/>
          <p:cNvSpPr/>
          <p:nvPr/>
        </p:nvSpPr>
        <p:spPr>
          <a:xfrm>
            <a:off x="548640" y="1554480"/>
            <a:ext cx="5408676" cy="4709160"/>
          </a:xfrm>
          <a:prstGeom prst="roundRect">
            <a:avLst>
              <a:gd name="adj" fmla="val 1553"/>
            </a:avLst>
          </a:prstGeom>
          <a:solidFill>
            <a:schemeClr val="bg2"/>
          </a:solidFill>
          <a:ln/>
        </p:spPr>
      </p:sp>
      <p:sp>
        <p:nvSpPr>
          <p:cNvPr id="5" name="Pill 467"/>
          <p:cNvSpPr/>
          <p:nvPr/>
        </p:nvSpPr>
        <p:spPr>
          <a:xfrm>
            <a:off x="777240" y="1828800"/>
            <a:ext cx="566928" cy="329184"/>
          </a:xfrm>
          <a:prstGeom prst="roundRect">
            <a:avLst>
              <a:gd name="adj" fmla="val 47222"/>
            </a:avLst>
          </a:prstGeom>
          <a:solidFill>
            <a:schemeClr val="accent5"/>
          </a:solidFill>
          <a:ln/>
        </p:spPr>
        <p:txBody>
          <a:bodyPr wrap="square" lIns="0" tIns="0" rIns="0" bIns="0" rtlCol="0" anchor="ctr"/>
          <a:lstStyle/>
          <a:p>
            <a:pPr algn="ctr" indent="0" marL="0">
              <a:buNone/>
            </a:pPr>
            <a:r>
              <a:rPr lang="en-US" sz="1400" b="1" dirty="0">
                <a:solidFill>
                  <a:schemeClr val="bg1"/>
                </a:solidFill>
              </a:rPr>
              <a:t>5.3</a:t>
            </a:r>
            <a:endParaRPr lang="en-US" sz="1400" dirty="0"/>
          </a:p>
        </p:txBody>
      </p:sp>
      <p:sp>
        <p:nvSpPr>
          <p:cNvPr id="6" name="Text 468"/>
          <p:cNvSpPr txBox="1"/>
          <p:nvPr/>
        </p:nvSpPr>
        <p:spPr>
          <a:xfrm>
            <a:off x="1481328"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Self-registration POSM &amp; Asset</a:t>
            </a:r>
            <a:endParaRPr lang="en-US" sz="1800" dirty="0"/>
          </a:p>
        </p:txBody>
      </p:sp>
      <p:sp>
        <p:nvSpPr>
          <p:cNvPr id="7" name="Shape 469"/>
          <p:cNvSpPr/>
          <p:nvPr/>
        </p:nvSpPr>
        <p:spPr>
          <a:xfrm>
            <a:off x="777240" y="2331720"/>
            <a:ext cx="4951476" cy="1280160"/>
          </a:xfrm>
          <a:prstGeom prst="roundRect">
            <a:avLst>
              <a:gd name="adj" fmla="val 5714"/>
            </a:avLst>
          </a:prstGeom>
          <a:solidFill>
            <a:schemeClr val="bg1"/>
          </a:solidFill>
          <a:ln/>
        </p:spPr>
      </p:sp>
      <p:sp>
        <p:nvSpPr>
          <p:cNvPr id="8" name="Shape 470"/>
          <p:cNvSpPr/>
          <p:nvPr/>
        </p:nvSpPr>
        <p:spPr>
          <a:xfrm>
            <a:off x="1333652" y="2474366"/>
            <a:ext cx="537667" cy="537667"/>
          </a:xfrm>
          <a:prstGeom prst="ellipse">
            <a:avLst/>
          </a:prstGeom>
          <a:solidFill>
            <a:schemeClr val="accent5"/>
          </a:solidFill>
          <a:ln/>
        </p:spPr>
      </p:sp>
      <p:pic>
        <p:nvPicPr>
          <p:cNvPr id="9" name="Icon 471" descr="ClipboardList">    </p:cNvPr>
          <p:cNvPicPr>
            <a:picLocks noChangeAspect="1"/>
          </p:cNvPicPr>
          <p:nvPr/>
        </p:nvPicPr>
        <p:blipFill>
          <a:blip r:embed="rId1"/>
          <a:stretch>
            <a:fillRect/>
          </a:stretch>
        </p:blipFill>
        <p:spPr>
          <a:xfrm>
            <a:off x="1468069" y="2608783"/>
            <a:ext cx="268834" cy="268834"/>
          </a:xfrm>
          <a:prstGeom prst="rect">
            <a:avLst/>
          </a:prstGeom>
        </p:spPr>
      </p:pic>
      <p:sp>
        <p:nvSpPr>
          <p:cNvPr id="10" name="Text 472"/>
          <p:cNvSpPr txBox="1"/>
          <p:nvPr/>
        </p:nvSpPr>
        <p:spPr>
          <a:xfrm>
            <a:off x="85039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Đăng ký thiết bị</a:t>
            </a:r>
            <a:endParaRPr lang="en-US" sz="1200" dirty="0"/>
          </a:p>
        </p:txBody>
      </p:sp>
      <p:pic>
        <p:nvPicPr>
          <p:cNvPr id="11" name="Icon 473" descr="ChevronRight">    </p:cNvPr>
          <p:cNvPicPr>
            <a:picLocks noChangeAspect="1"/>
          </p:cNvPicPr>
          <p:nvPr/>
        </p:nvPicPr>
        <p:blipFill>
          <a:blip r:embed="rId2"/>
          <a:stretch>
            <a:fillRect/>
          </a:stretch>
        </p:blipFill>
        <p:spPr>
          <a:xfrm>
            <a:off x="2318004" y="2633472"/>
            <a:ext cx="219456" cy="219456"/>
          </a:xfrm>
          <a:prstGeom prst="rect">
            <a:avLst/>
          </a:prstGeom>
        </p:spPr>
      </p:pic>
      <p:sp>
        <p:nvSpPr>
          <p:cNvPr id="12" name="Shape 474"/>
          <p:cNvSpPr/>
          <p:nvPr/>
        </p:nvSpPr>
        <p:spPr>
          <a:xfrm>
            <a:off x="2984144" y="2474366"/>
            <a:ext cx="537667" cy="537667"/>
          </a:xfrm>
          <a:prstGeom prst="ellipse">
            <a:avLst/>
          </a:prstGeom>
          <a:solidFill>
            <a:schemeClr val="accent5"/>
          </a:solidFill>
          <a:ln/>
        </p:spPr>
      </p:sp>
      <p:pic>
        <p:nvPicPr>
          <p:cNvPr id="13" name="Icon 475" descr="Key">    </p:cNvPr>
          <p:cNvPicPr>
            <a:picLocks noChangeAspect="1"/>
          </p:cNvPicPr>
          <p:nvPr/>
        </p:nvPicPr>
        <p:blipFill>
          <a:blip r:embed="rId3"/>
          <a:stretch>
            <a:fillRect/>
          </a:stretch>
        </p:blipFill>
        <p:spPr>
          <a:xfrm>
            <a:off x="3118561" y="2608783"/>
            <a:ext cx="268834" cy="268834"/>
          </a:xfrm>
          <a:prstGeom prst="rect">
            <a:avLst/>
          </a:prstGeom>
        </p:spPr>
      </p:pic>
      <p:sp>
        <p:nvSpPr>
          <p:cNvPr id="14" name="Text 476"/>
          <p:cNvSpPr txBox="1"/>
          <p:nvPr/>
        </p:nvSpPr>
        <p:spPr>
          <a:xfrm>
            <a:off x="2500884"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Bàn giao OTP / ký số</a:t>
            </a:r>
            <a:endParaRPr lang="en-US" sz="1200" dirty="0"/>
          </a:p>
        </p:txBody>
      </p:sp>
      <p:pic>
        <p:nvPicPr>
          <p:cNvPr id="15" name="Icon 477" descr="ChevronRight">    </p:cNvPr>
          <p:cNvPicPr>
            <a:picLocks noChangeAspect="1"/>
          </p:cNvPicPr>
          <p:nvPr/>
        </p:nvPicPr>
        <p:blipFill>
          <a:blip r:embed="rId4"/>
          <a:stretch>
            <a:fillRect/>
          </a:stretch>
        </p:blipFill>
        <p:spPr>
          <a:xfrm>
            <a:off x="3968496" y="2633472"/>
            <a:ext cx="219456" cy="219456"/>
          </a:xfrm>
          <a:prstGeom prst="rect">
            <a:avLst/>
          </a:prstGeom>
        </p:spPr>
      </p:pic>
      <p:sp>
        <p:nvSpPr>
          <p:cNvPr id="16" name="Shape 478"/>
          <p:cNvSpPr/>
          <p:nvPr/>
        </p:nvSpPr>
        <p:spPr>
          <a:xfrm>
            <a:off x="4634636" y="2474366"/>
            <a:ext cx="537667" cy="537667"/>
          </a:xfrm>
          <a:prstGeom prst="ellipse">
            <a:avLst/>
          </a:prstGeom>
          <a:solidFill>
            <a:schemeClr val="accent5"/>
          </a:solidFill>
          <a:ln/>
        </p:spPr>
      </p:sp>
      <p:pic>
        <p:nvPicPr>
          <p:cNvPr id="17" name="Icon 479" descr="Snowflake">    </p:cNvPr>
          <p:cNvPicPr>
            <a:picLocks noChangeAspect="1"/>
          </p:cNvPicPr>
          <p:nvPr/>
        </p:nvPicPr>
        <p:blipFill>
          <a:blip r:embed="rId5"/>
          <a:stretch>
            <a:fillRect/>
          </a:stretch>
        </p:blipFill>
        <p:spPr>
          <a:xfrm>
            <a:off x="4769053" y="2608783"/>
            <a:ext cx="268834" cy="268834"/>
          </a:xfrm>
          <a:prstGeom prst="rect">
            <a:avLst/>
          </a:prstGeom>
        </p:spPr>
      </p:pic>
      <p:sp>
        <p:nvSpPr>
          <p:cNvPr id="18" name="Text 480"/>
          <p:cNvSpPr txBox="1"/>
          <p:nvPr/>
        </p:nvSpPr>
        <p:spPr>
          <a:xfrm>
            <a:off x="4151376"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Tủ mát &amp; POSM</a:t>
            </a:r>
            <a:endParaRPr lang="en-US" sz="1200" dirty="0"/>
          </a:p>
        </p:txBody>
      </p:sp>
      <p:sp>
        <p:nvSpPr>
          <p:cNvPr id="19" name="Text 481"/>
          <p:cNvSpPr txBox="1"/>
          <p:nvPr/>
        </p:nvSpPr>
        <p:spPr>
          <a:xfrm>
            <a:off x="777240"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Xem chương trình tài trợ (tủ mát Coca-Cola/Thọ Phát, kệ gia vị Masan, ô dù), đọc điều kiện cam kết, bấm đăng ký, chụp ảnh mặt bằng.</a:t>
            </a:r>
            <a:endParaRPr lang="en-US" sz="1400" dirty="0"/>
          </a:p>
          <a:p>
            <a:pPr marL="177800" indent="-177800">
              <a:spcAft>
                <a:spcPts val="600"/>
              </a:spcAft>
              <a:buSzPct val="100000"/>
              <a:buChar char="•"/>
            </a:pPr>
            <a:r>
              <a:rPr lang="en-US" sz="1400" dirty="0">
                <a:solidFill>
                  <a:schemeClr val="tx1"/>
                </a:solidFill>
              </a:rPr>
              <a:t>Hậu cần điều đội kỹ thuật lắp đặt; Merchant xác nhận bàn giao bằng OTP/ký điện tử.</a:t>
            </a:r>
            <a:endParaRPr lang="en-US" sz="1400" dirty="0"/>
          </a:p>
        </p:txBody>
      </p:sp>
      <p:sp>
        <p:nvSpPr>
          <p:cNvPr id="20" name="Shape 482"/>
          <p:cNvSpPr/>
          <p:nvPr/>
        </p:nvSpPr>
        <p:spPr>
          <a:xfrm>
            <a:off x="777240" y="5060188"/>
            <a:ext cx="4951476" cy="974852"/>
          </a:xfrm>
          <a:prstGeom prst="roundRect">
            <a:avLst>
              <a:gd name="adj" fmla="val 7504"/>
            </a:avLst>
          </a:prstGeom>
          <a:solidFill>
            <a:schemeClr val="bg1"/>
          </a:solidFill>
          <a:ln/>
        </p:spPr>
      </p:sp>
      <p:sp>
        <p:nvSpPr>
          <p:cNvPr id="21" name="Text 483"/>
          <p:cNvSpPr txBox="1"/>
          <p:nvPr/>
        </p:nvSpPr>
        <p:spPr>
          <a:xfrm>
            <a:off x="960120" y="5169916"/>
            <a:ext cx="4585716" cy="201168"/>
          </a:xfrm>
          <a:prstGeom prst="rect">
            <a:avLst/>
          </a:prstGeom>
          <a:noFill/>
          <a:ln/>
        </p:spPr>
        <p:txBody>
          <a:bodyPr wrap="square" lIns="0" tIns="0" rIns="0" bIns="0" rtlCol="0" anchor="t"/>
          <a:lstStyle/>
          <a:p>
            <a:pPr indent="0" marL="0">
              <a:buNone/>
            </a:pPr>
            <a:r>
              <a:rPr lang="en-US" sz="1200" b="1" dirty="0">
                <a:solidFill>
                  <a:schemeClr val="accent5"/>
                </a:solidFill>
              </a:rPr>
              <a:t>KẾT QUẢ</a:t>
            </a:r>
            <a:endParaRPr lang="en-US" sz="1200" dirty="0"/>
          </a:p>
        </p:txBody>
      </p:sp>
      <p:sp>
        <p:nvSpPr>
          <p:cNvPr id="22" name="Text 484"/>
          <p:cNvSpPr txBox="1"/>
          <p:nvPr/>
        </p:nvSpPr>
        <p:spPr>
          <a:xfrm>
            <a:off x="960120"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Từ vài tuần xuống vài ngày; không còn Sales ngâm hồ sơ hay ưu ái tiệm quen.</a:t>
            </a:r>
            <a:endParaRPr lang="en-US" sz="1400" dirty="0"/>
          </a:p>
        </p:txBody>
      </p:sp>
      <p:sp>
        <p:nvSpPr>
          <p:cNvPr id="23" name="Shape 485"/>
          <p:cNvSpPr/>
          <p:nvPr/>
        </p:nvSpPr>
        <p:spPr>
          <a:xfrm>
            <a:off x="6231636" y="1554480"/>
            <a:ext cx="5408676" cy="4709160"/>
          </a:xfrm>
          <a:prstGeom prst="roundRect">
            <a:avLst>
              <a:gd name="adj" fmla="val 1553"/>
            </a:avLst>
          </a:prstGeom>
          <a:solidFill>
            <a:schemeClr val="bg2"/>
          </a:solidFill>
          <a:ln/>
        </p:spPr>
      </p:sp>
      <p:sp>
        <p:nvSpPr>
          <p:cNvPr id="24" name="Pill 486"/>
          <p:cNvSpPr/>
          <p:nvPr/>
        </p:nvSpPr>
        <p:spPr>
          <a:xfrm>
            <a:off x="6460236" y="1828800"/>
            <a:ext cx="566928" cy="329184"/>
          </a:xfrm>
          <a:prstGeom prst="roundRect">
            <a:avLst>
              <a:gd name="adj" fmla="val 47222"/>
            </a:avLst>
          </a:prstGeom>
          <a:solidFill>
            <a:schemeClr val="accent5"/>
          </a:solidFill>
          <a:ln/>
        </p:spPr>
        <p:txBody>
          <a:bodyPr wrap="square" lIns="0" tIns="0" rIns="0" bIns="0" rtlCol="0" anchor="ctr"/>
          <a:lstStyle/>
          <a:p>
            <a:pPr algn="ctr" indent="0" marL="0">
              <a:buNone/>
            </a:pPr>
            <a:r>
              <a:rPr lang="en-US" sz="1400" b="1" dirty="0">
                <a:solidFill>
                  <a:schemeClr val="bg1"/>
                </a:solidFill>
              </a:rPr>
              <a:t>5.4</a:t>
            </a:r>
            <a:endParaRPr lang="en-US" sz="1400" dirty="0"/>
          </a:p>
        </p:txBody>
      </p:sp>
      <p:sp>
        <p:nvSpPr>
          <p:cNvPr id="25" name="Text 487"/>
          <p:cNvSpPr txBox="1"/>
          <p:nvPr/>
        </p:nvSpPr>
        <p:spPr>
          <a:xfrm>
            <a:off x="7164324" y="1737360"/>
            <a:ext cx="4247388" cy="548640"/>
          </a:xfrm>
          <a:prstGeom prst="rect">
            <a:avLst/>
          </a:prstGeom>
          <a:noFill/>
          <a:ln/>
        </p:spPr>
        <p:txBody>
          <a:bodyPr wrap="square" lIns="0" tIns="0" rIns="0" bIns="0" rtlCol="0" anchor="ctr"/>
          <a:lstStyle/>
          <a:p>
            <a:pPr indent="0" marL="0">
              <a:buNone/>
            </a:pPr>
            <a:r>
              <a:rPr lang="en-US" sz="1800" b="1" dirty="0">
                <a:solidFill>
                  <a:schemeClr val="tx1"/>
                </a:solidFill>
              </a:rPr>
              <a:t>Self-service RMA Ticket</a:t>
            </a:r>
            <a:endParaRPr lang="en-US" sz="1800" dirty="0"/>
          </a:p>
        </p:txBody>
      </p:sp>
      <p:sp>
        <p:nvSpPr>
          <p:cNvPr id="26" name="Shape 488"/>
          <p:cNvSpPr/>
          <p:nvPr/>
        </p:nvSpPr>
        <p:spPr>
          <a:xfrm>
            <a:off x="6460236" y="2331720"/>
            <a:ext cx="4951476" cy="1280160"/>
          </a:xfrm>
          <a:prstGeom prst="roundRect">
            <a:avLst>
              <a:gd name="adj" fmla="val 5714"/>
            </a:avLst>
          </a:prstGeom>
          <a:solidFill>
            <a:schemeClr val="bg1"/>
          </a:solidFill>
          <a:ln/>
        </p:spPr>
      </p:sp>
      <p:sp>
        <p:nvSpPr>
          <p:cNvPr id="27" name="Shape 489"/>
          <p:cNvSpPr/>
          <p:nvPr/>
        </p:nvSpPr>
        <p:spPr>
          <a:xfrm>
            <a:off x="7016648" y="2474366"/>
            <a:ext cx="537667" cy="537667"/>
          </a:xfrm>
          <a:prstGeom prst="ellipse">
            <a:avLst/>
          </a:prstGeom>
          <a:solidFill>
            <a:schemeClr val="accent5"/>
          </a:solidFill>
          <a:ln/>
        </p:spPr>
      </p:sp>
      <p:pic>
        <p:nvPicPr>
          <p:cNvPr id="28" name="Icon 490" descr="ExclamationTriangle">    </p:cNvPr>
          <p:cNvPicPr>
            <a:picLocks noChangeAspect="1"/>
          </p:cNvPicPr>
          <p:nvPr/>
        </p:nvPicPr>
        <p:blipFill>
          <a:blip r:embed="rId6"/>
          <a:stretch>
            <a:fillRect/>
          </a:stretch>
        </p:blipFill>
        <p:spPr>
          <a:xfrm>
            <a:off x="7151065" y="2608783"/>
            <a:ext cx="268834" cy="268834"/>
          </a:xfrm>
          <a:prstGeom prst="rect">
            <a:avLst/>
          </a:prstGeom>
        </p:spPr>
      </p:pic>
      <p:sp>
        <p:nvSpPr>
          <p:cNvPr id="29" name="Text 491"/>
          <p:cNvSpPr txBox="1"/>
          <p:nvPr/>
        </p:nvSpPr>
        <p:spPr>
          <a:xfrm>
            <a:off x="6533388"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Báo sự cố trên đơn</a:t>
            </a:r>
            <a:endParaRPr lang="en-US" sz="1200" dirty="0"/>
          </a:p>
        </p:txBody>
      </p:sp>
      <p:pic>
        <p:nvPicPr>
          <p:cNvPr id="30" name="Icon 492" descr="ChevronRight">    </p:cNvPr>
          <p:cNvPicPr>
            <a:picLocks noChangeAspect="1"/>
          </p:cNvPicPr>
          <p:nvPr/>
        </p:nvPicPr>
        <p:blipFill>
          <a:blip r:embed="rId7"/>
          <a:stretch>
            <a:fillRect/>
          </a:stretch>
        </p:blipFill>
        <p:spPr>
          <a:xfrm>
            <a:off x="8001000" y="2633472"/>
            <a:ext cx="219456" cy="219456"/>
          </a:xfrm>
          <a:prstGeom prst="rect">
            <a:avLst/>
          </a:prstGeom>
        </p:spPr>
      </p:pic>
      <p:sp>
        <p:nvSpPr>
          <p:cNvPr id="31" name="Shape 493"/>
          <p:cNvSpPr/>
          <p:nvPr/>
        </p:nvSpPr>
        <p:spPr>
          <a:xfrm>
            <a:off x="8667140" y="2474366"/>
            <a:ext cx="537667" cy="537667"/>
          </a:xfrm>
          <a:prstGeom prst="ellipse">
            <a:avLst/>
          </a:prstGeom>
          <a:solidFill>
            <a:schemeClr val="accent5"/>
          </a:solidFill>
          <a:ln/>
        </p:spPr>
      </p:sp>
      <p:pic>
        <p:nvPicPr>
          <p:cNvPr id="32" name="Icon 494" descr="CheckCircle">    </p:cNvPr>
          <p:cNvPicPr>
            <a:picLocks noChangeAspect="1"/>
          </p:cNvPicPr>
          <p:nvPr/>
        </p:nvPicPr>
        <p:blipFill>
          <a:blip r:embed="rId8"/>
          <a:stretch>
            <a:fillRect/>
          </a:stretch>
        </p:blipFill>
        <p:spPr>
          <a:xfrm>
            <a:off x="8801557" y="2608783"/>
            <a:ext cx="268834" cy="268834"/>
          </a:xfrm>
          <a:prstGeom prst="rect">
            <a:avLst/>
          </a:prstGeom>
        </p:spPr>
      </p:pic>
      <p:sp>
        <p:nvSpPr>
          <p:cNvPr id="33" name="Text 495"/>
          <p:cNvSpPr txBox="1"/>
          <p:nvPr/>
        </p:nvSpPr>
        <p:spPr>
          <a:xfrm>
            <a:off x="8183880"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Kho tự duyệt</a:t>
            </a:r>
            <a:endParaRPr lang="en-US" sz="1200" dirty="0"/>
          </a:p>
        </p:txBody>
      </p:sp>
      <p:pic>
        <p:nvPicPr>
          <p:cNvPr id="34" name="Icon 496" descr="ChevronRight">    </p:cNvPr>
          <p:cNvPicPr>
            <a:picLocks noChangeAspect="1"/>
          </p:cNvPicPr>
          <p:nvPr/>
        </p:nvPicPr>
        <p:blipFill>
          <a:blip r:embed="rId9"/>
          <a:stretch>
            <a:fillRect/>
          </a:stretch>
        </p:blipFill>
        <p:spPr>
          <a:xfrm>
            <a:off x="9651492" y="2633472"/>
            <a:ext cx="219456" cy="219456"/>
          </a:xfrm>
          <a:prstGeom prst="rect">
            <a:avLst/>
          </a:prstGeom>
        </p:spPr>
      </p:pic>
      <p:sp>
        <p:nvSpPr>
          <p:cNvPr id="35" name="Shape 497"/>
          <p:cNvSpPr/>
          <p:nvPr/>
        </p:nvSpPr>
        <p:spPr>
          <a:xfrm>
            <a:off x="10317632" y="2474366"/>
            <a:ext cx="537667" cy="537667"/>
          </a:xfrm>
          <a:prstGeom prst="ellipse">
            <a:avLst/>
          </a:prstGeom>
          <a:solidFill>
            <a:schemeClr val="accent5"/>
          </a:solidFill>
          <a:ln/>
        </p:spPr>
      </p:sp>
      <p:pic>
        <p:nvPicPr>
          <p:cNvPr id="36" name="Icon 498" descr="Truck">    </p:cNvPr>
          <p:cNvPicPr>
            <a:picLocks noChangeAspect="1"/>
          </p:cNvPicPr>
          <p:nvPr/>
        </p:nvPicPr>
        <p:blipFill>
          <a:blip r:embed="rId10"/>
          <a:stretch>
            <a:fillRect/>
          </a:stretch>
        </p:blipFill>
        <p:spPr>
          <a:xfrm>
            <a:off x="10452049" y="2608783"/>
            <a:ext cx="268834" cy="268834"/>
          </a:xfrm>
          <a:prstGeom prst="rect">
            <a:avLst/>
          </a:prstGeom>
        </p:spPr>
      </p:pic>
      <p:sp>
        <p:nvSpPr>
          <p:cNvPr id="37" name="Text 499"/>
          <p:cNvSpPr txBox="1"/>
          <p:nvPr/>
        </p:nvSpPr>
        <p:spPr>
          <a:xfrm>
            <a:off x="9834372" y="3085186"/>
            <a:ext cx="1504188" cy="411480"/>
          </a:xfrm>
          <a:prstGeom prst="rect">
            <a:avLst/>
          </a:prstGeom>
          <a:noFill/>
          <a:ln/>
        </p:spPr>
        <p:txBody>
          <a:bodyPr wrap="square" lIns="0" tIns="0" rIns="0" bIns="0" rtlCol="0" anchor="t"/>
          <a:lstStyle/>
          <a:p>
            <a:pPr algn="ctr" indent="0" marL="0">
              <a:buNone/>
            </a:pPr>
            <a:r>
              <a:rPr lang="en-US" sz="1200" dirty="0">
                <a:solidFill>
                  <a:schemeClr val="tx1"/>
                </a:solidFill>
              </a:rPr>
              <a:t>Bù hàng chuyến gần nhất</a:t>
            </a:r>
            <a:endParaRPr lang="en-US" sz="1200" dirty="0"/>
          </a:p>
        </p:txBody>
      </p:sp>
      <p:sp>
        <p:nvSpPr>
          <p:cNvPr id="38" name="Text 500"/>
          <p:cNvSpPr txBox="1"/>
          <p:nvPr/>
        </p:nvSpPr>
        <p:spPr>
          <a:xfrm>
            <a:off x="6460236" y="3749040"/>
            <a:ext cx="4951476" cy="121970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“Báo sự cố hàng hóa” trên từng đơn: chọn mặt hàng lỗi và lý do (bể vỡ, xì lon, cận date), chụp ảnh/video.</a:t>
            </a:r>
            <a:endParaRPr lang="en-US" sz="1400" dirty="0"/>
          </a:p>
          <a:p>
            <a:pPr marL="177800" indent="-177800">
              <a:spcAft>
                <a:spcPts val="600"/>
              </a:spcAft>
              <a:buSzPct val="100000"/>
              <a:buChar char="•"/>
            </a:pPr>
            <a:r>
              <a:rPr lang="en-US" sz="1400" dirty="0">
                <a:solidFill>
                  <a:schemeClr val="tx1"/>
                </a:solidFill>
              </a:rPr>
              <a:t>Ticket gửi thẳng CSKH/Kho vận của Distributor; kho duyệt và bù vào chuyến giao gần nhất.</a:t>
            </a:r>
            <a:endParaRPr lang="en-US" sz="1400" dirty="0"/>
          </a:p>
        </p:txBody>
      </p:sp>
      <p:sp>
        <p:nvSpPr>
          <p:cNvPr id="39" name="Shape 501"/>
          <p:cNvSpPr/>
          <p:nvPr/>
        </p:nvSpPr>
        <p:spPr>
          <a:xfrm>
            <a:off x="6460236" y="5060188"/>
            <a:ext cx="4951476" cy="974852"/>
          </a:xfrm>
          <a:prstGeom prst="roundRect">
            <a:avLst>
              <a:gd name="adj" fmla="val 7504"/>
            </a:avLst>
          </a:prstGeom>
          <a:solidFill>
            <a:schemeClr val="bg1"/>
          </a:solidFill>
          <a:ln/>
        </p:spPr>
      </p:sp>
      <p:sp>
        <p:nvSpPr>
          <p:cNvPr id="40" name="Text 502"/>
          <p:cNvSpPr txBox="1"/>
          <p:nvPr/>
        </p:nvSpPr>
        <p:spPr>
          <a:xfrm>
            <a:off x="6643116" y="5169916"/>
            <a:ext cx="4585716" cy="201168"/>
          </a:xfrm>
          <a:prstGeom prst="rect">
            <a:avLst/>
          </a:prstGeom>
          <a:noFill/>
          <a:ln/>
        </p:spPr>
        <p:txBody>
          <a:bodyPr wrap="square" lIns="0" tIns="0" rIns="0" bIns="0" rtlCol="0" anchor="t"/>
          <a:lstStyle/>
          <a:p>
            <a:pPr indent="0" marL="0">
              <a:buNone/>
            </a:pPr>
            <a:r>
              <a:rPr lang="en-US" sz="1200" b="1" dirty="0">
                <a:solidFill>
                  <a:schemeClr val="accent5"/>
                </a:solidFill>
              </a:rPr>
              <a:t>KẾT QUẢ</a:t>
            </a:r>
            <a:endParaRPr lang="en-US" sz="1200" dirty="0"/>
          </a:p>
        </p:txBody>
      </p:sp>
      <p:sp>
        <p:nvSpPr>
          <p:cNvPr id="41" name="Text 503"/>
          <p:cNvSpPr txBox="1"/>
          <p:nvPr/>
        </p:nvSpPr>
        <p:spPr>
          <a:xfrm>
            <a:off x="6643116" y="5407660"/>
            <a:ext cx="4585716" cy="535940"/>
          </a:xfrm>
          <a:prstGeom prst="rect">
            <a:avLst/>
          </a:prstGeom>
          <a:noFill/>
          <a:ln/>
        </p:spPr>
        <p:txBody>
          <a:bodyPr wrap="square" lIns="0" tIns="0" rIns="0" bIns="0" rtlCol="0" anchor="t"/>
          <a:lstStyle/>
          <a:p>
            <a:pPr indent="0" marL="0">
              <a:buNone/>
            </a:pPr>
            <a:r>
              <a:rPr lang="en-US" sz="1400" dirty="0">
                <a:solidFill>
                  <a:schemeClr val="tx1"/>
                </a:solidFill>
              </a:rPr>
              <a:t>Sales không còn là “người đi đổi hàng hỏng”; xử lý nhanh, minh bạch theo dữ liệu hệ thống.</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11091672" cy="274320"/>
          </a:xfrm>
          <a:prstGeom prst="rect">
            <a:avLst/>
          </a:prstGeom>
          <a:noFill/>
          <a:ln/>
        </p:spPr>
        <p:txBody>
          <a:bodyPr wrap="square" lIns="0" tIns="0" rIns="0" bIns="0" rtlCol="0" anchor="ctr"/>
          <a:lstStyle/>
          <a:p>
            <a:pPr indent="0" marL="0">
              <a:buNone/>
            </a:pPr>
            <a:r>
              <a:rPr lang="en-US" sz="1400" b="1" spc="150" kern="0" dirty="0">
                <a:solidFill>
                  <a:schemeClr val="accent1"/>
                </a:solidFill>
              </a:rPr>
              <a:t>SỨC MẠNH CHUYỂN ĐỔI</a:t>
            </a:r>
            <a:endParaRPr lang="en-US" sz="1400" dirty="0"/>
          </a:p>
        </p:txBody>
      </p:sp>
      <p:sp>
        <p:nvSpPr>
          <p:cNvPr id="3" name="Text 1"/>
          <p:cNvSpPr/>
          <p:nvPr>
            <p:ph idx="102" type="title" hasCustomPrompt="1"/>
          </p:nvPr>
        </p:nvSpPr>
        <p:spPr>
          <a:xfrm>
            <a:off x="548640" y="676656"/>
            <a:ext cx="11091672" cy="658368"/>
          </a:xfrm>
          <a:prstGeom prst="rect">
            <a:avLst/>
          </a:prstGeom>
          <a:noFill/>
          <a:ln/>
        </p:spPr>
        <p:txBody>
          <a:bodyPr wrap="square" lIns="0" tIns="0" rIns="0" bIns="0" rtlCol="0" anchor="ctr"/>
          <a:lstStyle/>
          <a:p>
            <a:pPr algn="l" indent="0" marL="0">
              <a:buNone/>
            </a:pPr>
            <a:r>
              <a:rPr lang="en-US" sz="3200" b="1" dirty="0">
                <a:solidFill>
                  <a:schemeClr val="tx1"/>
                </a:solidFill>
              </a:rPr>
              <a:t>B2B2C Closed Loop</a:t>
            </a:r>
            <a:endParaRPr lang="en-US" sz="3200" dirty="0"/>
          </a:p>
        </p:txBody>
      </p:sp>
      <p:sp>
        <p:nvSpPr>
          <p:cNvPr id="4" name="Shape 504"/>
          <p:cNvSpPr/>
          <p:nvPr/>
        </p:nvSpPr>
        <p:spPr>
          <a:xfrm>
            <a:off x="548640" y="1508760"/>
            <a:ext cx="11091672" cy="1280160"/>
          </a:xfrm>
          <a:prstGeom prst="roundRect">
            <a:avLst>
              <a:gd name="adj" fmla="val 5714"/>
            </a:avLst>
          </a:prstGeom>
          <a:solidFill>
            <a:schemeClr val="bg2"/>
          </a:solidFill>
          <a:ln/>
        </p:spPr>
      </p:sp>
      <p:sp>
        <p:nvSpPr>
          <p:cNvPr id="5" name="Text 505"/>
          <p:cNvSpPr txBox="1"/>
          <p:nvPr/>
        </p:nvSpPr>
        <p:spPr>
          <a:xfrm>
            <a:off x="822960" y="1627632"/>
            <a:ext cx="5486400" cy="228600"/>
          </a:xfrm>
          <a:prstGeom prst="rect">
            <a:avLst/>
          </a:prstGeom>
          <a:noFill/>
          <a:ln/>
        </p:spPr>
        <p:txBody>
          <a:bodyPr wrap="square" lIns="0" tIns="0" rIns="0" bIns="0" rtlCol="0" anchor="t"/>
          <a:lstStyle/>
          <a:p>
            <a:pPr indent="0" marL="0">
              <a:buNone/>
            </a:pPr>
            <a:r>
              <a:rPr lang="en-US" sz="1200" b="1" dirty="0">
                <a:solidFill>
                  <a:schemeClr val="accent1"/>
                </a:solidFill>
              </a:rPr>
              <a:t>SYNTHESIS INSIGHT</a:t>
            </a:r>
            <a:endParaRPr lang="en-US" sz="1200" dirty="0"/>
          </a:p>
        </p:txBody>
      </p:sp>
      <p:sp>
        <p:nvSpPr>
          <p:cNvPr id="6" name="Text 506"/>
          <p:cNvSpPr txBox="1"/>
          <p:nvPr/>
        </p:nvSpPr>
        <p:spPr>
          <a:xfrm>
            <a:off x="822960" y="1901952"/>
            <a:ext cx="10515600" cy="822960"/>
          </a:xfrm>
          <a:prstGeom prst="rect">
            <a:avLst/>
          </a:prstGeom>
          <a:noFill/>
          <a:ln/>
        </p:spPr>
        <p:txBody>
          <a:bodyPr wrap="square" lIns="0" tIns="0" rIns="0" bIns="0" rtlCol="0" anchor="t"/>
          <a:lstStyle/>
          <a:p>
            <a:pPr indent="0" marL="0">
              <a:buNone/>
            </a:pPr>
            <a:r>
              <a:rPr lang="en-US" sz="1500" dirty="0">
                <a:solidFill>
                  <a:schemeClr val="tx1"/>
                </a:solidFill>
              </a:rPr>
              <a:t>24 cải tiến cốt lõi không tồn tại riêng lẻ. Dữ liệu bán lẻ từ POS nuôi AI Recommendation, tự động trừ tồn kho và đặt hàng lên Distributor, đồng thời giữ chân Merchant mỗi ngày và tự động hóa Trade Marketing. Mỗi mắt xích tạo nên một frictionless ecosystem loop.</a:t>
            </a:r>
            <a:endParaRPr lang="en-US" sz="1500" dirty="0"/>
          </a:p>
        </p:txBody>
      </p:sp>
      <p:sp>
        <p:nvSpPr>
          <p:cNvPr id="7" name="Shape 507"/>
          <p:cNvSpPr/>
          <p:nvPr/>
        </p:nvSpPr>
        <p:spPr>
          <a:xfrm>
            <a:off x="548640" y="3063240"/>
            <a:ext cx="1920240" cy="2148840"/>
          </a:xfrm>
          <a:prstGeom prst="roundRect">
            <a:avLst>
              <a:gd name="adj" fmla="val 3810"/>
            </a:avLst>
          </a:prstGeom>
          <a:solidFill>
            <a:schemeClr val="bg2"/>
          </a:solidFill>
          <a:ln/>
        </p:spPr>
      </p:sp>
      <p:sp>
        <p:nvSpPr>
          <p:cNvPr id="8" name="Shape 508"/>
          <p:cNvSpPr/>
          <p:nvPr/>
        </p:nvSpPr>
        <p:spPr>
          <a:xfrm>
            <a:off x="1143000" y="3291840"/>
            <a:ext cx="731520" cy="731520"/>
          </a:xfrm>
          <a:prstGeom prst="ellipse">
            <a:avLst/>
          </a:prstGeom>
          <a:solidFill>
            <a:schemeClr val="accent2"/>
          </a:solidFill>
          <a:ln/>
        </p:spPr>
      </p:sp>
      <p:pic>
        <p:nvPicPr>
          <p:cNvPr id="9" name="Icon 509" descr="CashRegister">    </p:cNvPr>
          <p:cNvPicPr>
            <a:picLocks noChangeAspect="1"/>
          </p:cNvPicPr>
          <p:nvPr/>
        </p:nvPicPr>
        <p:blipFill>
          <a:blip r:embed="rId1"/>
          <a:stretch>
            <a:fillRect/>
          </a:stretch>
        </p:blipFill>
        <p:spPr>
          <a:xfrm>
            <a:off x="1325880" y="3474720"/>
            <a:ext cx="365760" cy="365760"/>
          </a:xfrm>
          <a:prstGeom prst="rect">
            <a:avLst/>
          </a:prstGeom>
        </p:spPr>
      </p:pic>
      <p:sp>
        <p:nvSpPr>
          <p:cNvPr id="10" name="Text 510"/>
          <p:cNvSpPr txBox="1"/>
          <p:nvPr/>
        </p:nvSpPr>
        <p:spPr>
          <a:xfrm>
            <a:off x="685800" y="4160520"/>
            <a:ext cx="1645920" cy="640080"/>
          </a:xfrm>
          <a:prstGeom prst="rect">
            <a:avLst/>
          </a:prstGeom>
          <a:noFill/>
          <a:ln/>
        </p:spPr>
        <p:txBody>
          <a:bodyPr wrap="square" lIns="0" tIns="0" rIns="0" bIns="0" rtlCol="0" anchor="t"/>
          <a:lstStyle/>
          <a:p>
            <a:pPr algn="ctr" indent="0" marL="0">
              <a:buNone/>
            </a:pPr>
            <a:r>
              <a:rPr lang="en-US" sz="1400" b="1" dirty="0">
                <a:solidFill>
                  <a:schemeClr val="tx1"/>
                </a:solidFill>
              </a:rPr>
              <a:t>Merchant quét POS</a:t>
            </a:r>
            <a:endParaRPr lang="en-US" sz="1400" dirty="0"/>
          </a:p>
        </p:txBody>
      </p:sp>
      <p:sp>
        <p:nvSpPr>
          <p:cNvPr id="11" name="Tag 511"/>
          <p:cNvSpPr/>
          <p:nvPr/>
        </p:nvSpPr>
        <p:spPr>
          <a:xfrm>
            <a:off x="1005840" y="4846320"/>
            <a:ext cx="1005840" cy="237744"/>
          </a:xfrm>
          <a:prstGeom prst="roundRect">
            <a:avLst>
              <a:gd name="adj" fmla="val 50000"/>
            </a:avLst>
          </a:prstGeom>
          <a:solidFill>
            <a:schemeClr val="bg1"/>
          </a:solidFill>
          <a:ln/>
        </p:spPr>
        <p:txBody>
          <a:bodyPr wrap="square" lIns="0" tIns="0" rIns="0" bIns="0" rtlCol="0" anchor="ctr"/>
          <a:lstStyle/>
          <a:p>
            <a:pPr algn="ctr" indent="0" marL="0">
              <a:buNone/>
            </a:pPr>
            <a:r>
              <a:rPr lang="en-US" sz="1200" b="1" dirty="0">
                <a:solidFill>
                  <a:schemeClr val="accent2"/>
                </a:solidFill>
              </a:rPr>
              <a:t>Trụ cột 2</a:t>
            </a:r>
            <a:endParaRPr lang="en-US" sz="1200" dirty="0"/>
          </a:p>
        </p:txBody>
      </p:sp>
      <p:pic>
        <p:nvPicPr>
          <p:cNvPr id="12" name="Icon 512" descr="ChevronRight">    </p:cNvPr>
          <p:cNvPicPr>
            <a:picLocks noChangeAspect="1"/>
          </p:cNvPicPr>
          <p:nvPr/>
        </p:nvPicPr>
        <p:blipFill>
          <a:blip r:embed="rId2"/>
          <a:stretch>
            <a:fillRect/>
          </a:stretch>
        </p:blipFill>
        <p:spPr>
          <a:xfrm>
            <a:off x="2536317" y="4018788"/>
            <a:ext cx="237744" cy="237744"/>
          </a:xfrm>
          <a:prstGeom prst="rect">
            <a:avLst/>
          </a:prstGeom>
        </p:spPr>
      </p:pic>
      <p:sp>
        <p:nvSpPr>
          <p:cNvPr id="13" name="Shape 513"/>
          <p:cNvSpPr/>
          <p:nvPr/>
        </p:nvSpPr>
        <p:spPr>
          <a:xfrm>
            <a:off x="2841498" y="3063240"/>
            <a:ext cx="1920240" cy="2148840"/>
          </a:xfrm>
          <a:prstGeom prst="roundRect">
            <a:avLst>
              <a:gd name="adj" fmla="val 3810"/>
            </a:avLst>
          </a:prstGeom>
          <a:solidFill>
            <a:schemeClr val="bg2"/>
          </a:solidFill>
          <a:ln/>
        </p:spPr>
      </p:sp>
      <p:sp>
        <p:nvSpPr>
          <p:cNvPr id="14" name="Shape 514"/>
          <p:cNvSpPr/>
          <p:nvPr/>
        </p:nvSpPr>
        <p:spPr>
          <a:xfrm>
            <a:off x="3435858" y="3291840"/>
            <a:ext cx="731520" cy="731520"/>
          </a:xfrm>
          <a:prstGeom prst="ellipse">
            <a:avLst/>
          </a:prstGeom>
          <a:solidFill>
            <a:schemeClr val="accent1"/>
          </a:solidFill>
          <a:ln/>
        </p:spPr>
      </p:sp>
      <p:pic>
        <p:nvPicPr>
          <p:cNvPr id="15" name="Icon 515" descr="Brain">    </p:cNvPr>
          <p:cNvPicPr>
            <a:picLocks noChangeAspect="1"/>
          </p:cNvPicPr>
          <p:nvPr/>
        </p:nvPicPr>
        <p:blipFill>
          <a:blip r:embed="rId3"/>
          <a:stretch>
            <a:fillRect/>
          </a:stretch>
        </p:blipFill>
        <p:spPr>
          <a:xfrm>
            <a:off x="3618738" y="3474720"/>
            <a:ext cx="365760" cy="365760"/>
          </a:xfrm>
          <a:prstGeom prst="rect">
            <a:avLst/>
          </a:prstGeom>
        </p:spPr>
      </p:pic>
      <p:sp>
        <p:nvSpPr>
          <p:cNvPr id="16" name="Text 516"/>
          <p:cNvSpPr txBox="1"/>
          <p:nvPr/>
        </p:nvSpPr>
        <p:spPr>
          <a:xfrm>
            <a:off x="2978658" y="4160520"/>
            <a:ext cx="1645920" cy="640080"/>
          </a:xfrm>
          <a:prstGeom prst="rect">
            <a:avLst/>
          </a:prstGeom>
          <a:noFill/>
          <a:ln/>
        </p:spPr>
        <p:txBody>
          <a:bodyPr wrap="square" lIns="0" tIns="0" rIns="0" bIns="0" rtlCol="0" anchor="t"/>
          <a:lstStyle/>
          <a:p>
            <a:pPr algn="ctr" indent="0" marL="0">
              <a:buNone/>
            </a:pPr>
            <a:r>
              <a:rPr lang="en-US" sz="1400" b="1" dirty="0">
                <a:solidFill>
                  <a:schemeClr val="tx1"/>
                </a:solidFill>
              </a:rPr>
              <a:t>Trigger AI Recommender</a:t>
            </a:r>
            <a:endParaRPr lang="en-US" sz="1400" dirty="0"/>
          </a:p>
        </p:txBody>
      </p:sp>
      <p:sp>
        <p:nvSpPr>
          <p:cNvPr id="17" name="Tag 517"/>
          <p:cNvSpPr/>
          <p:nvPr/>
        </p:nvSpPr>
        <p:spPr>
          <a:xfrm>
            <a:off x="3298698" y="4846320"/>
            <a:ext cx="1005840" cy="237744"/>
          </a:xfrm>
          <a:prstGeom prst="roundRect">
            <a:avLst>
              <a:gd name="adj" fmla="val 50000"/>
            </a:avLst>
          </a:prstGeom>
          <a:solidFill>
            <a:schemeClr val="bg1"/>
          </a:solidFill>
          <a:ln/>
        </p:spPr>
        <p:txBody>
          <a:bodyPr wrap="square" lIns="0" tIns="0" rIns="0" bIns="0" rtlCol="0" anchor="ctr"/>
          <a:lstStyle/>
          <a:p>
            <a:pPr algn="ctr" indent="0" marL="0">
              <a:buNone/>
            </a:pPr>
            <a:r>
              <a:rPr lang="en-US" sz="1200" b="1" dirty="0">
                <a:solidFill>
                  <a:schemeClr val="accent1"/>
                </a:solidFill>
              </a:rPr>
              <a:t>Trụ cột 1</a:t>
            </a:r>
            <a:endParaRPr lang="en-US" sz="1200" dirty="0"/>
          </a:p>
        </p:txBody>
      </p:sp>
      <p:pic>
        <p:nvPicPr>
          <p:cNvPr id="18" name="Icon 518" descr="ChevronRight">    </p:cNvPr>
          <p:cNvPicPr>
            <a:picLocks noChangeAspect="1"/>
          </p:cNvPicPr>
          <p:nvPr/>
        </p:nvPicPr>
        <p:blipFill>
          <a:blip r:embed="rId4"/>
          <a:stretch>
            <a:fillRect/>
          </a:stretch>
        </p:blipFill>
        <p:spPr>
          <a:xfrm>
            <a:off x="4829175" y="4018788"/>
            <a:ext cx="237744" cy="237744"/>
          </a:xfrm>
          <a:prstGeom prst="rect">
            <a:avLst/>
          </a:prstGeom>
        </p:spPr>
      </p:pic>
      <p:sp>
        <p:nvSpPr>
          <p:cNvPr id="19" name="Shape 519"/>
          <p:cNvSpPr/>
          <p:nvPr/>
        </p:nvSpPr>
        <p:spPr>
          <a:xfrm>
            <a:off x="5134356" y="3063240"/>
            <a:ext cx="1920240" cy="2148840"/>
          </a:xfrm>
          <a:prstGeom prst="roundRect">
            <a:avLst>
              <a:gd name="adj" fmla="val 3810"/>
            </a:avLst>
          </a:prstGeom>
          <a:solidFill>
            <a:schemeClr val="bg2"/>
          </a:solidFill>
          <a:ln/>
        </p:spPr>
      </p:sp>
      <p:sp>
        <p:nvSpPr>
          <p:cNvPr id="20" name="Shape 520"/>
          <p:cNvSpPr/>
          <p:nvPr/>
        </p:nvSpPr>
        <p:spPr>
          <a:xfrm>
            <a:off x="5728716" y="3291840"/>
            <a:ext cx="731520" cy="731520"/>
          </a:xfrm>
          <a:prstGeom prst="ellipse">
            <a:avLst/>
          </a:prstGeom>
          <a:solidFill>
            <a:schemeClr val="accent3"/>
          </a:solidFill>
          <a:ln/>
        </p:spPr>
      </p:sp>
      <p:pic>
        <p:nvPicPr>
          <p:cNvPr id="21" name="Icon 521" descr="Warehouse">    </p:cNvPr>
          <p:cNvPicPr>
            <a:picLocks noChangeAspect="1"/>
          </p:cNvPicPr>
          <p:nvPr/>
        </p:nvPicPr>
        <p:blipFill>
          <a:blip r:embed="rId5"/>
          <a:stretch>
            <a:fillRect/>
          </a:stretch>
        </p:blipFill>
        <p:spPr>
          <a:xfrm>
            <a:off x="5911596" y="3474720"/>
            <a:ext cx="365760" cy="365760"/>
          </a:xfrm>
          <a:prstGeom prst="rect">
            <a:avLst/>
          </a:prstGeom>
        </p:spPr>
      </p:pic>
      <p:sp>
        <p:nvSpPr>
          <p:cNvPr id="22" name="Text 522"/>
          <p:cNvSpPr txBox="1"/>
          <p:nvPr/>
        </p:nvSpPr>
        <p:spPr>
          <a:xfrm>
            <a:off x="5271516" y="4160520"/>
            <a:ext cx="1645920" cy="640080"/>
          </a:xfrm>
          <a:prstGeom prst="rect">
            <a:avLst/>
          </a:prstGeom>
          <a:noFill/>
          <a:ln/>
        </p:spPr>
        <p:txBody>
          <a:bodyPr wrap="square" lIns="0" tIns="0" rIns="0" bIns="0" rtlCol="0" anchor="t"/>
          <a:lstStyle/>
          <a:p>
            <a:pPr algn="ctr" indent="0" marL="0">
              <a:buNone/>
            </a:pPr>
            <a:r>
              <a:rPr lang="en-US" sz="1400" b="1" dirty="0">
                <a:solidFill>
                  <a:schemeClr val="tx1"/>
                </a:solidFill>
              </a:rPr>
              <a:t>Trừ tồn kho Distributor</a:t>
            </a:r>
            <a:endParaRPr lang="en-US" sz="1400" dirty="0"/>
          </a:p>
        </p:txBody>
      </p:sp>
      <p:sp>
        <p:nvSpPr>
          <p:cNvPr id="23" name="Tag 523"/>
          <p:cNvSpPr/>
          <p:nvPr/>
        </p:nvSpPr>
        <p:spPr>
          <a:xfrm>
            <a:off x="5591556" y="4846320"/>
            <a:ext cx="1005840" cy="237744"/>
          </a:xfrm>
          <a:prstGeom prst="roundRect">
            <a:avLst>
              <a:gd name="adj" fmla="val 50000"/>
            </a:avLst>
          </a:prstGeom>
          <a:solidFill>
            <a:schemeClr val="bg1"/>
          </a:solidFill>
          <a:ln/>
        </p:spPr>
        <p:txBody>
          <a:bodyPr wrap="square" lIns="0" tIns="0" rIns="0" bIns="0" rtlCol="0" anchor="ctr"/>
          <a:lstStyle/>
          <a:p>
            <a:pPr algn="ctr" indent="0" marL="0">
              <a:buNone/>
            </a:pPr>
            <a:r>
              <a:rPr lang="en-US" sz="1200" b="1" dirty="0">
                <a:solidFill>
                  <a:schemeClr val="accent3"/>
                </a:solidFill>
              </a:rPr>
              <a:t>Trụ cột 3</a:t>
            </a:r>
            <a:endParaRPr lang="en-US" sz="1200" dirty="0"/>
          </a:p>
        </p:txBody>
      </p:sp>
      <p:pic>
        <p:nvPicPr>
          <p:cNvPr id="24" name="Icon 524" descr="ChevronRight">    </p:cNvPr>
          <p:cNvPicPr>
            <a:picLocks noChangeAspect="1"/>
          </p:cNvPicPr>
          <p:nvPr/>
        </p:nvPicPr>
        <p:blipFill>
          <a:blip r:embed="rId6"/>
          <a:stretch>
            <a:fillRect/>
          </a:stretch>
        </p:blipFill>
        <p:spPr>
          <a:xfrm>
            <a:off x="7122033" y="4018788"/>
            <a:ext cx="237744" cy="237744"/>
          </a:xfrm>
          <a:prstGeom prst="rect">
            <a:avLst/>
          </a:prstGeom>
        </p:spPr>
      </p:pic>
      <p:sp>
        <p:nvSpPr>
          <p:cNvPr id="25" name="Shape 525"/>
          <p:cNvSpPr/>
          <p:nvPr/>
        </p:nvSpPr>
        <p:spPr>
          <a:xfrm>
            <a:off x="7427214" y="3063240"/>
            <a:ext cx="1920240" cy="2148840"/>
          </a:xfrm>
          <a:prstGeom prst="roundRect">
            <a:avLst>
              <a:gd name="adj" fmla="val 3810"/>
            </a:avLst>
          </a:prstGeom>
          <a:solidFill>
            <a:schemeClr val="bg2"/>
          </a:solidFill>
          <a:ln/>
        </p:spPr>
      </p:sp>
      <p:sp>
        <p:nvSpPr>
          <p:cNvPr id="26" name="Shape 526"/>
          <p:cNvSpPr/>
          <p:nvPr/>
        </p:nvSpPr>
        <p:spPr>
          <a:xfrm>
            <a:off x="8021574" y="3291840"/>
            <a:ext cx="731520" cy="731520"/>
          </a:xfrm>
          <a:prstGeom prst="ellipse">
            <a:avLst/>
          </a:prstGeom>
          <a:solidFill>
            <a:schemeClr val="accent3"/>
          </a:solidFill>
          <a:ln/>
        </p:spPr>
      </p:sp>
      <p:pic>
        <p:nvPicPr>
          <p:cNvPr id="27" name="Icon 527" descr="Truck">    </p:cNvPr>
          <p:cNvPicPr>
            <a:picLocks noChangeAspect="1"/>
          </p:cNvPicPr>
          <p:nvPr/>
        </p:nvPicPr>
        <p:blipFill>
          <a:blip r:embed="rId7"/>
          <a:stretch>
            <a:fillRect/>
          </a:stretch>
        </p:blipFill>
        <p:spPr>
          <a:xfrm>
            <a:off x="8204454" y="3474720"/>
            <a:ext cx="365760" cy="365760"/>
          </a:xfrm>
          <a:prstGeom prst="rect">
            <a:avLst/>
          </a:prstGeom>
        </p:spPr>
      </p:pic>
      <p:sp>
        <p:nvSpPr>
          <p:cNvPr id="28" name="Text 528"/>
          <p:cNvSpPr txBox="1"/>
          <p:nvPr/>
        </p:nvSpPr>
        <p:spPr>
          <a:xfrm>
            <a:off x="7564374" y="4160520"/>
            <a:ext cx="1645920" cy="640080"/>
          </a:xfrm>
          <a:prstGeom prst="rect">
            <a:avLst/>
          </a:prstGeom>
          <a:noFill/>
          <a:ln/>
        </p:spPr>
        <p:txBody>
          <a:bodyPr wrap="square" lIns="0" tIns="0" rIns="0" bIns="0" rtlCol="0" anchor="t"/>
          <a:lstStyle/>
          <a:p>
            <a:pPr algn="ctr" indent="0" marL="0">
              <a:buNone/>
            </a:pPr>
            <a:r>
              <a:rPr lang="en-US" sz="1400" b="1" dirty="0">
                <a:solidFill>
                  <a:schemeClr val="tx1"/>
                </a:solidFill>
              </a:rPr>
              <a:t>Distributor đặt hàng lên Brand</a:t>
            </a:r>
            <a:endParaRPr lang="en-US" sz="1400" dirty="0"/>
          </a:p>
        </p:txBody>
      </p:sp>
      <p:sp>
        <p:nvSpPr>
          <p:cNvPr id="29" name="Tag 529"/>
          <p:cNvSpPr/>
          <p:nvPr/>
        </p:nvSpPr>
        <p:spPr>
          <a:xfrm>
            <a:off x="7884414" y="4846320"/>
            <a:ext cx="1005840" cy="237744"/>
          </a:xfrm>
          <a:prstGeom prst="roundRect">
            <a:avLst>
              <a:gd name="adj" fmla="val 50000"/>
            </a:avLst>
          </a:prstGeom>
          <a:solidFill>
            <a:schemeClr val="bg1"/>
          </a:solidFill>
          <a:ln/>
        </p:spPr>
        <p:txBody>
          <a:bodyPr wrap="square" lIns="0" tIns="0" rIns="0" bIns="0" rtlCol="0" anchor="ctr"/>
          <a:lstStyle/>
          <a:p>
            <a:pPr algn="ctr" indent="0" marL="0">
              <a:buNone/>
            </a:pPr>
            <a:r>
              <a:rPr lang="en-US" sz="1200" b="1" dirty="0">
                <a:solidFill>
                  <a:schemeClr val="accent3"/>
                </a:solidFill>
              </a:rPr>
              <a:t>Trụ cột 3</a:t>
            </a:r>
            <a:endParaRPr lang="en-US" sz="1200" dirty="0"/>
          </a:p>
        </p:txBody>
      </p:sp>
      <p:pic>
        <p:nvPicPr>
          <p:cNvPr id="30" name="Icon 530" descr="ChevronRight">    </p:cNvPr>
          <p:cNvPicPr>
            <a:picLocks noChangeAspect="1"/>
          </p:cNvPicPr>
          <p:nvPr/>
        </p:nvPicPr>
        <p:blipFill>
          <a:blip r:embed="rId8"/>
          <a:stretch>
            <a:fillRect/>
          </a:stretch>
        </p:blipFill>
        <p:spPr>
          <a:xfrm>
            <a:off x="9414891" y="4018788"/>
            <a:ext cx="237744" cy="237744"/>
          </a:xfrm>
          <a:prstGeom prst="rect">
            <a:avLst/>
          </a:prstGeom>
        </p:spPr>
      </p:pic>
      <p:sp>
        <p:nvSpPr>
          <p:cNvPr id="31" name="Shape 531"/>
          <p:cNvSpPr/>
          <p:nvPr/>
        </p:nvSpPr>
        <p:spPr>
          <a:xfrm>
            <a:off x="9720072" y="3063240"/>
            <a:ext cx="1920240" cy="2148840"/>
          </a:xfrm>
          <a:prstGeom prst="roundRect">
            <a:avLst>
              <a:gd name="adj" fmla="val 3810"/>
            </a:avLst>
          </a:prstGeom>
          <a:solidFill>
            <a:schemeClr val="bg2"/>
          </a:solidFill>
          <a:ln/>
        </p:spPr>
      </p:sp>
      <p:sp>
        <p:nvSpPr>
          <p:cNvPr id="32" name="Shape 532"/>
          <p:cNvSpPr/>
          <p:nvPr/>
        </p:nvSpPr>
        <p:spPr>
          <a:xfrm>
            <a:off x="10314432" y="3291840"/>
            <a:ext cx="731520" cy="731520"/>
          </a:xfrm>
          <a:prstGeom prst="ellipse">
            <a:avLst/>
          </a:prstGeom>
          <a:solidFill>
            <a:schemeClr val="accent6"/>
          </a:solidFill>
          <a:ln/>
        </p:spPr>
      </p:sp>
      <p:pic>
        <p:nvPicPr>
          <p:cNvPr id="33" name="Icon 533" descr="Coins">    </p:cNvPr>
          <p:cNvPicPr>
            <a:picLocks noChangeAspect="1"/>
          </p:cNvPicPr>
          <p:nvPr/>
        </p:nvPicPr>
        <p:blipFill>
          <a:blip r:embed="rId9"/>
          <a:stretch>
            <a:fillRect/>
          </a:stretch>
        </p:blipFill>
        <p:spPr>
          <a:xfrm>
            <a:off x="10497312" y="3474720"/>
            <a:ext cx="365760" cy="365760"/>
          </a:xfrm>
          <a:prstGeom prst="rect">
            <a:avLst/>
          </a:prstGeom>
        </p:spPr>
      </p:pic>
      <p:sp>
        <p:nvSpPr>
          <p:cNvPr id="34" name="Text 534"/>
          <p:cNvSpPr txBox="1"/>
          <p:nvPr/>
        </p:nvSpPr>
        <p:spPr>
          <a:xfrm>
            <a:off x="9857232" y="4160520"/>
            <a:ext cx="1645920" cy="640080"/>
          </a:xfrm>
          <a:prstGeom prst="rect">
            <a:avLst/>
          </a:prstGeom>
          <a:noFill/>
          <a:ln/>
        </p:spPr>
        <p:txBody>
          <a:bodyPr wrap="square" lIns="0" tIns="0" rIns="0" bIns="0" rtlCol="0" anchor="t"/>
          <a:lstStyle/>
          <a:p>
            <a:pPr algn="ctr" indent="0" marL="0">
              <a:buNone/>
            </a:pPr>
            <a:r>
              <a:rPr lang="en-US" sz="1400" b="1" dirty="0">
                <a:solidFill>
                  <a:schemeClr val="tx1"/>
                </a:solidFill>
              </a:rPr>
              <a:t>Cấp Rebate &amp; Loyalty Points</a:t>
            </a:r>
            <a:endParaRPr lang="en-US" sz="1400" dirty="0"/>
          </a:p>
        </p:txBody>
      </p:sp>
      <p:sp>
        <p:nvSpPr>
          <p:cNvPr id="35" name="Tag 535"/>
          <p:cNvSpPr/>
          <p:nvPr/>
        </p:nvSpPr>
        <p:spPr>
          <a:xfrm>
            <a:off x="10177272" y="4846320"/>
            <a:ext cx="1005840" cy="237744"/>
          </a:xfrm>
          <a:prstGeom prst="roundRect">
            <a:avLst>
              <a:gd name="adj" fmla="val 50000"/>
            </a:avLst>
          </a:prstGeom>
          <a:solidFill>
            <a:schemeClr val="bg1"/>
          </a:solidFill>
          <a:ln/>
        </p:spPr>
        <p:txBody>
          <a:bodyPr wrap="square" lIns="0" tIns="0" rIns="0" bIns="0" rtlCol="0" anchor="ctr"/>
          <a:lstStyle/>
          <a:p>
            <a:pPr algn="ctr" indent="0" marL="0">
              <a:buNone/>
            </a:pPr>
            <a:r>
              <a:rPr lang="en-US" sz="1200" b="1" dirty="0">
                <a:solidFill>
                  <a:schemeClr val="accent6"/>
                </a:solidFill>
              </a:rPr>
              <a:t>Trụ cột 4 &amp; 5</a:t>
            </a:r>
            <a:endParaRPr lang="en-US" sz="1200" dirty="0"/>
          </a:p>
        </p:txBody>
      </p:sp>
      <p:sp>
        <p:nvSpPr>
          <p:cNvPr id="36" name="Shape 536"/>
          <p:cNvSpPr/>
          <p:nvPr/>
        </p:nvSpPr>
        <p:spPr>
          <a:xfrm>
            <a:off x="10680192" y="5212080"/>
            <a:ext cx="0" cy="548640"/>
          </a:xfrm>
          <a:prstGeom prst="line">
            <a:avLst/>
          </a:prstGeom>
          <a:noFill/>
          <a:ln w="25400">
            <a:solidFill>
              <a:schemeClr val="accent1"/>
            </a:solidFill>
            <a:prstDash val="solid"/>
          </a:ln>
        </p:spPr>
      </p:sp>
      <p:sp>
        <p:nvSpPr>
          <p:cNvPr id="37" name="Shape 537"/>
          <p:cNvSpPr/>
          <p:nvPr/>
        </p:nvSpPr>
        <p:spPr>
          <a:xfrm>
            <a:off x="1508760" y="5760720"/>
            <a:ext cx="9171432" cy="0"/>
          </a:xfrm>
          <a:prstGeom prst="line">
            <a:avLst/>
          </a:prstGeom>
          <a:noFill/>
          <a:ln w="25400">
            <a:solidFill>
              <a:schemeClr val="accent1"/>
            </a:solidFill>
            <a:prstDash val="solid"/>
          </a:ln>
        </p:spPr>
      </p:sp>
      <p:sp>
        <p:nvSpPr>
          <p:cNvPr id="38" name="Shape 538"/>
          <p:cNvSpPr/>
          <p:nvPr/>
        </p:nvSpPr>
        <p:spPr>
          <a:xfrm flipV="1">
            <a:off x="1508760" y="5212080"/>
            <a:ext cx="0" cy="548640"/>
          </a:xfrm>
          <a:prstGeom prst="line">
            <a:avLst/>
          </a:prstGeom>
          <a:noFill/>
          <a:ln w="25400">
            <a:solidFill>
              <a:schemeClr val="accent1"/>
            </a:solidFill>
            <a:prstDash val="solid"/>
            <a:tailEnd type="triangle"/>
          </a:ln>
        </p:spPr>
      </p:sp>
      <p:sp>
        <p:nvSpPr>
          <p:cNvPr id="39" name="Label 539"/>
          <p:cNvSpPr/>
          <p:nvPr/>
        </p:nvSpPr>
        <p:spPr>
          <a:xfrm>
            <a:off x="4572000" y="5577840"/>
            <a:ext cx="3044952" cy="365760"/>
          </a:xfrm>
          <a:prstGeom prst="rect">
            <a:avLst/>
          </a:prstGeom>
          <a:solidFill>
            <a:schemeClr val="bg1"/>
          </a:solidFill>
          <a:ln/>
        </p:spPr>
        <p:txBody>
          <a:bodyPr wrap="square" lIns="0" tIns="0" rIns="0" bIns="0" rtlCol="0" anchor="ctr"/>
          <a:lstStyle/>
          <a:p>
            <a:pPr algn="ctr" indent="0" marL="0">
              <a:buNone/>
            </a:pPr>
            <a:r>
              <a:rPr lang="en-US" sz="1400" b="1" dirty="0">
                <a:solidFill>
                  <a:schemeClr val="accent1"/>
                </a:solidFill>
              </a:rPr>
              <a:t>FRICTIONLESS ECOSYSTEM</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A6980"/>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BonBon Clean">
  <a:themeElements>
    <a:clrScheme name="BonBon Clean">
      <a:dk1>
        <a:srgbClr val="1A2433"/>
      </a:dk1>
      <a:lt1>
        <a:srgbClr val="FFFFFF"/>
      </a:lt1>
      <a:dk2>
        <a:srgbClr val="0F2B5B"/>
      </a:dk2>
      <a:lt2>
        <a:srgbClr val="EEF3FA"/>
      </a:lt2>
      <a:accent1>
        <a:srgbClr val="1F5FD1"/>
      </a:accent1>
      <a:accent2>
        <a:srgbClr val="0F8B7D"/>
      </a:accent2>
      <a:accent3>
        <a:srgbClr val="C25E0A"/>
      </a:accent3>
      <a:accent4>
        <a:srgbClr val="5A6980"/>
      </a:accent4>
      <a:accent5>
        <a:srgbClr val="C2255C"/>
      </a:accent5>
      <a:accent6>
        <a:srgbClr val="7040C8"/>
      </a:accent6>
      <a:hlink>
        <a:srgbClr val="1F5FD1"/>
      </a:hlink>
      <a:folHlink>
        <a:srgbClr val="5A6980"/>
      </a:folHlink>
    </a:clrScheme>
    <a:fontScheme name="BonBon Cle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BonBon 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Chiến lược sản phẩm BonBon Shop 2026</dc:title>
  <dc:subject>PptxGenJS Presentation</dc:subject>
  <dc:creator>BonBon Shop</dc:creator>
  <cp:lastModifiedBy>BonBon Shop</cp:lastModifiedBy>
  <cp:revision>1</cp:revision>
  <dcterms:created xsi:type="dcterms:W3CDTF">2026-10-20T07:00:15Z</dcterms:created>
  <dcterms:modified xsi:type="dcterms:W3CDTF">2026-10-20T07:00:15Z</dcterms:modified>
</cp:coreProperties>
</file>